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311" r:id="rId2"/>
    <p:sldId id="788" r:id="rId3"/>
    <p:sldId id="806" r:id="rId4"/>
    <p:sldId id="807" r:id="rId5"/>
    <p:sldId id="789" r:id="rId6"/>
    <p:sldId id="790" r:id="rId7"/>
    <p:sldId id="791" r:id="rId8"/>
    <p:sldId id="792" r:id="rId9"/>
    <p:sldId id="793" r:id="rId10"/>
    <p:sldId id="794" r:id="rId11"/>
    <p:sldId id="795" r:id="rId12"/>
    <p:sldId id="796" r:id="rId13"/>
    <p:sldId id="757" r:id="rId14"/>
    <p:sldId id="797" r:id="rId15"/>
    <p:sldId id="798" r:id="rId16"/>
    <p:sldId id="799" r:id="rId17"/>
    <p:sldId id="800" r:id="rId18"/>
    <p:sldId id="801" r:id="rId19"/>
    <p:sldId id="802" r:id="rId20"/>
    <p:sldId id="803" r:id="rId21"/>
    <p:sldId id="804" r:id="rId22"/>
    <p:sldId id="805" r:id="rId23"/>
    <p:sldId id="824" r:id="rId24"/>
    <p:sldId id="755" r:id="rId25"/>
    <p:sldId id="750" r:id="rId26"/>
    <p:sldId id="756" r:id="rId27"/>
    <p:sldId id="753" r:id="rId28"/>
    <p:sldId id="754" r:id="rId29"/>
    <p:sldId id="758" r:id="rId30"/>
    <p:sldId id="759" r:id="rId31"/>
    <p:sldId id="760" r:id="rId32"/>
    <p:sldId id="752" r:id="rId33"/>
    <p:sldId id="825" r:id="rId34"/>
    <p:sldId id="761" r:id="rId35"/>
    <p:sldId id="762" r:id="rId36"/>
    <p:sldId id="763" r:id="rId37"/>
    <p:sldId id="764" r:id="rId38"/>
    <p:sldId id="765" r:id="rId39"/>
    <p:sldId id="766" r:id="rId40"/>
    <p:sldId id="767" r:id="rId41"/>
    <p:sldId id="768" r:id="rId42"/>
    <p:sldId id="769" r:id="rId43"/>
    <p:sldId id="770" r:id="rId44"/>
    <p:sldId id="771" r:id="rId45"/>
    <p:sldId id="826" r:id="rId46"/>
    <p:sldId id="773" r:id="rId47"/>
    <p:sldId id="774" r:id="rId48"/>
    <p:sldId id="775" r:id="rId49"/>
    <p:sldId id="776" r:id="rId50"/>
    <p:sldId id="777" r:id="rId51"/>
    <p:sldId id="778" r:id="rId52"/>
    <p:sldId id="780" r:id="rId53"/>
    <p:sldId id="781" r:id="rId54"/>
    <p:sldId id="783" r:id="rId55"/>
    <p:sldId id="784" r:id="rId56"/>
    <p:sldId id="785" r:id="rId57"/>
    <p:sldId id="787" r:id="rId58"/>
    <p:sldId id="786" r:id="rId59"/>
    <p:sldId id="782" r:id="rId60"/>
    <p:sldId id="827" r:id="rId61"/>
    <p:sldId id="808" r:id="rId62"/>
    <p:sldId id="809" r:id="rId63"/>
    <p:sldId id="810" r:id="rId64"/>
    <p:sldId id="811" r:id="rId65"/>
    <p:sldId id="812" r:id="rId66"/>
    <p:sldId id="813" r:id="rId67"/>
    <p:sldId id="814" r:id="rId68"/>
    <p:sldId id="815" r:id="rId69"/>
    <p:sldId id="816" r:id="rId70"/>
    <p:sldId id="817" r:id="rId71"/>
    <p:sldId id="828" r:id="rId72"/>
    <p:sldId id="818" r:id="rId73"/>
    <p:sldId id="819" r:id="rId74"/>
    <p:sldId id="820" r:id="rId75"/>
    <p:sldId id="821" r:id="rId76"/>
    <p:sldId id="822" r:id="rId77"/>
    <p:sldId id="823" r:id="rId7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gwook Choi" initials="JC" lastIdx="3" clrIdx="0">
    <p:extLst>
      <p:ext uri="{19B8F6BF-5375-455C-9EA6-DF929625EA0E}">
        <p15:presenceInfo xmlns:p15="http://schemas.microsoft.com/office/powerpoint/2012/main" userId="c4e6a04d4233ca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280AFF"/>
    <a:srgbClr val="FFFFFF"/>
    <a:srgbClr val="34805D"/>
    <a:srgbClr val="980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D69657-ACEA-48F5-BF31-8A26DFB76132}" v="5" dt="2023-07-12T12:39:57.98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00" autoAdjust="0"/>
    <p:restoredTop sz="92941" autoAdjust="0"/>
  </p:normalViewPr>
  <p:slideViewPr>
    <p:cSldViewPr snapToGrid="0">
      <p:cViewPr varScale="1">
        <p:scale>
          <a:sx n="150" d="100"/>
          <a:sy n="150" d="100"/>
        </p:scale>
        <p:origin x="1116" y="114"/>
      </p:cViewPr>
      <p:guideLst>
        <p:guide orient="horz" pos="2160"/>
        <p:guide pos="3840"/>
      </p:guideLst>
    </p:cSldViewPr>
  </p:slideViewPr>
  <p:outlineViewPr>
    <p:cViewPr>
      <p:scale>
        <a:sx n="33" d="100"/>
        <a:sy n="33" d="100"/>
      </p:scale>
      <p:origin x="0" y="-3786"/>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손동범" userId="0f89198e-5fc9-4501-bc9d-662a7644151c" providerId="ADAL" clId="{F9D69657-ACEA-48F5-BF31-8A26DFB76132}"/>
    <pc:docChg chg="undo custSel addSld modSld">
      <pc:chgData name="손동범" userId="0f89198e-5fc9-4501-bc9d-662a7644151c" providerId="ADAL" clId="{F9D69657-ACEA-48F5-BF31-8A26DFB76132}" dt="2023-07-12T12:41:00.104" v="95" actId="255"/>
      <pc:docMkLst>
        <pc:docMk/>
      </pc:docMkLst>
      <pc:sldChg chg="modSp mod">
        <pc:chgData name="손동범" userId="0f89198e-5fc9-4501-bc9d-662a7644151c" providerId="ADAL" clId="{F9D69657-ACEA-48F5-BF31-8A26DFB76132}" dt="2023-07-12T12:41:00.104" v="95" actId="255"/>
        <pc:sldMkLst>
          <pc:docMk/>
          <pc:sldMk cId="1482395489" sldId="311"/>
        </pc:sldMkLst>
        <pc:spChg chg="mod">
          <ac:chgData name="손동범" userId="0f89198e-5fc9-4501-bc9d-662a7644151c" providerId="ADAL" clId="{F9D69657-ACEA-48F5-BF31-8A26DFB76132}" dt="2023-07-12T12:41:00.104" v="95" actId="255"/>
          <ac:spMkLst>
            <pc:docMk/>
            <pc:sldMk cId="1482395489" sldId="311"/>
            <ac:spMk id="2" creationId="{78C825D4-4E72-43DB-9A22-D1B102EEB36A}"/>
          </ac:spMkLst>
        </pc:spChg>
      </pc:sldChg>
      <pc:sldChg chg="addSp delSp mod">
        <pc:chgData name="손동범" userId="0f89198e-5fc9-4501-bc9d-662a7644151c" providerId="ADAL" clId="{F9D69657-ACEA-48F5-BF31-8A26DFB76132}" dt="2023-07-12T12:38:33.908" v="1" actId="22"/>
        <pc:sldMkLst>
          <pc:docMk/>
          <pc:sldMk cId="3093750697" sldId="805"/>
        </pc:sldMkLst>
        <pc:spChg chg="add del">
          <ac:chgData name="손동범" userId="0f89198e-5fc9-4501-bc9d-662a7644151c" providerId="ADAL" clId="{F9D69657-ACEA-48F5-BF31-8A26DFB76132}" dt="2023-07-12T12:38:33.908" v="1" actId="22"/>
          <ac:spMkLst>
            <pc:docMk/>
            <pc:sldMk cId="3093750697" sldId="805"/>
            <ac:spMk id="6" creationId="{C0826A70-5C08-FBB3-4A6E-0A571B60BDD1}"/>
          </ac:spMkLst>
        </pc:spChg>
      </pc:sldChg>
      <pc:sldChg chg="modSp add mod">
        <pc:chgData name="손동범" userId="0f89198e-5fc9-4501-bc9d-662a7644151c" providerId="ADAL" clId="{F9D69657-ACEA-48F5-BF31-8A26DFB76132}" dt="2023-07-12T12:38:57.113" v="15" actId="14100"/>
        <pc:sldMkLst>
          <pc:docMk/>
          <pc:sldMk cId="574940261" sldId="824"/>
        </pc:sldMkLst>
        <pc:spChg chg="mod">
          <ac:chgData name="손동범" userId="0f89198e-5fc9-4501-bc9d-662a7644151c" providerId="ADAL" clId="{F9D69657-ACEA-48F5-BF31-8A26DFB76132}" dt="2023-07-12T12:38:57.113" v="15" actId="14100"/>
          <ac:spMkLst>
            <pc:docMk/>
            <pc:sldMk cId="574940261" sldId="824"/>
            <ac:spMk id="2" creationId="{A6F55DE2-37CF-4366-9E87-873E2A490C7C}"/>
          </ac:spMkLst>
        </pc:spChg>
      </pc:sldChg>
      <pc:sldChg chg="modSp add mod">
        <pc:chgData name="손동범" userId="0f89198e-5fc9-4501-bc9d-662a7644151c" providerId="ADAL" clId="{F9D69657-ACEA-48F5-BF31-8A26DFB76132}" dt="2023-07-12T12:39:14.750" v="23" actId="20577"/>
        <pc:sldMkLst>
          <pc:docMk/>
          <pc:sldMk cId="3521593029" sldId="825"/>
        </pc:sldMkLst>
        <pc:spChg chg="mod">
          <ac:chgData name="손동범" userId="0f89198e-5fc9-4501-bc9d-662a7644151c" providerId="ADAL" clId="{F9D69657-ACEA-48F5-BF31-8A26DFB76132}" dt="2023-07-12T12:39:14.750" v="23" actId="20577"/>
          <ac:spMkLst>
            <pc:docMk/>
            <pc:sldMk cId="3521593029" sldId="825"/>
            <ac:spMk id="2" creationId="{A6F55DE2-37CF-4366-9E87-873E2A490C7C}"/>
          </ac:spMkLst>
        </pc:spChg>
      </pc:sldChg>
      <pc:sldChg chg="modSp add mod">
        <pc:chgData name="손동범" userId="0f89198e-5fc9-4501-bc9d-662a7644151c" providerId="ADAL" clId="{F9D69657-ACEA-48F5-BF31-8A26DFB76132}" dt="2023-07-12T12:39:36.301" v="44" actId="14100"/>
        <pc:sldMkLst>
          <pc:docMk/>
          <pc:sldMk cId="3321718379" sldId="826"/>
        </pc:sldMkLst>
        <pc:spChg chg="mod">
          <ac:chgData name="손동범" userId="0f89198e-5fc9-4501-bc9d-662a7644151c" providerId="ADAL" clId="{F9D69657-ACEA-48F5-BF31-8A26DFB76132}" dt="2023-07-12T12:39:36.301" v="44" actId="14100"/>
          <ac:spMkLst>
            <pc:docMk/>
            <pc:sldMk cId="3321718379" sldId="826"/>
            <ac:spMk id="2" creationId="{A6F55DE2-37CF-4366-9E87-873E2A490C7C}"/>
          </ac:spMkLst>
        </pc:spChg>
      </pc:sldChg>
      <pc:sldChg chg="modSp add mod">
        <pc:chgData name="손동범" userId="0f89198e-5fc9-4501-bc9d-662a7644151c" providerId="ADAL" clId="{F9D69657-ACEA-48F5-BF31-8A26DFB76132}" dt="2023-07-12T12:39:49.614" v="52" actId="20577"/>
        <pc:sldMkLst>
          <pc:docMk/>
          <pc:sldMk cId="3106809913" sldId="827"/>
        </pc:sldMkLst>
        <pc:spChg chg="mod">
          <ac:chgData name="손동범" userId="0f89198e-5fc9-4501-bc9d-662a7644151c" providerId="ADAL" clId="{F9D69657-ACEA-48F5-BF31-8A26DFB76132}" dt="2023-07-12T12:39:49.614" v="52" actId="20577"/>
          <ac:spMkLst>
            <pc:docMk/>
            <pc:sldMk cId="3106809913" sldId="827"/>
            <ac:spMk id="2" creationId="{A6F55DE2-37CF-4366-9E87-873E2A490C7C}"/>
          </ac:spMkLst>
        </pc:spChg>
      </pc:sldChg>
      <pc:sldChg chg="modSp add mod">
        <pc:chgData name="손동범" userId="0f89198e-5fc9-4501-bc9d-662a7644151c" providerId="ADAL" clId="{F9D69657-ACEA-48F5-BF31-8A26DFB76132}" dt="2023-07-12T12:40:30.133" v="89" actId="14100"/>
        <pc:sldMkLst>
          <pc:docMk/>
          <pc:sldMk cId="784617737" sldId="828"/>
        </pc:sldMkLst>
        <pc:spChg chg="mod">
          <ac:chgData name="손동범" userId="0f89198e-5fc9-4501-bc9d-662a7644151c" providerId="ADAL" clId="{F9D69657-ACEA-48F5-BF31-8A26DFB76132}" dt="2023-07-12T12:40:30.133" v="89" actId="14100"/>
          <ac:spMkLst>
            <pc:docMk/>
            <pc:sldMk cId="784617737" sldId="828"/>
            <ac:spMk id="2" creationId="{A6F55DE2-37CF-4366-9E87-873E2A490C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xfrm>
            <a:off x="381000" y="685800"/>
            <a:ext cx="6096000" cy="3429000"/>
          </a:xfrm>
          <a:prstGeom prst="rect">
            <a:avLst/>
          </a:prstGeom>
        </p:spPr>
        <p:txBody>
          <a:bodyPr/>
          <a:lstStyle/>
          <a:p>
            <a:endParaRPr/>
          </a:p>
        </p:txBody>
      </p:sp>
      <p:sp>
        <p:nvSpPr>
          <p:cNvPr id="130" name="Shape 13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34649871"/>
      </p:ext>
    </p:extLst>
  </p:cSld>
  <p:clrMap bg1="lt1" tx1="dk1" bg2="lt2" tx2="dk2" accent1="accent1" accent2="accent2" accent3="accent3" accent4="accent4" accent5="accent5" accent6="accent6" hlink="hlink" folHlink="folHlink"/>
  <p:notesStyle>
    <a:lvl1pPr latinLnBrk="0">
      <a:defRPr sz="1200">
        <a:latin typeface="+mj-lt"/>
        <a:ea typeface="+mj-ea"/>
        <a:cs typeface="+mj-cs"/>
        <a:sym typeface="맑은 고딕"/>
      </a:defRPr>
    </a:lvl1pPr>
    <a:lvl2pPr indent="228600" latinLnBrk="0">
      <a:defRPr sz="1200">
        <a:latin typeface="+mj-lt"/>
        <a:ea typeface="+mj-ea"/>
        <a:cs typeface="+mj-cs"/>
        <a:sym typeface="맑은 고딕"/>
      </a:defRPr>
    </a:lvl2pPr>
    <a:lvl3pPr indent="457200" latinLnBrk="0">
      <a:defRPr sz="1200">
        <a:latin typeface="+mj-lt"/>
        <a:ea typeface="+mj-ea"/>
        <a:cs typeface="+mj-cs"/>
        <a:sym typeface="맑은 고딕"/>
      </a:defRPr>
    </a:lvl3pPr>
    <a:lvl4pPr indent="685800" latinLnBrk="0">
      <a:defRPr sz="1200">
        <a:latin typeface="+mj-lt"/>
        <a:ea typeface="+mj-ea"/>
        <a:cs typeface="+mj-cs"/>
        <a:sym typeface="맑은 고딕"/>
      </a:defRPr>
    </a:lvl4pPr>
    <a:lvl5pPr indent="914400" latinLnBrk="0">
      <a:defRPr sz="1200">
        <a:latin typeface="+mj-lt"/>
        <a:ea typeface="+mj-ea"/>
        <a:cs typeface="+mj-cs"/>
        <a:sym typeface="맑은 고딕"/>
      </a:defRPr>
    </a:lvl5pPr>
    <a:lvl6pPr indent="1143000" latinLnBrk="0">
      <a:defRPr sz="1200">
        <a:latin typeface="+mj-lt"/>
        <a:ea typeface="+mj-ea"/>
        <a:cs typeface="+mj-cs"/>
        <a:sym typeface="맑은 고딕"/>
      </a:defRPr>
    </a:lvl6pPr>
    <a:lvl7pPr indent="1371600" latinLnBrk="0">
      <a:defRPr sz="1200">
        <a:latin typeface="+mj-lt"/>
        <a:ea typeface="+mj-ea"/>
        <a:cs typeface="+mj-cs"/>
        <a:sym typeface="맑은 고딕"/>
      </a:defRPr>
    </a:lvl7pPr>
    <a:lvl8pPr indent="1600200" latinLnBrk="0">
      <a:defRPr sz="1200">
        <a:latin typeface="+mj-lt"/>
        <a:ea typeface="+mj-ea"/>
        <a:cs typeface="+mj-cs"/>
        <a:sym typeface="맑은 고딕"/>
      </a:defRPr>
    </a:lvl8pPr>
    <a:lvl9pPr indent="1828800" latinLnBrk="0">
      <a:defRPr sz="1200">
        <a:latin typeface="+mj-lt"/>
        <a:ea typeface="+mj-ea"/>
        <a:cs typeface="+mj-cs"/>
        <a:sym typeface="맑은 고딕"/>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ko.wikipedia.org/w/index.php?title=%EB%8D%B0%EC%9D%B4%ED%84%B0_%EC%86%90%EC%83%81&amp;action=edit&amp;redlink=1" TargetMode="External"/><Relationship Id="rId2" Type="http://schemas.openxmlformats.org/officeDocument/2006/relationships/slide" Target="../slides/slide49.xml"/><Relationship Id="rId1" Type="http://schemas.openxmlformats.org/officeDocument/2006/relationships/notesMaster" Target="../notesMasters/notesMaster1.xml"/><Relationship Id="rId4" Type="http://schemas.openxmlformats.org/officeDocument/2006/relationships/hyperlink" Target="https://ko.wikipedia.org/wiki/%EA%B8%B0%EC%96%B5_%EC%9E%A5%EC%B9%98"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ko.wikipedia.org/w/index.php?title=%EB%8D%B0%EC%9D%B4%ED%84%B0_%EC%86%90%EC%83%81&amp;action=edit&amp;redlink=1" TargetMode="External"/><Relationship Id="rId2" Type="http://schemas.openxmlformats.org/officeDocument/2006/relationships/slide" Target="../slides/slide55.xml"/><Relationship Id="rId1" Type="http://schemas.openxmlformats.org/officeDocument/2006/relationships/notesMaster" Target="../notesMasters/notesMaster1.xml"/><Relationship Id="rId4" Type="http://schemas.openxmlformats.org/officeDocument/2006/relationships/hyperlink" Target="https://ko.wikipedia.org/wiki/%EA%B8%B0%EC%96%B5_%EC%9E%A5%EC%B9%98" TargetMode="Externa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ko.wikipedia.org/w/index.php?title=%EB%8D%B0%EC%9D%B4%ED%84%B0_%EC%86%90%EC%83%81&amp;action=edit&amp;redlink=1" TargetMode="External"/><Relationship Id="rId2" Type="http://schemas.openxmlformats.org/officeDocument/2006/relationships/slide" Target="../slides/slide56.xml"/><Relationship Id="rId1" Type="http://schemas.openxmlformats.org/officeDocument/2006/relationships/notesMaster" Target="../notesMasters/notesMaster1.xml"/><Relationship Id="rId4" Type="http://schemas.openxmlformats.org/officeDocument/2006/relationships/hyperlink" Target="https://ko.wikipedia.org/wiki/%EA%B8%B0%EC%96%B5_%EC%9E%A5%EC%B9%98"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ko.wikipedia.org/w/index.php?title=%EB%8D%B0%EC%9D%B4%ED%84%B0_%EC%86%90%EC%83%81&amp;action=edit&amp;redlink=1" TargetMode="External"/><Relationship Id="rId2" Type="http://schemas.openxmlformats.org/officeDocument/2006/relationships/slide" Target="../slides/slide57.xml"/><Relationship Id="rId1" Type="http://schemas.openxmlformats.org/officeDocument/2006/relationships/notesMaster" Target="../notesMasters/notesMaster1.xml"/><Relationship Id="rId4" Type="http://schemas.openxmlformats.org/officeDocument/2006/relationships/hyperlink" Target="https://ko.wikipedia.org/wiki/%EA%B8%B0%EC%96%B5_%EC%9E%A5%EC%B9%98"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3600842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2217563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3740903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275626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3836792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1492295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latinLnBrk="1">
              <a:lnSpc>
                <a:spcPct val="150000"/>
              </a:lnSpc>
            </a:pPr>
            <a:r>
              <a:rPr lang="en-US" altLang="ko-KR" sz="1200" b="0" i="0" dirty="0">
                <a:solidFill>
                  <a:schemeClr val="tx1"/>
                </a:solidFill>
                <a:effectLst/>
                <a:latin typeface="Nanum Gothic"/>
              </a:rPr>
              <a:t>Bank group &amp; Bank</a:t>
            </a:r>
            <a:r>
              <a:rPr lang="ko-KR" altLang="en-US" sz="1200" b="0" i="0" dirty="0">
                <a:solidFill>
                  <a:schemeClr val="tx1"/>
                </a:solidFill>
                <a:effectLst/>
                <a:latin typeface="Nanum Gothic"/>
              </a:rPr>
              <a:t>가 식별</a:t>
            </a:r>
            <a:r>
              <a:rPr lang="en-US" altLang="ko-KR" sz="1200" b="0" i="0" dirty="0">
                <a:solidFill>
                  <a:schemeClr val="tx1"/>
                </a:solidFill>
                <a:effectLst/>
                <a:latin typeface="Nanum Gothic"/>
              </a:rPr>
              <a:t>,</a:t>
            </a:r>
            <a:r>
              <a:rPr lang="ko-KR" altLang="en-US" sz="1200" b="0" i="0" dirty="0">
                <a:solidFill>
                  <a:schemeClr val="tx1"/>
                </a:solidFill>
                <a:effectLst/>
                <a:latin typeface="Nanum Gothic"/>
              </a:rPr>
              <a:t> </a:t>
            </a:r>
            <a:r>
              <a:rPr lang="en-US" altLang="ko-KR" sz="1200" b="0" i="0" dirty="0">
                <a:solidFill>
                  <a:schemeClr val="tx1"/>
                </a:solidFill>
                <a:effectLst/>
                <a:latin typeface="Nanum Gothic"/>
              </a:rPr>
              <a:t>Address</a:t>
            </a:r>
            <a:r>
              <a:rPr lang="ko-KR" altLang="en-US" sz="1200" b="0" i="0" dirty="0">
                <a:solidFill>
                  <a:schemeClr val="tx1"/>
                </a:solidFill>
                <a:effectLst/>
                <a:latin typeface="Nanum Gothic"/>
              </a:rPr>
              <a:t>의 </a:t>
            </a:r>
            <a:r>
              <a:rPr lang="en-US" altLang="ko-KR" sz="1200" b="0" i="0" dirty="0">
                <a:solidFill>
                  <a:schemeClr val="tx1"/>
                </a:solidFill>
                <a:effectLst/>
                <a:latin typeface="Nanum Gothic"/>
              </a:rPr>
              <a:t>Row</a:t>
            </a:r>
            <a:r>
              <a:rPr lang="ko-KR" altLang="en-US" sz="1200" b="0" i="0" dirty="0">
                <a:solidFill>
                  <a:schemeClr val="tx1"/>
                </a:solidFill>
                <a:effectLst/>
                <a:latin typeface="Nanum Gothic"/>
              </a:rPr>
              <a:t>는 </a:t>
            </a:r>
            <a:r>
              <a:rPr lang="en-US" altLang="ko-KR" sz="1200" b="0" i="0" dirty="0">
                <a:solidFill>
                  <a:schemeClr val="tx1"/>
                </a:solidFill>
                <a:effectLst/>
                <a:latin typeface="Nanum Gothic"/>
              </a:rPr>
              <a:t>Memory Array</a:t>
            </a:r>
            <a:r>
              <a:rPr lang="ko-KR" altLang="en-US" sz="1200" b="0" i="0" dirty="0">
                <a:solidFill>
                  <a:schemeClr val="tx1"/>
                </a:solidFill>
                <a:effectLst/>
                <a:latin typeface="Nanum Gothic"/>
              </a:rPr>
              <a:t>의 한 파트 활성화</a:t>
            </a:r>
            <a:r>
              <a:rPr lang="en-US" altLang="ko-KR" sz="1200" dirty="0">
                <a:solidFill>
                  <a:schemeClr val="tx1"/>
                </a:solidFill>
                <a:latin typeface="Nanum Gothic"/>
              </a:rPr>
              <a:t>, </a:t>
            </a:r>
            <a:r>
              <a:rPr lang="en-US" altLang="ko-KR" sz="1200" dirty="0">
                <a:solidFill>
                  <a:srgbClr val="FF0000"/>
                </a:solidFill>
                <a:latin typeface="Nanum Gothic"/>
              </a:rPr>
              <a:t>“Word Line” </a:t>
            </a:r>
            <a:r>
              <a:rPr lang="ko-KR" altLang="en-US" sz="1200" dirty="0">
                <a:solidFill>
                  <a:schemeClr val="tx1"/>
                </a:solidFill>
                <a:latin typeface="Nanum Gothic"/>
              </a:rPr>
              <a:t>→ </a:t>
            </a:r>
            <a:r>
              <a:rPr lang="en-US" altLang="ko-KR" sz="1200" dirty="0">
                <a:solidFill>
                  <a:schemeClr val="tx1"/>
                </a:solidFill>
                <a:latin typeface="Nanum Gothic"/>
              </a:rPr>
              <a:t>Memory Array</a:t>
            </a:r>
            <a:r>
              <a:rPr lang="ko-KR" altLang="en-US" sz="1200" dirty="0">
                <a:solidFill>
                  <a:schemeClr val="tx1"/>
                </a:solidFill>
                <a:latin typeface="Nanum Gothic"/>
              </a:rPr>
              <a:t>로부터 </a:t>
            </a:r>
            <a:r>
              <a:rPr lang="en-US" altLang="ko-KR" sz="1200" dirty="0">
                <a:solidFill>
                  <a:schemeClr val="tx1"/>
                </a:solidFill>
                <a:latin typeface="Nanum Gothic"/>
              </a:rPr>
              <a:t>Sense Amplifier</a:t>
            </a:r>
            <a:r>
              <a:rPr lang="ko-KR" altLang="en-US" sz="1200" dirty="0">
                <a:solidFill>
                  <a:schemeClr val="tx1"/>
                </a:solidFill>
                <a:latin typeface="Nanum Gothic"/>
              </a:rPr>
              <a:t>에 데이터 </a:t>
            </a:r>
            <a:r>
              <a:rPr lang="en-US" altLang="ko-KR" sz="1200" dirty="0">
                <a:solidFill>
                  <a:schemeClr val="tx1"/>
                </a:solidFill>
                <a:latin typeface="Nanum Gothic"/>
              </a:rPr>
              <a:t>read</a:t>
            </a:r>
            <a:endParaRPr lang="en-US" altLang="ko-KR" sz="1200" b="0" i="0" dirty="0">
              <a:solidFill>
                <a:schemeClr val="tx1"/>
              </a:solidFill>
              <a:effectLst/>
              <a:latin typeface="Nanum Gothic"/>
            </a:endParaRPr>
          </a:p>
          <a:p>
            <a:pPr algn="l" latinLnBrk="1">
              <a:lnSpc>
                <a:spcPct val="150000"/>
              </a:lnSpc>
            </a:pPr>
            <a:r>
              <a:rPr lang="ko-KR" altLang="en-US" sz="1200" b="0" i="0" dirty="0">
                <a:solidFill>
                  <a:schemeClr val="tx1"/>
                </a:solidFill>
                <a:effectLst/>
                <a:latin typeface="Nanum Gothic"/>
              </a:rPr>
              <a:t>이후</a:t>
            </a:r>
            <a:r>
              <a:rPr lang="en-US" altLang="ko-KR" sz="1200" b="0" i="0" dirty="0">
                <a:solidFill>
                  <a:schemeClr val="tx1"/>
                </a:solidFill>
                <a:effectLst/>
                <a:latin typeface="Nanum Gothic"/>
              </a:rPr>
              <a:t>, Column Address</a:t>
            </a:r>
            <a:r>
              <a:rPr lang="ko-KR" altLang="en-US" sz="1200" b="0" i="0" dirty="0">
                <a:solidFill>
                  <a:schemeClr val="tx1"/>
                </a:solidFill>
                <a:effectLst/>
                <a:latin typeface="Nanum Gothic"/>
              </a:rPr>
              <a:t>는 </a:t>
            </a:r>
            <a:r>
              <a:rPr lang="en-US" altLang="ko-KR" sz="1200" b="0" i="0" dirty="0">
                <a:solidFill>
                  <a:schemeClr val="tx1"/>
                </a:solidFill>
                <a:effectLst/>
                <a:latin typeface="Nanum Gothic"/>
              </a:rPr>
              <a:t>Sense Amplifiers</a:t>
            </a:r>
            <a:r>
              <a:rPr lang="ko-KR" altLang="en-US" sz="1200" b="0" i="0" dirty="0">
                <a:solidFill>
                  <a:schemeClr val="tx1"/>
                </a:solidFill>
                <a:effectLst/>
                <a:latin typeface="Nanum Gothic"/>
              </a:rPr>
              <a:t>에 </a:t>
            </a:r>
            <a:r>
              <a:rPr lang="en-US" altLang="ko-KR" sz="1200" dirty="0">
                <a:solidFill>
                  <a:schemeClr val="tx1"/>
                </a:solidFill>
                <a:latin typeface="Nanum Gothic"/>
              </a:rPr>
              <a:t>load</a:t>
            </a:r>
            <a:r>
              <a:rPr lang="ko-KR" altLang="en-US" sz="1200" dirty="0">
                <a:solidFill>
                  <a:schemeClr val="tx1"/>
                </a:solidFill>
                <a:latin typeface="Nanum Gothic"/>
              </a:rPr>
              <a:t>된</a:t>
            </a:r>
            <a:r>
              <a:rPr lang="ko-KR" altLang="en-US" sz="1200" b="0" i="0" dirty="0">
                <a:solidFill>
                  <a:schemeClr val="tx1"/>
                </a:solidFill>
                <a:effectLst/>
                <a:latin typeface="Nanum Gothic"/>
              </a:rPr>
              <a:t> </a:t>
            </a:r>
            <a:r>
              <a:rPr lang="en-US" altLang="ko-KR" sz="1200" b="0" i="0" dirty="0">
                <a:solidFill>
                  <a:schemeClr val="tx1"/>
                </a:solidFill>
                <a:effectLst/>
                <a:latin typeface="Nanum Gothic"/>
              </a:rPr>
              <a:t>word</a:t>
            </a:r>
            <a:r>
              <a:rPr lang="ko-KR" altLang="en-US" sz="1200" b="0" i="0" dirty="0">
                <a:solidFill>
                  <a:schemeClr val="tx1"/>
                </a:solidFill>
                <a:effectLst/>
                <a:latin typeface="Nanum Gothic"/>
              </a:rPr>
              <a:t>의 일부분을 </a:t>
            </a:r>
            <a:r>
              <a:rPr lang="en-US" altLang="ko-KR" sz="1200" b="0" i="0" dirty="0">
                <a:solidFill>
                  <a:schemeClr val="tx1"/>
                </a:solidFill>
                <a:effectLst/>
                <a:latin typeface="Nanum Gothic"/>
              </a:rPr>
              <a:t>read, width of the </a:t>
            </a:r>
            <a:r>
              <a:rPr lang="en-US" altLang="ko-KR" sz="1200" dirty="0">
                <a:solidFill>
                  <a:schemeClr val="tx1"/>
                </a:solidFill>
                <a:latin typeface="Nanum Gothic"/>
              </a:rPr>
              <a:t>Column: </a:t>
            </a:r>
            <a:r>
              <a:rPr lang="en-US" altLang="ko-KR" sz="1200" b="0" i="0" dirty="0">
                <a:solidFill>
                  <a:srgbClr val="FF0000"/>
                </a:solidFill>
                <a:effectLst/>
                <a:latin typeface="Nanum Gothic"/>
              </a:rPr>
              <a:t>"Bit Line“ </a:t>
            </a:r>
            <a:r>
              <a:rPr lang="ko-KR" altLang="en-US" sz="1200" dirty="0">
                <a:solidFill>
                  <a:srgbClr val="FF0000"/>
                </a:solidFill>
                <a:latin typeface="Nanum Gothic"/>
              </a:rPr>
              <a:t>뒤에서 다시 언급하는 게 좋다</a:t>
            </a:r>
            <a:endParaRPr lang="ko-KR" altLang="en-US" sz="1200" b="0" i="0" dirty="0">
              <a:solidFill>
                <a:srgbClr val="FF0000"/>
              </a:solidFill>
              <a:effectLst/>
              <a:latin typeface="Nanum Gothic"/>
            </a:endParaRPr>
          </a:p>
          <a:p>
            <a:endParaRPr lang="ko-KR" altLang="en-US" dirty="0"/>
          </a:p>
        </p:txBody>
      </p:sp>
    </p:spTree>
    <p:extLst>
      <p:ext uri="{BB962C8B-B14F-4D97-AF65-F5344CB8AC3E}">
        <p14:creationId xmlns:p14="http://schemas.microsoft.com/office/powerpoint/2010/main" val="2781065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pPr marL="285750" marR="0" lvl="1" indent="-285750" algn="l" defTabSz="914400" rtl="0" eaLnBrk="1" fontAlgn="auto" latinLnBrk="0" hangingPunct="1">
                  <a:lnSpc>
                    <a:spcPct val="150000"/>
                  </a:lnSpc>
                  <a:spcBef>
                    <a:spcPts val="0"/>
                  </a:spcBef>
                  <a:spcAft>
                    <a:spcPts val="0"/>
                  </a:spcAft>
                  <a:buClrTx/>
                  <a:buSzTx/>
                  <a:buFontTx/>
                  <a:buChar char="-"/>
                  <a:tabLst/>
                  <a:defRPr/>
                </a:pPr>
                <a:r>
                  <a:rPr kumimoji="0" lang="en-US" altLang="ko-KR" sz="1200" b="0" i="0" u="none" strike="noStrike" cap="none" spc="0" normalizeH="0" baseline="0" dirty="0">
                    <a:ln>
                      <a:noFill/>
                    </a:ln>
                    <a:solidFill>
                      <a:srgbClr val="000000"/>
                    </a:solidFill>
                    <a:effectLst/>
                    <a:uFillTx/>
                    <a:latin typeface="+mj-lt"/>
                    <a:ea typeface="+mj-ea"/>
                    <a:cs typeface="+mj-cs"/>
                    <a:sym typeface="맑은 고딕"/>
                  </a:rPr>
                  <a:t>Column address is fixed to A0 – A9, </a:t>
                </a:r>
                <a14:m>
                  <m:oMath xmlns:m="http://schemas.openxmlformats.org/officeDocument/2006/math">
                    <m:sSup>
                      <m:sSupPr>
                        <m:ctrlPr>
                          <a:rPr kumimoji="0" lang="en-US" altLang="ko-KR" sz="1200" b="0" i="1" u="none" strike="noStrike" cap="none" spc="0" normalizeH="0" baseline="0" smtClean="0">
                            <a:ln>
                              <a:noFill/>
                            </a:ln>
                            <a:solidFill>
                              <a:srgbClr val="000000"/>
                            </a:solidFill>
                            <a:effectLst/>
                            <a:uFillTx/>
                            <a:latin typeface="Cambria Math" panose="02040503050406030204" pitchFamily="18" charset="0"/>
                            <a:ea typeface="+mj-ea"/>
                            <a:cs typeface="+mj-cs"/>
                            <a:sym typeface="맑은 고딕"/>
                          </a:rPr>
                        </m:ctrlPr>
                      </m:sSupPr>
                      <m:e>
                        <m:r>
                          <a:rPr kumimoji="0" lang="en-US" altLang="ko-KR" sz="1200" b="0" i="1" u="none" strike="noStrike" cap="none" spc="0" normalizeH="0" baseline="0" smtClean="0">
                            <a:ln>
                              <a:noFill/>
                            </a:ln>
                            <a:solidFill>
                              <a:srgbClr val="000000"/>
                            </a:solidFill>
                            <a:effectLst/>
                            <a:uFillTx/>
                            <a:latin typeface="Cambria Math" panose="02040503050406030204" pitchFamily="18" charset="0"/>
                            <a:ea typeface="+mj-ea"/>
                            <a:cs typeface="+mj-cs"/>
                            <a:sym typeface="맑은 고딕"/>
                          </a:rPr>
                          <m:t>2</m:t>
                        </m:r>
                      </m:e>
                      <m:sup>
                        <m:r>
                          <a:rPr kumimoji="0" lang="en-US" altLang="ko-KR" sz="1200" b="0" i="1" u="none" strike="noStrike" cap="none" spc="0" normalizeH="0" baseline="0" smtClean="0">
                            <a:ln>
                              <a:noFill/>
                            </a:ln>
                            <a:solidFill>
                              <a:srgbClr val="000000"/>
                            </a:solidFill>
                            <a:effectLst/>
                            <a:uFillTx/>
                            <a:latin typeface="Cambria Math" panose="02040503050406030204" pitchFamily="18" charset="0"/>
                            <a:ea typeface="+mj-ea"/>
                            <a:cs typeface="+mj-cs"/>
                            <a:sym typeface="맑은 고딕"/>
                          </a:rPr>
                          <m:t>10</m:t>
                        </m:r>
                      </m:sup>
                    </m:sSup>
                    <m:r>
                      <a:rPr kumimoji="0" lang="en-US" altLang="ko-KR" sz="1200" b="0" i="1" u="none" strike="noStrike" cap="none" spc="0" normalizeH="0" baseline="0" smtClean="0">
                        <a:ln>
                          <a:noFill/>
                        </a:ln>
                        <a:solidFill>
                          <a:srgbClr val="000000"/>
                        </a:solidFill>
                        <a:effectLst/>
                        <a:uFillTx/>
                        <a:latin typeface="Cambria Math" panose="02040503050406030204" pitchFamily="18" charset="0"/>
                        <a:ea typeface="+mj-ea"/>
                        <a:cs typeface="+mj-cs"/>
                        <a:sym typeface="맑은 고딕"/>
                      </a:rPr>
                      <m:t>=1</m:t>
                    </m:r>
                    <m:r>
                      <a:rPr kumimoji="0" lang="en-US" altLang="ko-KR" sz="1200" b="0" i="1" u="none" strike="noStrike" cap="none" spc="0" normalizeH="0" baseline="0" smtClean="0">
                        <a:ln>
                          <a:noFill/>
                        </a:ln>
                        <a:solidFill>
                          <a:srgbClr val="000000"/>
                        </a:solidFill>
                        <a:effectLst/>
                        <a:uFillTx/>
                        <a:latin typeface="Cambria Math" panose="02040503050406030204" pitchFamily="18" charset="0"/>
                        <a:ea typeface="+mj-ea"/>
                        <a:cs typeface="+mj-cs"/>
                        <a:sym typeface="맑은 고딕"/>
                      </a:rPr>
                      <m:t>𝐾</m:t>
                    </m:r>
                  </m:oMath>
                </a14:m>
                <a:endParaRPr kumimoji="0" lang="en-US" altLang="ko-KR" sz="1200" b="0" i="0" u="none" strike="noStrike" cap="none" spc="0" normalizeH="0" baseline="0" dirty="0">
                  <a:ln>
                    <a:noFill/>
                  </a:ln>
                  <a:solidFill>
                    <a:srgbClr val="000000"/>
                  </a:solidFill>
                  <a:effectLst/>
                  <a:uFillTx/>
                  <a:latin typeface="+mj-lt"/>
                  <a:ea typeface="+mj-ea"/>
                  <a:cs typeface="+mj-cs"/>
                  <a:sym typeface="맑은 고딕"/>
                </a:endParaRPr>
              </a:p>
              <a:p>
                <a:pPr marL="285750" lvl="1" indent="-285750">
                  <a:lnSpc>
                    <a:spcPct val="150000"/>
                  </a:lnSpc>
                  <a:buFontTx/>
                  <a:buChar char="-"/>
                </a:pPr>
                <a:endParaRPr kumimoji="0" lang="en-US" altLang="ko-KR" b="0" i="0" u="none" strike="noStrike" cap="none" spc="0" normalizeH="0" baseline="0" dirty="0">
                  <a:ln>
                    <a:noFill/>
                  </a:ln>
                  <a:solidFill>
                    <a:srgbClr val="000000"/>
                  </a:solidFill>
                  <a:effectLst/>
                  <a:uFillTx/>
                  <a:latin typeface="+mj-lt"/>
                  <a:ea typeface="+mj-ea"/>
                  <a:cs typeface="+mj-cs"/>
                  <a:sym typeface="맑은 고딕"/>
                </a:endParaRPr>
              </a:p>
              <a:p>
                <a:pPr marL="285750" lvl="1" indent="-285750">
                  <a:lnSpc>
                    <a:spcPct val="150000"/>
                  </a:lnSpc>
                  <a:buFontTx/>
                  <a:buChar char="-"/>
                </a:pPr>
                <a:r>
                  <a:rPr kumimoji="0" lang="en-US" altLang="ko-KR" b="0" i="0" u="none" strike="noStrike" cap="none" spc="0" normalizeH="0" baseline="0" dirty="0">
                    <a:ln>
                      <a:noFill/>
                    </a:ln>
                    <a:solidFill>
                      <a:srgbClr val="000000"/>
                    </a:solidFill>
                    <a:effectLst/>
                    <a:uFillTx/>
                    <a:latin typeface="+mj-lt"/>
                    <a:ea typeface="+mj-ea"/>
                    <a:cs typeface="+mj-cs"/>
                    <a:sym typeface="맑은 고딕"/>
                  </a:rPr>
                  <a:t>Pa</a:t>
                </a:r>
                <a:r>
                  <a:rPr lang="en-US" altLang="ko-KR" dirty="0"/>
                  <a:t>ge size: </a:t>
                </a:r>
                <a:r>
                  <a:rPr lang="ko-KR" altLang="en-US" dirty="0"/>
                  <a:t>각 </a:t>
                </a:r>
                <a:r>
                  <a:rPr lang="en-US" altLang="ko-KR" dirty="0"/>
                  <a:t>Row</a:t>
                </a:r>
                <a:r>
                  <a:rPr lang="ko-KR" altLang="en-US" dirty="0"/>
                  <a:t>가 활성화 되었을 때 </a:t>
                </a:r>
                <a:r>
                  <a:rPr lang="en-US" altLang="ko-KR" dirty="0"/>
                  <a:t>Sense Amplifier</a:t>
                </a:r>
                <a:r>
                  <a:rPr lang="ko-KR" altLang="en-US" dirty="0"/>
                  <a:t>에 로드되는 비트의 수</a:t>
                </a:r>
                <a:endParaRPr lang="en-US" altLang="ko-KR" dirty="0"/>
              </a:p>
              <a:p>
                <a:pPr lvl="1" indent="0">
                  <a:lnSpc>
                    <a:spcPct val="150000"/>
                  </a:lnSpc>
                </a:pPr>
                <a:r>
                  <a:rPr kumimoji="0" lang="en-US" altLang="ko-KR" b="0" i="0" u="none" strike="noStrike" cap="none" spc="0" normalizeH="0" baseline="0" dirty="0">
                    <a:ln>
                      <a:noFill/>
                    </a:ln>
                    <a:solidFill>
                      <a:srgbClr val="000000"/>
                    </a:solidFill>
                    <a:effectLst/>
                    <a:uFillTx/>
                    <a:latin typeface="+mj-lt"/>
                    <a:ea typeface="+mj-ea"/>
                    <a:cs typeface="+mj-cs"/>
                    <a:sym typeface="맑은 고딕"/>
                  </a:rPr>
                  <a:t>	Column width * Column address = Sense Amplifier</a:t>
                </a:r>
              </a:p>
              <a:p>
                <a:pPr lvl="1" indent="0">
                  <a:lnSpc>
                    <a:spcPct val="150000"/>
                  </a:lnSpc>
                </a:pPr>
                <a:r>
                  <a:rPr lang="en-US" altLang="ko-KR" dirty="0"/>
                  <a:t>	1K * x8(8 bits) = 8K bits = 1K Bytes</a:t>
                </a:r>
                <a:endParaRPr kumimoji="0" lang="ko-KR" altLang="en-US" b="0" i="0" u="none" strike="noStrike" cap="none" spc="0" normalizeH="0" baseline="0" dirty="0">
                  <a:ln>
                    <a:noFill/>
                  </a:ln>
                  <a:solidFill>
                    <a:srgbClr val="000000"/>
                  </a:solidFill>
                  <a:effectLst/>
                  <a:uFillTx/>
                  <a:latin typeface="+mj-lt"/>
                  <a:ea typeface="+mj-ea"/>
                  <a:cs typeface="+mj-cs"/>
                  <a:sym typeface="맑은 고딕"/>
                </a:endParaRPr>
              </a:p>
              <a:p>
                <a:r>
                  <a:rPr lang="en-US" altLang="ko-KR" dirty="0"/>
                  <a:t>Address</a:t>
                </a:r>
                <a:r>
                  <a:rPr lang="ko-KR" altLang="en-US" dirty="0"/>
                  <a:t>를 순차적으로 증가</a:t>
                </a:r>
                <a:r>
                  <a:rPr lang="en-US" altLang="ko-KR" dirty="0"/>
                  <a:t>/</a:t>
                </a:r>
                <a:r>
                  <a:rPr lang="ko-KR" altLang="en-US" dirty="0"/>
                  <a:t>감소시키며 다량의 데이터를 </a:t>
                </a:r>
                <a:r>
                  <a:rPr lang="en-US" altLang="ko-KR" dirty="0"/>
                  <a:t>read/write </a:t>
                </a:r>
                <a:r>
                  <a:rPr lang="ko-KR" altLang="en-US" dirty="0"/>
                  <a:t>하는 모드</a:t>
                </a:r>
              </a:p>
            </p:txBody>
          </p:sp>
        </mc:Choice>
        <mc:Fallback xmlns="">
          <p:sp>
            <p:nvSpPr>
              <p:cNvPr id="3" name="슬라이드 노트 개체 틀 2"/>
              <p:cNvSpPr>
                <a:spLocks noGrp="1"/>
              </p:cNvSpPr>
              <p:nvPr>
                <p:ph type="body" idx="1"/>
              </p:nvPr>
            </p:nvSpPr>
            <p:spPr/>
            <p:txBody>
              <a:bodyPr/>
              <a:lstStyle/>
              <a:p>
                <a:pPr marL="285750" marR="0" lvl="1" indent="-285750" algn="l" defTabSz="914400" rtl="0" eaLnBrk="1" fontAlgn="auto" latinLnBrk="0" hangingPunct="1">
                  <a:lnSpc>
                    <a:spcPct val="150000"/>
                  </a:lnSpc>
                  <a:spcBef>
                    <a:spcPts val="0"/>
                  </a:spcBef>
                  <a:spcAft>
                    <a:spcPts val="0"/>
                  </a:spcAft>
                  <a:buClrTx/>
                  <a:buSzTx/>
                  <a:buFontTx/>
                  <a:buChar char="-"/>
                  <a:tabLst/>
                  <a:defRPr/>
                </a:pPr>
                <a:r>
                  <a:rPr kumimoji="0" lang="en-US" altLang="ko-KR" sz="1200" b="0" i="0" u="none" strike="noStrike" cap="none" spc="0" normalizeH="0" baseline="0" dirty="0">
                    <a:ln>
                      <a:noFill/>
                    </a:ln>
                    <a:solidFill>
                      <a:srgbClr val="000000"/>
                    </a:solidFill>
                    <a:effectLst/>
                    <a:uFillTx/>
                    <a:latin typeface="+mj-lt"/>
                    <a:ea typeface="+mj-ea"/>
                    <a:cs typeface="+mj-cs"/>
                    <a:sym typeface="맑은 고딕"/>
                  </a:rPr>
                  <a:t>Column address is fixed to A0 – A9, </a:t>
                </a:r>
                <a:r>
                  <a:rPr kumimoji="0" lang="en-US" altLang="ko-KR" sz="1200" b="0" i="0" u="none" strike="noStrike" cap="none" spc="0" normalizeH="0" baseline="0">
                    <a:ln>
                      <a:noFill/>
                    </a:ln>
                    <a:solidFill>
                      <a:srgbClr val="000000"/>
                    </a:solidFill>
                    <a:effectLst/>
                    <a:uFillTx/>
                    <a:latin typeface="Cambria Math" panose="02040503050406030204" pitchFamily="18" charset="0"/>
                    <a:ea typeface="+mj-ea"/>
                    <a:cs typeface="+mj-cs"/>
                    <a:sym typeface="맑은 고딕"/>
                  </a:rPr>
                  <a:t>2^10=1𝐾</a:t>
                </a:r>
                <a:endParaRPr kumimoji="0" lang="en-US" altLang="ko-KR" sz="1200" b="0" i="0" u="none" strike="noStrike" cap="none" spc="0" normalizeH="0" baseline="0" dirty="0">
                  <a:ln>
                    <a:noFill/>
                  </a:ln>
                  <a:solidFill>
                    <a:srgbClr val="000000"/>
                  </a:solidFill>
                  <a:effectLst/>
                  <a:uFillTx/>
                  <a:latin typeface="+mj-lt"/>
                  <a:ea typeface="+mj-ea"/>
                  <a:cs typeface="+mj-cs"/>
                  <a:sym typeface="맑은 고딕"/>
                </a:endParaRPr>
              </a:p>
              <a:p>
                <a:pPr marL="285750" lvl="1" indent="-285750">
                  <a:lnSpc>
                    <a:spcPct val="150000"/>
                  </a:lnSpc>
                  <a:buFontTx/>
                  <a:buChar char="-"/>
                </a:pPr>
                <a:endParaRPr kumimoji="0" lang="en-US" altLang="ko-KR" b="0" i="0" u="none" strike="noStrike" cap="none" spc="0" normalizeH="0" baseline="0" dirty="0">
                  <a:ln>
                    <a:noFill/>
                  </a:ln>
                  <a:solidFill>
                    <a:srgbClr val="000000"/>
                  </a:solidFill>
                  <a:effectLst/>
                  <a:uFillTx/>
                  <a:latin typeface="+mj-lt"/>
                  <a:ea typeface="+mj-ea"/>
                  <a:cs typeface="+mj-cs"/>
                  <a:sym typeface="맑은 고딕"/>
                </a:endParaRPr>
              </a:p>
              <a:p>
                <a:pPr marL="285750" lvl="1" indent="-285750">
                  <a:lnSpc>
                    <a:spcPct val="150000"/>
                  </a:lnSpc>
                  <a:buFontTx/>
                  <a:buChar char="-"/>
                </a:pPr>
                <a:r>
                  <a:rPr kumimoji="0" lang="en-US" altLang="ko-KR" b="0" i="0" u="none" strike="noStrike" cap="none" spc="0" normalizeH="0" baseline="0" dirty="0">
                    <a:ln>
                      <a:noFill/>
                    </a:ln>
                    <a:solidFill>
                      <a:srgbClr val="000000"/>
                    </a:solidFill>
                    <a:effectLst/>
                    <a:uFillTx/>
                    <a:latin typeface="+mj-lt"/>
                    <a:ea typeface="+mj-ea"/>
                    <a:cs typeface="+mj-cs"/>
                    <a:sym typeface="맑은 고딕"/>
                  </a:rPr>
                  <a:t>Pa</a:t>
                </a:r>
                <a:r>
                  <a:rPr lang="en-US" altLang="ko-KR" dirty="0"/>
                  <a:t>ge size: </a:t>
                </a:r>
                <a:r>
                  <a:rPr lang="ko-KR" altLang="en-US" dirty="0"/>
                  <a:t>각 </a:t>
                </a:r>
                <a:r>
                  <a:rPr lang="en-US" altLang="ko-KR" dirty="0"/>
                  <a:t>Row</a:t>
                </a:r>
                <a:r>
                  <a:rPr lang="ko-KR" altLang="en-US" dirty="0"/>
                  <a:t>가 활성화 되었을 때 </a:t>
                </a:r>
                <a:r>
                  <a:rPr lang="en-US" altLang="ko-KR" dirty="0"/>
                  <a:t>Sense Amplifier</a:t>
                </a:r>
                <a:r>
                  <a:rPr lang="ko-KR" altLang="en-US" dirty="0"/>
                  <a:t>에 로드되는 비트의 수</a:t>
                </a:r>
                <a:endParaRPr lang="en-US" altLang="ko-KR" dirty="0"/>
              </a:p>
              <a:p>
                <a:pPr lvl="1" indent="0">
                  <a:lnSpc>
                    <a:spcPct val="150000"/>
                  </a:lnSpc>
                </a:pPr>
                <a:r>
                  <a:rPr kumimoji="0" lang="en-US" altLang="ko-KR" b="0" i="0" u="none" strike="noStrike" cap="none" spc="0" normalizeH="0" baseline="0" dirty="0">
                    <a:ln>
                      <a:noFill/>
                    </a:ln>
                    <a:solidFill>
                      <a:srgbClr val="000000"/>
                    </a:solidFill>
                    <a:effectLst/>
                    <a:uFillTx/>
                    <a:latin typeface="+mj-lt"/>
                    <a:ea typeface="+mj-ea"/>
                    <a:cs typeface="+mj-cs"/>
                    <a:sym typeface="맑은 고딕"/>
                  </a:rPr>
                  <a:t>	Column width * Column address = Sense Amplifier</a:t>
                </a:r>
              </a:p>
              <a:p>
                <a:pPr lvl="1" indent="0">
                  <a:lnSpc>
                    <a:spcPct val="150000"/>
                  </a:lnSpc>
                </a:pPr>
                <a:r>
                  <a:rPr lang="en-US" altLang="ko-KR" dirty="0"/>
                  <a:t>	1K * x8(8 bits) = 8K bits = 1K Bytes</a:t>
                </a:r>
                <a:endParaRPr kumimoji="0" lang="ko-KR" altLang="en-US" b="0" i="0" u="none" strike="noStrike" cap="none" spc="0" normalizeH="0" baseline="0" dirty="0">
                  <a:ln>
                    <a:noFill/>
                  </a:ln>
                  <a:solidFill>
                    <a:srgbClr val="000000"/>
                  </a:solidFill>
                  <a:effectLst/>
                  <a:uFillTx/>
                  <a:latin typeface="+mj-lt"/>
                  <a:ea typeface="+mj-ea"/>
                  <a:cs typeface="+mj-cs"/>
                  <a:sym typeface="맑은 고딕"/>
                </a:endParaRPr>
              </a:p>
              <a:p>
                <a:endParaRPr lang="ko-KR" altLang="en-US" dirty="0"/>
              </a:p>
            </p:txBody>
          </p:sp>
        </mc:Fallback>
      </mc:AlternateContent>
    </p:spTree>
    <p:extLst>
      <p:ext uri="{BB962C8B-B14F-4D97-AF65-F5344CB8AC3E}">
        <p14:creationId xmlns:p14="http://schemas.microsoft.com/office/powerpoint/2010/main" val="2426253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한글 구성</a:t>
            </a:r>
            <a:endParaRPr lang="en-US" altLang="ko-KR" dirty="0"/>
          </a:p>
          <a:p>
            <a:endParaRPr lang="ko-KR" altLang="en-US" dirty="0"/>
          </a:p>
        </p:txBody>
      </p:sp>
    </p:spTree>
    <p:extLst>
      <p:ext uri="{BB962C8B-B14F-4D97-AF65-F5344CB8AC3E}">
        <p14:creationId xmlns:p14="http://schemas.microsoft.com/office/powerpoint/2010/main" val="314590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940572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4233229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1370013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4025087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3055219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400148" lvl="3" indent="-285750"/>
            <a:r>
              <a:rPr lang="en-US" altLang="ko-KR" dirty="0"/>
              <a:t>CL: </a:t>
            </a:r>
            <a:r>
              <a:rPr lang="ko-KR" altLang="en-US" dirty="0"/>
              <a:t>얼마나 메모리 내의 데이터를 빨리 읽는가</a:t>
            </a:r>
            <a:r>
              <a:rPr lang="en-US" altLang="ko-KR" dirty="0"/>
              <a:t>?</a:t>
            </a:r>
          </a:p>
          <a:p>
            <a:endParaRPr lang="ko-KR" altLang="en-US" dirty="0"/>
          </a:p>
        </p:txBody>
      </p:sp>
    </p:spTree>
    <p:extLst>
      <p:ext uri="{BB962C8B-B14F-4D97-AF65-F5344CB8AC3E}">
        <p14:creationId xmlns:p14="http://schemas.microsoft.com/office/powerpoint/2010/main" val="3906163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597362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1402471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30491211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4170102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HBM </a:t>
            </a:r>
            <a:r>
              <a:rPr lang="ko-KR" altLang="en-US" b="0" i="0" dirty="0">
                <a:solidFill>
                  <a:srgbClr val="000000"/>
                </a:solidFill>
                <a:effectLst/>
                <a:latin typeface="noto"/>
              </a:rPr>
              <a:t>스택 아키텍처는 메모리 주소 공간을 의사 채널로 분할한다</a:t>
            </a:r>
            <a:r>
              <a:rPr lang="en-US" altLang="ko-KR" b="0" i="0" dirty="0">
                <a:solidFill>
                  <a:srgbClr val="000000"/>
                </a:solidFill>
                <a:effectLst/>
                <a:latin typeface="noto"/>
              </a:rPr>
              <a:t>. </a:t>
            </a:r>
            <a:r>
              <a:rPr lang="ko-KR" altLang="en-US" b="0" i="0" dirty="0">
                <a:solidFill>
                  <a:srgbClr val="000000"/>
                </a:solidFill>
                <a:effectLst/>
                <a:latin typeface="noto"/>
              </a:rPr>
              <a:t>이는 주어진 </a:t>
            </a:r>
            <a:r>
              <a:rPr lang="en-US" altLang="ko-KR" b="0" i="0" dirty="0">
                <a:solidFill>
                  <a:srgbClr val="000000"/>
                </a:solidFill>
                <a:effectLst/>
                <a:latin typeface="noto"/>
              </a:rPr>
              <a:t>HBM DQ </a:t>
            </a:r>
            <a:r>
              <a:rPr lang="ko-KR" altLang="en-US" b="0" i="0" dirty="0">
                <a:solidFill>
                  <a:srgbClr val="000000"/>
                </a:solidFill>
                <a:effectLst/>
                <a:latin typeface="noto"/>
              </a:rPr>
              <a:t>비트 세트가 메모리의 특정 주소 영역에 할당된다는 것을 의미</a:t>
            </a:r>
            <a:endParaRPr lang="en-US" altLang="ko-KR" b="0" i="0" dirty="0">
              <a:solidFill>
                <a:srgbClr val="000000"/>
              </a:solidFill>
              <a:effectLst/>
              <a:latin typeface="noto"/>
            </a:endParaRPr>
          </a:p>
          <a:p>
            <a:r>
              <a:rPr lang="en-US" altLang="ko-KR" b="0" i="0" dirty="0">
                <a:solidFill>
                  <a:srgbClr val="000000"/>
                </a:solidFill>
                <a:effectLst/>
                <a:latin typeface="noto"/>
              </a:rPr>
              <a:t>HBM </a:t>
            </a:r>
            <a:r>
              <a:rPr lang="ko-KR" altLang="en-US" b="0" i="0" dirty="0">
                <a:solidFill>
                  <a:srgbClr val="000000"/>
                </a:solidFill>
                <a:effectLst/>
                <a:latin typeface="noto"/>
              </a:rPr>
              <a:t>스택을 단일 연속 메모리로 취급하거나 유사 채널 경계를 넘어 분할하려는 경우에는 이 제한</a:t>
            </a:r>
            <a:endParaRPr lang="en-US" altLang="ko-KR" b="0" i="0" dirty="0">
              <a:solidFill>
                <a:srgbClr val="000000"/>
              </a:solidFill>
              <a:effectLst/>
              <a:latin typeface="noto"/>
            </a:endParaRPr>
          </a:p>
          <a:p>
            <a:r>
              <a:rPr lang="ko-KR" altLang="en-US" b="0" i="0" dirty="0">
                <a:solidFill>
                  <a:srgbClr val="000000"/>
                </a:solidFill>
                <a:effectLst/>
                <a:latin typeface="noto"/>
              </a:rPr>
              <a:t>내장 메모리 컨트롤러 내부에 </a:t>
            </a:r>
            <a:r>
              <a:rPr lang="en-US" altLang="ko-KR" b="0" i="0" dirty="0">
                <a:solidFill>
                  <a:srgbClr val="000000"/>
                </a:solidFill>
                <a:effectLst/>
                <a:latin typeface="noto"/>
              </a:rPr>
              <a:t>AXI </a:t>
            </a:r>
            <a:r>
              <a:rPr lang="ko-KR" altLang="en-US" b="0" i="0" dirty="0">
                <a:solidFill>
                  <a:srgbClr val="000000"/>
                </a:solidFill>
                <a:effectLst/>
                <a:latin typeface="noto"/>
              </a:rPr>
              <a:t>스위치 네트워크를 포함시켰다</a:t>
            </a:r>
            <a:r>
              <a:rPr lang="en-US" altLang="ko-KR" b="0" i="0" dirty="0">
                <a:solidFill>
                  <a:srgbClr val="000000"/>
                </a:solidFill>
                <a:effectLst/>
                <a:latin typeface="noto"/>
              </a:rPr>
              <a:t>. </a:t>
            </a:r>
            <a:r>
              <a:rPr lang="ko-KR" altLang="en-US" b="0" i="0" dirty="0">
                <a:solidFill>
                  <a:srgbClr val="000000"/>
                </a:solidFill>
                <a:effectLst/>
                <a:latin typeface="noto"/>
              </a:rPr>
              <a:t>이 스위치 네트워크는 주소를 기반으로 소스 </a:t>
            </a:r>
            <a:r>
              <a:rPr lang="en-US" altLang="ko-KR" b="0" i="0" dirty="0">
                <a:solidFill>
                  <a:srgbClr val="000000"/>
                </a:solidFill>
                <a:effectLst/>
                <a:latin typeface="noto"/>
              </a:rPr>
              <a:t>AXI </a:t>
            </a:r>
            <a:r>
              <a:rPr lang="ko-KR" altLang="en-US" b="0" i="0" dirty="0">
                <a:solidFill>
                  <a:srgbClr val="000000"/>
                </a:solidFill>
                <a:effectLst/>
                <a:latin typeface="noto"/>
              </a:rPr>
              <a:t>인터페이스에서 </a:t>
            </a:r>
            <a:r>
              <a:rPr lang="en-US" altLang="ko-KR" b="0" i="0" dirty="0">
                <a:solidFill>
                  <a:srgbClr val="000000"/>
                </a:solidFill>
                <a:effectLst/>
                <a:latin typeface="noto"/>
              </a:rPr>
              <a:t>HBM </a:t>
            </a:r>
            <a:r>
              <a:rPr lang="ko-KR" altLang="en-US" b="0" i="0" dirty="0">
                <a:solidFill>
                  <a:srgbClr val="000000"/>
                </a:solidFill>
                <a:effectLst/>
                <a:latin typeface="noto"/>
              </a:rPr>
              <a:t>유사 채널로 메모리 읽기 및 쓰기를 라우팅합니다</a:t>
            </a:r>
            <a:r>
              <a:rPr lang="en-US" altLang="ko-KR" b="0" i="0" dirty="0">
                <a:solidFill>
                  <a:srgbClr val="000000"/>
                </a:solidFill>
                <a:effectLst/>
                <a:latin typeface="noto"/>
              </a:rPr>
              <a:t>. </a:t>
            </a:r>
            <a:r>
              <a:rPr lang="ko-KR" altLang="en-US" b="0" i="0" dirty="0">
                <a:solidFill>
                  <a:srgbClr val="000000"/>
                </a:solidFill>
                <a:effectLst/>
                <a:latin typeface="noto"/>
              </a:rPr>
              <a:t>이 기능은 모든 사용자 </a:t>
            </a:r>
            <a:r>
              <a:rPr lang="en-US" altLang="ko-KR" b="0" i="0" dirty="0">
                <a:solidFill>
                  <a:srgbClr val="000000"/>
                </a:solidFill>
                <a:effectLst/>
                <a:latin typeface="noto"/>
              </a:rPr>
              <a:t>AXI </a:t>
            </a:r>
            <a:r>
              <a:rPr lang="ko-KR" altLang="en-US" b="0" i="0" dirty="0">
                <a:solidFill>
                  <a:srgbClr val="000000"/>
                </a:solidFill>
                <a:effectLst/>
                <a:latin typeface="noto"/>
              </a:rPr>
              <a:t>인터페이스가 모든 </a:t>
            </a:r>
            <a:r>
              <a:rPr lang="en-US" altLang="ko-KR" b="0" i="0" dirty="0">
                <a:solidFill>
                  <a:srgbClr val="000000"/>
                </a:solidFill>
                <a:effectLst/>
                <a:latin typeface="noto"/>
              </a:rPr>
              <a:t>HBM </a:t>
            </a:r>
            <a:r>
              <a:rPr lang="ko-KR" altLang="en-US" b="0" i="0" dirty="0">
                <a:solidFill>
                  <a:srgbClr val="000000"/>
                </a:solidFill>
                <a:effectLst/>
                <a:latin typeface="noto"/>
              </a:rPr>
              <a:t>메모리 주소에 액세스할 수 있도록 허용하기 때문에 유연한 주소 지정이라고 합니다</a:t>
            </a:r>
            <a:r>
              <a:rPr lang="en-US" altLang="ko-KR" b="0" i="0" dirty="0">
                <a:solidFill>
                  <a:srgbClr val="000000"/>
                </a:solidFill>
                <a:effectLst/>
                <a:latin typeface="noto"/>
              </a:rPr>
              <a:t>.</a:t>
            </a:r>
            <a:endParaRPr lang="ko-KR" altLang="en-US" dirty="0"/>
          </a:p>
        </p:txBody>
      </p:sp>
    </p:spTree>
    <p:extLst>
      <p:ext uri="{BB962C8B-B14F-4D97-AF65-F5344CB8AC3E}">
        <p14:creationId xmlns:p14="http://schemas.microsoft.com/office/powerpoint/2010/main" val="2020001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3097252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436756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Process data faster – </a:t>
            </a:r>
            <a:r>
              <a:rPr lang="ko-KR" altLang="en-US" dirty="0" err="1"/>
              <a:t>머신러닝</a:t>
            </a:r>
            <a:r>
              <a:rPr lang="en-US" altLang="ko-KR" dirty="0"/>
              <a:t>, </a:t>
            </a:r>
            <a:r>
              <a:rPr lang="ko-KR" altLang="en-US" dirty="0"/>
              <a:t>비디오 처리</a:t>
            </a:r>
            <a:r>
              <a:rPr lang="en-US" altLang="ko-KR" dirty="0"/>
              <a:t>, </a:t>
            </a:r>
            <a:r>
              <a:rPr lang="ko-KR" altLang="en-US" dirty="0"/>
              <a:t>데이터 분석</a:t>
            </a:r>
            <a:endParaRPr lang="en-US" altLang="ko-KR" dirty="0"/>
          </a:p>
          <a:p>
            <a:endParaRPr lang="ko-KR" altLang="en-US" dirty="0"/>
          </a:p>
        </p:txBody>
      </p:sp>
    </p:spTree>
    <p:extLst>
      <p:ext uri="{BB962C8B-B14F-4D97-AF65-F5344CB8AC3E}">
        <p14:creationId xmlns:p14="http://schemas.microsoft.com/office/powerpoint/2010/main" val="40664784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Process data faster – </a:t>
            </a:r>
            <a:r>
              <a:rPr lang="ko-KR" altLang="en-US" dirty="0" err="1"/>
              <a:t>머신러닝</a:t>
            </a:r>
            <a:r>
              <a:rPr lang="en-US" altLang="ko-KR" dirty="0"/>
              <a:t>, </a:t>
            </a:r>
            <a:r>
              <a:rPr lang="ko-KR" altLang="en-US" dirty="0"/>
              <a:t>비디오 처리</a:t>
            </a:r>
            <a:r>
              <a:rPr lang="en-US" altLang="ko-KR" dirty="0"/>
              <a:t>, </a:t>
            </a:r>
            <a:r>
              <a:rPr lang="ko-KR" altLang="en-US" dirty="0"/>
              <a:t>데이터 분석</a:t>
            </a:r>
            <a:endParaRPr lang="en-US" altLang="ko-KR" dirty="0"/>
          </a:p>
          <a:p>
            <a:endParaRPr lang="ko-KR" altLang="en-US" dirty="0"/>
          </a:p>
        </p:txBody>
      </p:sp>
    </p:spTree>
    <p:extLst>
      <p:ext uri="{BB962C8B-B14F-4D97-AF65-F5344CB8AC3E}">
        <p14:creationId xmlns:p14="http://schemas.microsoft.com/office/powerpoint/2010/main" val="1802934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Process data faster – </a:t>
            </a:r>
            <a:r>
              <a:rPr lang="ko-KR" altLang="en-US" dirty="0" err="1"/>
              <a:t>머신러닝</a:t>
            </a:r>
            <a:r>
              <a:rPr lang="en-US" altLang="ko-KR" dirty="0"/>
              <a:t>, </a:t>
            </a:r>
            <a:r>
              <a:rPr lang="ko-KR" altLang="en-US" dirty="0"/>
              <a:t>비디오 처리</a:t>
            </a:r>
            <a:r>
              <a:rPr lang="en-US" altLang="ko-KR" dirty="0"/>
              <a:t>, </a:t>
            </a:r>
            <a:r>
              <a:rPr lang="ko-KR" altLang="en-US" dirty="0"/>
              <a:t>데이터 분석</a:t>
            </a:r>
            <a:endParaRPr lang="en-US" altLang="ko-KR" dirty="0"/>
          </a:p>
          <a:p>
            <a:endParaRPr lang="ko-KR" altLang="en-US" dirty="0"/>
          </a:p>
        </p:txBody>
      </p:sp>
    </p:spTree>
    <p:extLst>
      <p:ext uri="{BB962C8B-B14F-4D97-AF65-F5344CB8AC3E}">
        <p14:creationId xmlns:p14="http://schemas.microsoft.com/office/powerpoint/2010/main" val="36021808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ECC</a:t>
            </a:r>
            <a:r>
              <a:rPr lang="ko-KR" altLang="en-US" dirty="0"/>
              <a:t> </a:t>
            </a:r>
            <a:r>
              <a:rPr lang="en-US" altLang="ko-KR" dirty="0"/>
              <a:t>DIMM;</a:t>
            </a:r>
            <a:r>
              <a:rPr lang="ko-KR" altLang="en-US" dirty="0"/>
              <a:t> </a:t>
            </a:r>
            <a:r>
              <a:rPr lang="en-US" altLang="ko-KR" dirty="0"/>
              <a:t>Error</a:t>
            </a:r>
            <a:r>
              <a:rPr lang="ko-KR" altLang="en-US" dirty="0"/>
              <a:t> </a:t>
            </a:r>
            <a:r>
              <a:rPr lang="en-US" altLang="ko-KR" dirty="0"/>
              <a:t>correcting</a:t>
            </a:r>
            <a:r>
              <a:rPr lang="ko-KR" altLang="en-US" dirty="0"/>
              <a:t> </a:t>
            </a:r>
            <a:r>
              <a:rPr lang="en-US" altLang="ko-KR" dirty="0"/>
              <a:t>Code DIMM </a:t>
            </a:r>
            <a:r>
              <a:rPr lang="ko-KR" altLang="en-US" b="0" i="0" dirty="0">
                <a:solidFill>
                  <a:srgbClr val="202122"/>
                </a:solidFill>
                <a:effectLst/>
                <a:latin typeface="Arial" panose="020B0604020202020204" pitchFamily="34" charset="0"/>
              </a:rPr>
              <a:t>일반적인 종류의 내부 </a:t>
            </a:r>
            <a:r>
              <a:rPr lang="ko-KR" altLang="en-US" b="0" i="0" u="none" strike="noStrike" dirty="0">
                <a:solidFill>
                  <a:srgbClr val="DD3333"/>
                </a:solidFill>
                <a:effectLst/>
                <a:latin typeface="Arial" panose="020B0604020202020204" pitchFamily="34" charset="0"/>
                <a:hlinkClick r:id="rId3" tooltip="데이터 손상 (없는 문서)"/>
              </a:rPr>
              <a:t>데이터 손상</a:t>
            </a:r>
            <a:r>
              <a:rPr lang="ko-KR" altLang="en-US" b="0" i="0" dirty="0">
                <a:solidFill>
                  <a:srgbClr val="202122"/>
                </a:solidFill>
                <a:effectLst/>
                <a:latin typeface="Arial" panose="020B0604020202020204" pitchFamily="34" charset="0"/>
              </a:rPr>
              <a:t>을 감지하고 수정하는 </a:t>
            </a:r>
            <a:r>
              <a:rPr lang="ko-KR" altLang="en-US" b="0" i="0" u="none" strike="noStrike" dirty="0">
                <a:solidFill>
                  <a:srgbClr val="3366CC"/>
                </a:solidFill>
                <a:effectLst/>
                <a:latin typeface="Arial" panose="020B0604020202020204" pitchFamily="34" charset="0"/>
                <a:hlinkClick r:id="rId4" tooltip="기억 장치"/>
              </a:rPr>
              <a:t>기억 장치</a:t>
            </a:r>
            <a:r>
              <a:rPr lang="ko-KR" altLang="en-US" b="0" i="0" dirty="0">
                <a:solidFill>
                  <a:srgbClr val="202122"/>
                </a:solidFill>
                <a:effectLst/>
                <a:latin typeface="Arial" panose="020B0604020202020204" pitchFamily="34" charset="0"/>
              </a:rPr>
              <a:t>의 일종이다</a:t>
            </a:r>
            <a:r>
              <a:rPr lang="en-US" altLang="ko-KR" b="0" i="0" dirty="0">
                <a:solidFill>
                  <a:srgbClr val="202122"/>
                </a:solidFill>
                <a:effectLst/>
                <a:latin typeface="Arial" panose="020B0604020202020204" pitchFamily="34" charset="0"/>
              </a:rPr>
              <a:t>.</a:t>
            </a:r>
            <a:endParaRPr lang="ko-KR" altLang="en-US" dirty="0"/>
          </a:p>
        </p:txBody>
      </p:sp>
    </p:spTree>
    <p:extLst>
      <p:ext uri="{BB962C8B-B14F-4D97-AF65-F5344CB8AC3E}">
        <p14:creationId xmlns:p14="http://schemas.microsoft.com/office/powerpoint/2010/main" val="776261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QSPI: </a:t>
            </a:r>
            <a:r>
              <a:rPr lang="ko-KR" altLang="en-US" dirty="0"/>
              <a:t>동기 직렬 방식의 </a:t>
            </a:r>
            <a:r>
              <a:rPr lang="en-US" altLang="ko-KR" dirty="0"/>
              <a:t>interface, </a:t>
            </a:r>
            <a:r>
              <a:rPr lang="ko-KR" altLang="en-US" dirty="0"/>
              <a:t>거리가 짧으나 고속으로 통신 가능</a:t>
            </a:r>
            <a:r>
              <a:rPr lang="en-US" altLang="ko-KR" dirty="0"/>
              <a:t>, Half-Duplex </a:t>
            </a:r>
            <a:r>
              <a:rPr lang="ko-KR" altLang="en-US" dirty="0"/>
              <a:t>방식을 이용</a:t>
            </a:r>
            <a:r>
              <a:rPr lang="en-US" altLang="ko-KR" dirty="0"/>
              <a:t>, </a:t>
            </a:r>
            <a:r>
              <a:rPr lang="ko-KR" altLang="en-US" dirty="0"/>
              <a:t>한 번에 </a:t>
            </a:r>
            <a:r>
              <a:rPr lang="en-US" altLang="ko-KR" dirty="0"/>
              <a:t>4</a:t>
            </a:r>
            <a:r>
              <a:rPr lang="ko-KR" altLang="en-US" dirty="0"/>
              <a:t>개의 데이터 선을 이용해 병렬 전송</a:t>
            </a:r>
            <a:r>
              <a:rPr lang="en-US" altLang="ko-KR" dirty="0"/>
              <a:t>(</a:t>
            </a:r>
            <a:r>
              <a:rPr lang="ko-KR" altLang="en-US" dirty="0"/>
              <a:t>빠른 </a:t>
            </a:r>
            <a:r>
              <a:rPr lang="en-US" altLang="ko-KR" dirty="0"/>
              <a:t>OS)</a:t>
            </a:r>
            <a:endParaRPr lang="ko-KR" altLang="en-US" dirty="0"/>
          </a:p>
        </p:txBody>
      </p:sp>
    </p:spTree>
    <p:extLst>
      <p:ext uri="{BB962C8B-B14F-4D97-AF65-F5344CB8AC3E}">
        <p14:creationId xmlns:p14="http://schemas.microsoft.com/office/powerpoint/2010/main" val="12832934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QSPI: </a:t>
            </a:r>
            <a:r>
              <a:rPr lang="ko-KR" altLang="en-US" dirty="0"/>
              <a:t>동기 직렬 방식의 </a:t>
            </a:r>
            <a:r>
              <a:rPr lang="en-US" altLang="ko-KR" dirty="0"/>
              <a:t>interface, </a:t>
            </a:r>
            <a:r>
              <a:rPr lang="ko-KR" altLang="en-US" dirty="0"/>
              <a:t>거리가 짧으나 고속으로 통신 가능</a:t>
            </a:r>
            <a:r>
              <a:rPr lang="en-US" altLang="ko-KR" dirty="0"/>
              <a:t>, Half-Duplex </a:t>
            </a:r>
            <a:r>
              <a:rPr lang="ko-KR" altLang="en-US" dirty="0"/>
              <a:t>방식을 이용</a:t>
            </a:r>
            <a:r>
              <a:rPr lang="en-US" altLang="ko-KR" dirty="0"/>
              <a:t>, </a:t>
            </a:r>
            <a:r>
              <a:rPr lang="ko-KR" altLang="en-US" dirty="0"/>
              <a:t>한 번에 </a:t>
            </a:r>
            <a:r>
              <a:rPr lang="en-US" altLang="ko-KR" dirty="0"/>
              <a:t>4</a:t>
            </a:r>
            <a:r>
              <a:rPr lang="ko-KR" altLang="en-US" dirty="0"/>
              <a:t>개의 데이터 선을 이용해 병렬 전송</a:t>
            </a:r>
            <a:r>
              <a:rPr lang="en-US" altLang="ko-KR" dirty="0"/>
              <a:t>(</a:t>
            </a:r>
            <a:r>
              <a:rPr lang="ko-KR" altLang="en-US" dirty="0"/>
              <a:t>빠른 </a:t>
            </a:r>
            <a:r>
              <a:rPr lang="en-US" altLang="ko-KR" dirty="0"/>
              <a:t>OS)</a:t>
            </a:r>
            <a:endParaRPr lang="ko-KR" altLang="en-US" dirty="0"/>
          </a:p>
        </p:txBody>
      </p:sp>
    </p:spTree>
    <p:extLst>
      <p:ext uri="{BB962C8B-B14F-4D97-AF65-F5344CB8AC3E}">
        <p14:creationId xmlns:p14="http://schemas.microsoft.com/office/powerpoint/2010/main" val="32596894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a:t>Qsfp</a:t>
            </a:r>
            <a:r>
              <a:rPr lang="en-US" altLang="ko-KR" dirty="0"/>
              <a:t>: </a:t>
            </a:r>
            <a:r>
              <a:rPr lang="ko-KR" altLang="en-US" dirty="0"/>
              <a:t>데이터 통신에 사용되는 작고 핫 플러그가 가능한 </a:t>
            </a:r>
            <a:r>
              <a:rPr lang="ko-KR" altLang="en-US" dirty="0" err="1"/>
              <a:t>트랜시버</a:t>
            </a:r>
            <a:r>
              <a:rPr lang="en-US" altLang="ko-KR" dirty="0"/>
              <a:t>, </a:t>
            </a:r>
            <a:r>
              <a:rPr lang="en-US" altLang="ko-KR" b="0" i="0" dirty="0">
                <a:solidFill>
                  <a:srgbClr val="353535"/>
                </a:solidFill>
                <a:effectLst/>
                <a:latin typeface="나눔고딕" pitchFamily="2" charset="-127"/>
              </a:rPr>
              <a:t>1Gbps </a:t>
            </a:r>
            <a:r>
              <a:rPr lang="ko-KR" altLang="en-US" b="0" i="0" dirty="0">
                <a:solidFill>
                  <a:srgbClr val="353535"/>
                </a:solidFill>
                <a:effectLst/>
                <a:latin typeface="나눔고딕" pitchFamily="2" charset="-127"/>
                <a:ea typeface="나눔고딕" pitchFamily="2" charset="-127"/>
              </a:rPr>
              <a:t>데이터 속도를 지원하는 </a:t>
            </a:r>
            <a:r>
              <a:rPr lang="ko-KR" altLang="en-US" b="0" i="0" dirty="0" err="1">
                <a:solidFill>
                  <a:srgbClr val="353535"/>
                </a:solidFill>
                <a:effectLst/>
                <a:latin typeface="나눔고딕" pitchFamily="2" charset="-127"/>
                <a:ea typeface="나눔고딕" pitchFamily="2" charset="-127"/>
              </a:rPr>
              <a:t>광모듈</a:t>
            </a:r>
            <a:endParaRPr lang="en-US" altLang="ko-KR" dirty="0"/>
          </a:p>
          <a:p>
            <a:endParaRPr lang="ko-KR" altLang="en-US" dirty="0"/>
          </a:p>
        </p:txBody>
      </p:sp>
    </p:spTree>
    <p:extLst>
      <p:ext uri="{BB962C8B-B14F-4D97-AF65-F5344CB8AC3E}">
        <p14:creationId xmlns:p14="http://schemas.microsoft.com/office/powerpoint/2010/main" val="1947620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a:t>Qsfp</a:t>
            </a:r>
            <a:r>
              <a:rPr lang="en-US" altLang="ko-KR" dirty="0"/>
              <a:t>: </a:t>
            </a:r>
            <a:r>
              <a:rPr lang="ko-KR" altLang="en-US" dirty="0"/>
              <a:t>데이터 통신에 사용되는 작고 핫 플러그가 가능한 </a:t>
            </a:r>
            <a:r>
              <a:rPr lang="ko-KR" altLang="en-US" dirty="0" err="1"/>
              <a:t>트랜시버</a:t>
            </a:r>
            <a:r>
              <a:rPr lang="en-US" altLang="ko-KR" dirty="0"/>
              <a:t>, </a:t>
            </a:r>
            <a:r>
              <a:rPr lang="en-US" altLang="ko-KR" b="0" i="0" dirty="0">
                <a:solidFill>
                  <a:srgbClr val="353535"/>
                </a:solidFill>
                <a:effectLst/>
                <a:latin typeface="나눔고딕" pitchFamily="2" charset="-127"/>
              </a:rPr>
              <a:t>1Gbps </a:t>
            </a:r>
            <a:r>
              <a:rPr lang="ko-KR" altLang="en-US" b="0" i="0" dirty="0">
                <a:solidFill>
                  <a:srgbClr val="353535"/>
                </a:solidFill>
                <a:effectLst/>
                <a:latin typeface="나눔고딕" pitchFamily="2" charset="-127"/>
                <a:ea typeface="나눔고딕" pitchFamily="2" charset="-127"/>
              </a:rPr>
              <a:t>데이터 속도를 지원하는 </a:t>
            </a:r>
            <a:r>
              <a:rPr lang="ko-KR" altLang="en-US" b="0" i="0" dirty="0" err="1">
                <a:solidFill>
                  <a:srgbClr val="353535"/>
                </a:solidFill>
                <a:effectLst/>
                <a:latin typeface="나눔고딕" pitchFamily="2" charset="-127"/>
                <a:ea typeface="나눔고딕" pitchFamily="2" charset="-127"/>
              </a:rPr>
              <a:t>광모듈</a:t>
            </a:r>
            <a:endParaRPr lang="en-US" altLang="ko-KR" dirty="0"/>
          </a:p>
          <a:p>
            <a:endParaRPr lang="ko-KR" altLang="en-US" dirty="0"/>
          </a:p>
        </p:txBody>
      </p:sp>
    </p:spTree>
    <p:extLst>
      <p:ext uri="{BB962C8B-B14F-4D97-AF65-F5344CB8AC3E}">
        <p14:creationId xmlns:p14="http://schemas.microsoft.com/office/powerpoint/2010/main" val="2096168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TPC-H: </a:t>
            </a:r>
            <a:r>
              <a:rPr lang="ko-KR" altLang="en-US" dirty="0"/>
              <a:t>벤치마크 프로그램</a:t>
            </a:r>
            <a:endParaRPr lang="en-US" altLang="ko-KR" dirty="0"/>
          </a:p>
          <a:p>
            <a:endParaRPr lang="ko-KR" altLang="en-US" dirty="0"/>
          </a:p>
        </p:txBody>
      </p:sp>
    </p:spTree>
    <p:extLst>
      <p:ext uri="{BB962C8B-B14F-4D97-AF65-F5344CB8AC3E}">
        <p14:creationId xmlns:p14="http://schemas.microsoft.com/office/powerpoint/2010/main" val="30824619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ECC</a:t>
            </a:r>
            <a:r>
              <a:rPr lang="ko-KR" altLang="en-US" dirty="0"/>
              <a:t> </a:t>
            </a:r>
            <a:r>
              <a:rPr lang="en-US" altLang="ko-KR" dirty="0"/>
              <a:t>DIMM;</a:t>
            </a:r>
            <a:r>
              <a:rPr lang="ko-KR" altLang="en-US" dirty="0"/>
              <a:t> </a:t>
            </a:r>
            <a:r>
              <a:rPr lang="en-US" altLang="ko-KR" dirty="0"/>
              <a:t>Error</a:t>
            </a:r>
            <a:r>
              <a:rPr lang="ko-KR" altLang="en-US" dirty="0"/>
              <a:t> </a:t>
            </a:r>
            <a:r>
              <a:rPr lang="en-US" altLang="ko-KR" dirty="0"/>
              <a:t>correcting</a:t>
            </a:r>
            <a:r>
              <a:rPr lang="ko-KR" altLang="en-US" dirty="0"/>
              <a:t> </a:t>
            </a:r>
            <a:r>
              <a:rPr lang="en-US" altLang="ko-KR" dirty="0"/>
              <a:t>Code DIMM </a:t>
            </a:r>
            <a:r>
              <a:rPr lang="ko-KR" altLang="en-US" b="0" i="0" dirty="0">
                <a:solidFill>
                  <a:srgbClr val="202122"/>
                </a:solidFill>
                <a:effectLst/>
                <a:latin typeface="Arial" panose="020B0604020202020204" pitchFamily="34" charset="0"/>
              </a:rPr>
              <a:t>일반적인 종류의 내부 </a:t>
            </a:r>
            <a:r>
              <a:rPr lang="ko-KR" altLang="en-US" b="0" i="0" u="none" strike="noStrike" dirty="0">
                <a:solidFill>
                  <a:srgbClr val="DD3333"/>
                </a:solidFill>
                <a:effectLst/>
                <a:latin typeface="Arial" panose="020B0604020202020204" pitchFamily="34" charset="0"/>
                <a:hlinkClick r:id="rId3" tooltip="데이터 손상 (없는 문서)"/>
              </a:rPr>
              <a:t>데이터 손상</a:t>
            </a:r>
            <a:r>
              <a:rPr lang="ko-KR" altLang="en-US" b="0" i="0" dirty="0">
                <a:solidFill>
                  <a:srgbClr val="202122"/>
                </a:solidFill>
                <a:effectLst/>
                <a:latin typeface="Arial" panose="020B0604020202020204" pitchFamily="34" charset="0"/>
              </a:rPr>
              <a:t>을 감지하고 수정하는 </a:t>
            </a:r>
            <a:r>
              <a:rPr lang="ko-KR" altLang="en-US" b="0" i="0" u="none" strike="noStrike" dirty="0">
                <a:solidFill>
                  <a:srgbClr val="3366CC"/>
                </a:solidFill>
                <a:effectLst/>
                <a:latin typeface="Arial" panose="020B0604020202020204" pitchFamily="34" charset="0"/>
                <a:hlinkClick r:id="rId4" tooltip="기억 장치"/>
              </a:rPr>
              <a:t>기억 장치</a:t>
            </a:r>
            <a:r>
              <a:rPr lang="ko-KR" altLang="en-US" b="0" i="0" dirty="0">
                <a:solidFill>
                  <a:srgbClr val="202122"/>
                </a:solidFill>
                <a:effectLst/>
                <a:latin typeface="Arial" panose="020B0604020202020204" pitchFamily="34" charset="0"/>
              </a:rPr>
              <a:t>의 일종이다</a:t>
            </a:r>
            <a:r>
              <a:rPr lang="en-US" altLang="ko-KR" b="0" i="0" dirty="0">
                <a:solidFill>
                  <a:srgbClr val="202122"/>
                </a:solidFill>
                <a:effectLst/>
                <a:latin typeface="Arial" panose="020B0604020202020204" pitchFamily="34" charset="0"/>
              </a:rPr>
              <a:t>.</a:t>
            </a:r>
            <a:endParaRPr lang="ko-KR" altLang="en-US" dirty="0"/>
          </a:p>
        </p:txBody>
      </p:sp>
    </p:spTree>
    <p:extLst>
      <p:ext uri="{BB962C8B-B14F-4D97-AF65-F5344CB8AC3E}">
        <p14:creationId xmlns:p14="http://schemas.microsoft.com/office/powerpoint/2010/main" val="12221090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ECC</a:t>
            </a:r>
            <a:r>
              <a:rPr lang="ko-KR" altLang="en-US" dirty="0"/>
              <a:t> </a:t>
            </a:r>
            <a:r>
              <a:rPr lang="en-US" altLang="ko-KR" dirty="0"/>
              <a:t>DIMM;</a:t>
            </a:r>
            <a:r>
              <a:rPr lang="ko-KR" altLang="en-US" dirty="0"/>
              <a:t> </a:t>
            </a:r>
            <a:r>
              <a:rPr lang="en-US" altLang="ko-KR" dirty="0"/>
              <a:t>Error</a:t>
            </a:r>
            <a:r>
              <a:rPr lang="ko-KR" altLang="en-US" dirty="0"/>
              <a:t> </a:t>
            </a:r>
            <a:r>
              <a:rPr lang="en-US" altLang="ko-KR" dirty="0"/>
              <a:t>correcting</a:t>
            </a:r>
            <a:r>
              <a:rPr lang="ko-KR" altLang="en-US" dirty="0"/>
              <a:t> </a:t>
            </a:r>
            <a:r>
              <a:rPr lang="en-US" altLang="ko-KR" dirty="0"/>
              <a:t>Code DIMM </a:t>
            </a:r>
            <a:r>
              <a:rPr lang="ko-KR" altLang="en-US" b="0" i="0" dirty="0">
                <a:solidFill>
                  <a:srgbClr val="202122"/>
                </a:solidFill>
                <a:effectLst/>
                <a:latin typeface="Arial" panose="020B0604020202020204" pitchFamily="34" charset="0"/>
              </a:rPr>
              <a:t>일반적인 종류의 내부 </a:t>
            </a:r>
            <a:r>
              <a:rPr lang="ko-KR" altLang="en-US" b="0" i="0" u="none" strike="noStrike" dirty="0">
                <a:solidFill>
                  <a:srgbClr val="DD3333"/>
                </a:solidFill>
                <a:effectLst/>
                <a:latin typeface="Arial" panose="020B0604020202020204" pitchFamily="34" charset="0"/>
                <a:hlinkClick r:id="rId3" tooltip="데이터 손상 (없는 문서)"/>
              </a:rPr>
              <a:t>데이터 손상</a:t>
            </a:r>
            <a:r>
              <a:rPr lang="ko-KR" altLang="en-US" b="0" i="0" dirty="0">
                <a:solidFill>
                  <a:srgbClr val="202122"/>
                </a:solidFill>
                <a:effectLst/>
                <a:latin typeface="Arial" panose="020B0604020202020204" pitchFamily="34" charset="0"/>
              </a:rPr>
              <a:t>을 감지하고 수정하는 </a:t>
            </a:r>
            <a:r>
              <a:rPr lang="ko-KR" altLang="en-US" b="0" i="0" u="none" strike="noStrike" dirty="0">
                <a:solidFill>
                  <a:srgbClr val="3366CC"/>
                </a:solidFill>
                <a:effectLst/>
                <a:latin typeface="Arial" panose="020B0604020202020204" pitchFamily="34" charset="0"/>
                <a:hlinkClick r:id="rId4" tooltip="기억 장치"/>
              </a:rPr>
              <a:t>기억 장치</a:t>
            </a:r>
            <a:r>
              <a:rPr lang="ko-KR" altLang="en-US" b="0" i="0" dirty="0">
                <a:solidFill>
                  <a:srgbClr val="202122"/>
                </a:solidFill>
                <a:effectLst/>
                <a:latin typeface="Arial" panose="020B0604020202020204" pitchFamily="34" charset="0"/>
              </a:rPr>
              <a:t>의 일종이다</a:t>
            </a:r>
            <a:r>
              <a:rPr lang="en-US" altLang="ko-KR" b="0" i="0" dirty="0">
                <a:solidFill>
                  <a:srgbClr val="202122"/>
                </a:solidFill>
                <a:effectLst/>
                <a:latin typeface="Arial" panose="020B0604020202020204" pitchFamily="34" charset="0"/>
              </a:rPr>
              <a:t>.</a:t>
            </a:r>
            <a:endParaRPr lang="ko-KR" altLang="en-US" dirty="0"/>
          </a:p>
        </p:txBody>
      </p:sp>
    </p:spTree>
    <p:extLst>
      <p:ext uri="{BB962C8B-B14F-4D97-AF65-F5344CB8AC3E}">
        <p14:creationId xmlns:p14="http://schemas.microsoft.com/office/powerpoint/2010/main" val="10577021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ECC</a:t>
            </a:r>
            <a:r>
              <a:rPr lang="ko-KR" altLang="en-US" dirty="0"/>
              <a:t> </a:t>
            </a:r>
            <a:r>
              <a:rPr lang="en-US" altLang="ko-KR" dirty="0"/>
              <a:t>DIMM;</a:t>
            </a:r>
            <a:r>
              <a:rPr lang="ko-KR" altLang="en-US" dirty="0"/>
              <a:t> </a:t>
            </a:r>
            <a:r>
              <a:rPr lang="en-US" altLang="ko-KR" dirty="0"/>
              <a:t>Error</a:t>
            </a:r>
            <a:r>
              <a:rPr lang="ko-KR" altLang="en-US" dirty="0"/>
              <a:t> </a:t>
            </a:r>
            <a:r>
              <a:rPr lang="en-US" altLang="ko-KR" dirty="0"/>
              <a:t>correcting</a:t>
            </a:r>
            <a:r>
              <a:rPr lang="ko-KR" altLang="en-US" dirty="0"/>
              <a:t> </a:t>
            </a:r>
            <a:r>
              <a:rPr lang="en-US" altLang="ko-KR" dirty="0"/>
              <a:t>Code DIMM </a:t>
            </a:r>
            <a:r>
              <a:rPr lang="ko-KR" altLang="en-US" b="0" i="0" dirty="0">
                <a:solidFill>
                  <a:srgbClr val="202122"/>
                </a:solidFill>
                <a:effectLst/>
                <a:latin typeface="Arial" panose="020B0604020202020204" pitchFamily="34" charset="0"/>
              </a:rPr>
              <a:t>일반적인 종류의 내부 </a:t>
            </a:r>
            <a:r>
              <a:rPr lang="ko-KR" altLang="en-US" b="0" i="0" u="none" strike="noStrike" dirty="0">
                <a:solidFill>
                  <a:srgbClr val="DD3333"/>
                </a:solidFill>
                <a:effectLst/>
                <a:latin typeface="Arial" panose="020B0604020202020204" pitchFamily="34" charset="0"/>
                <a:hlinkClick r:id="rId3" tooltip="데이터 손상 (없는 문서)"/>
              </a:rPr>
              <a:t>데이터 손상</a:t>
            </a:r>
            <a:r>
              <a:rPr lang="ko-KR" altLang="en-US" b="0" i="0" dirty="0">
                <a:solidFill>
                  <a:srgbClr val="202122"/>
                </a:solidFill>
                <a:effectLst/>
                <a:latin typeface="Arial" panose="020B0604020202020204" pitchFamily="34" charset="0"/>
              </a:rPr>
              <a:t>을 감지하고 수정하는 </a:t>
            </a:r>
            <a:r>
              <a:rPr lang="ko-KR" altLang="en-US" b="0" i="0" u="none" strike="noStrike" dirty="0">
                <a:solidFill>
                  <a:srgbClr val="3366CC"/>
                </a:solidFill>
                <a:effectLst/>
                <a:latin typeface="Arial" panose="020B0604020202020204" pitchFamily="34" charset="0"/>
                <a:hlinkClick r:id="rId4" tooltip="기억 장치"/>
              </a:rPr>
              <a:t>기억 장치</a:t>
            </a:r>
            <a:r>
              <a:rPr lang="ko-KR" altLang="en-US" b="0" i="0" dirty="0">
                <a:solidFill>
                  <a:srgbClr val="202122"/>
                </a:solidFill>
                <a:effectLst/>
                <a:latin typeface="Arial" panose="020B0604020202020204" pitchFamily="34" charset="0"/>
              </a:rPr>
              <a:t>의 일종이다</a:t>
            </a:r>
            <a:r>
              <a:rPr lang="en-US" altLang="ko-KR" b="0" i="0" dirty="0">
                <a:solidFill>
                  <a:srgbClr val="202122"/>
                </a:solidFill>
                <a:effectLst/>
                <a:latin typeface="Arial" panose="020B0604020202020204" pitchFamily="34" charset="0"/>
              </a:rPr>
              <a:t>.</a:t>
            </a:r>
            <a:endParaRPr lang="ko-KR" altLang="en-US" dirty="0"/>
          </a:p>
        </p:txBody>
      </p:sp>
    </p:spTree>
    <p:extLst>
      <p:ext uri="{BB962C8B-B14F-4D97-AF65-F5344CB8AC3E}">
        <p14:creationId xmlns:p14="http://schemas.microsoft.com/office/powerpoint/2010/main" val="3743392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GTY:</a:t>
            </a:r>
            <a:r>
              <a:rPr lang="ko-KR" altLang="en-US" dirty="0"/>
              <a:t> 고속 시리얼 인터페이스</a:t>
            </a:r>
            <a:endParaRPr lang="en-US" altLang="ko-KR" dirty="0"/>
          </a:p>
          <a:p>
            <a:endParaRPr lang="en-US" altLang="ko-KR" dirty="0"/>
          </a:p>
          <a:p>
            <a:endParaRPr lang="ko-KR" altLang="en-US" dirty="0"/>
          </a:p>
        </p:txBody>
      </p:sp>
    </p:spTree>
    <p:extLst>
      <p:ext uri="{BB962C8B-B14F-4D97-AF65-F5344CB8AC3E}">
        <p14:creationId xmlns:p14="http://schemas.microsoft.com/office/powerpoint/2010/main" val="6713361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언급만</a:t>
            </a:r>
            <a:r>
              <a:rPr lang="en-US" altLang="ko-KR" dirty="0"/>
              <a:t>! / U280, CCIX</a:t>
            </a:r>
            <a:endParaRPr lang="ko-KR" altLang="en-US" dirty="0"/>
          </a:p>
        </p:txBody>
      </p:sp>
    </p:spTree>
    <p:extLst>
      <p:ext uri="{BB962C8B-B14F-4D97-AF65-F5344CB8AC3E}">
        <p14:creationId xmlns:p14="http://schemas.microsoft.com/office/powerpoint/2010/main" val="8002579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27105221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Channel</a:t>
            </a:r>
            <a:r>
              <a:rPr lang="ko-KR" altLang="en-US" dirty="0"/>
              <a:t>은 </a:t>
            </a:r>
            <a:r>
              <a:rPr lang="en-US" altLang="ko-KR" dirty="0"/>
              <a:t>Bank</a:t>
            </a:r>
            <a:r>
              <a:rPr lang="ko-KR" altLang="en-US" dirty="0"/>
              <a:t>로</a:t>
            </a:r>
            <a:r>
              <a:rPr lang="en-US" altLang="ko-KR" dirty="0"/>
              <a:t>, Bank</a:t>
            </a:r>
            <a:r>
              <a:rPr lang="ko-KR" altLang="en-US" dirty="0"/>
              <a:t>는 다수의 </a:t>
            </a:r>
            <a:r>
              <a:rPr lang="en-US" altLang="ko-KR" dirty="0"/>
              <a:t>Memory Array</a:t>
            </a:r>
            <a:r>
              <a:rPr lang="ko-KR" altLang="en-US" dirty="0"/>
              <a:t>들로 구성되어 있는 모습을 확인할 수 있다</a:t>
            </a:r>
            <a:r>
              <a:rPr lang="en-US" altLang="ko-KR" dirty="0"/>
              <a:t>.</a:t>
            </a:r>
          </a:p>
          <a:p>
            <a:endParaRPr lang="ko-KR" altLang="en-US" dirty="0"/>
          </a:p>
        </p:txBody>
      </p:sp>
    </p:spTree>
    <p:extLst>
      <p:ext uri="{BB962C8B-B14F-4D97-AF65-F5344CB8AC3E}">
        <p14:creationId xmlns:p14="http://schemas.microsoft.com/office/powerpoint/2010/main" val="630392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제목 및 내용">
    <p:spTree>
      <p:nvGrpSpPr>
        <p:cNvPr id="1" name=""/>
        <p:cNvGrpSpPr/>
        <p:nvPr/>
      </p:nvGrpSpPr>
      <p:grpSpPr>
        <a:xfrm>
          <a:off x="0" y="0"/>
          <a:ext cx="0" cy="0"/>
          <a:chOff x="0" y="0"/>
          <a:chExt cx="0" cy="0"/>
        </a:xfrm>
      </p:grpSpPr>
      <p:sp>
        <p:nvSpPr>
          <p:cNvPr id="20" name="제목 텍스트"/>
          <p:cNvSpPr txBox="1">
            <a:spLocks noGrp="1"/>
          </p:cNvSpPr>
          <p:nvPr>
            <p:ph type="title"/>
          </p:nvPr>
        </p:nvSpPr>
        <p:spPr>
          <a:prstGeom prst="rect">
            <a:avLst/>
          </a:prstGeom>
        </p:spPr>
        <p:txBody>
          <a:bodyPr/>
          <a:lstStyle/>
          <a:p>
            <a:r>
              <a:rPr dirty="0" err="1"/>
              <a:t>제목</a:t>
            </a:r>
            <a:r>
              <a:rPr dirty="0"/>
              <a:t> </a:t>
            </a:r>
            <a:r>
              <a:rPr dirty="0" err="1"/>
              <a:t>텍스트</a:t>
            </a:r>
            <a:endParaRPr dirty="0"/>
          </a:p>
        </p:txBody>
      </p:sp>
      <p:sp>
        <p:nvSpPr>
          <p:cNvPr id="21" name="본문 첫 번째 줄…"/>
          <p:cNvSpPr txBox="1">
            <a:spLocks noGrp="1"/>
          </p:cNvSpPr>
          <p:nvPr>
            <p:ph type="body" idx="1"/>
          </p:nvPr>
        </p:nvSpPr>
        <p:spPr>
          <a:prstGeom prst="rect">
            <a:avLst/>
          </a:prstGeom>
        </p:spPr>
        <p:txBody>
          <a:bodyPr/>
          <a:lstStyle/>
          <a:p>
            <a:r>
              <a:rPr dirty="0" err="1"/>
              <a:t>본문</a:t>
            </a:r>
            <a:r>
              <a:rPr dirty="0"/>
              <a:t> 첫 </a:t>
            </a:r>
            <a:r>
              <a:rPr dirty="0" err="1"/>
              <a:t>번째</a:t>
            </a:r>
            <a:r>
              <a:rPr dirty="0"/>
              <a:t> 줄</a:t>
            </a:r>
          </a:p>
          <a:p>
            <a:pPr lvl="1"/>
            <a:r>
              <a:rPr dirty="0" err="1"/>
              <a:t>본문</a:t>
            </a:r>
            <a:r>
              <a:rPr dirty="0"/>
              <a:t> 두 </a:t>
            </a:r>
            <a:r>
              <a:rPr dirty="0" err="1"/>
              <a:t>번째</a:t>
            </a:r>
            <a:r>
              <a:rPr dirty="0"/>
              <a:t> 줄</a:t>
            </a:r>
          </a:p>
          <a:p>
            <a:pPr lvl="2"/>
            <a:r>
              <a:rPr dirty="0" err="1"/>
              <a:t>본문</a:t>
            </a:r>
            <a:r>
              <a:rPr dirty="0"/>
              <a:t> 세 </a:t>
            </a:r>
            <a:r>
              <a:rPr dirty="0" err="1"/>
              <a:t>번째</a:t>
            </a:r>
            <a:r>
              <a:rPr dirty="0"/>
              <a:t> 줄</a:t>
            </a:r>
          </a:p>
          <a:p>
            <a:pPr lvl="3"/>
            <a:r>
              <a:rPr dirty="0" err="1"/>
              <a:t>본문</a:t>
            </a:r>
            <a:r>
              <a:rPr dirty="0"/>
              <a:t> 네 </a:t>
            </a:r>
            <a:r>
              <a:rPr dirty="0" err="1"/>
              <a:t>번째</a:t>
            </a:r>
            <a:r>
              <a:rPr dirty="0"/>
              <a:t> 줄</a:t>
            </a:r>
          </a:p>
          <a:p>
            <a:pPr lvl="4"/>
            <a:r>
              <a:rPr dirty="0" err="1"/>
              <a:t>본문</a:t>
            </a:r>
            <a:r>
              <a:rPr dirty="0"/>
              <a:t> </a:t>
            </a:r>
            <a:r>
              <a:rPr dirty="0" err="1"/>
              <a:t>다섯</a:t>
            </a:r>
            <a:r>
              <a:rPr dirty="0"/>
              <a:t> </a:t>
            </a:r>
            <a:r>
              <a:rPr dirty="0" err="1"/>
              <a:t>번째</a:t>
            </a:r>
            <a:r>
              <a:rPr dirty="0"/>
              <a:t> 줄</a:t>
            </a:r>
          </a:p>
        </p:txBody>
      </p:sp>
      <p:sp>
        <p:nvSpPr>
          <p:cNvPr id="22" name="슬라이드 번호"/>
          <p:cNvSpPr txBox="1">
            <a:spLocks noGrp="1"/>
          </p:cNvSpPr>
          <p:nvPr>
            <p:ph type="sldNum" sz="quarter" idx="2"/>
          </p:nvPr>
        </p:nvSpPr>
        <p:spPr>
          <a:xfrm>
            <a:off x="11874635" y="6423497"/>
            <a:ext cx="236601" cy="230832"/>
          </a:xfrm>
          <a:prstGeom prst="rect">
            <a:avLst/>
          </a:prstGeom>
        </p:spPr>
        <p:txBody>
          <a:bodyPr/>
          <a:lstStyle/>
          <a:p>
            <a:fld id="{86CB4B4D-7CA3-9044-876B-883B54F8677D}" type="slidenum">
              <a:rPr lang="en-US" altLang="ko-KR" smtClean="0"/>
              <a:t>‹#›</a:t>
            </a:fld>
            <a:endParaRPr dirty="0"/>
          </a:p>
        </p:txBody>
      </p:sp>
    </p:spTree>
  </p:cSld>
  <p:clrMapOvr>
    <a:masterClrMapping/>
  </p:clrMapOvr>
  <p:transition spd="med"/>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콘텐츠 2개">
    <p:spTree>
      <p:nvGrpSpPr>
        <p:cNvPr id="1" name=""/>
        <p:cNvGrpSpPr/>
        <p:nvPr/>
      </p:nvGrpSpPr>
      <p:grpSpPr>
        <a:xfrm>
          <a:off x="0" y="0"/>
          <a:ext cx="0" cy="0"/>
          <a:chOff x="0" y="0"/>
          <a:chExt cx="0" cy="0"/>
        </a:xfrm>
      </p:grpSpPr>
      <p:sp>
        <p:nvSpPr>
          <p:cNvPr id="38" name="제목 텍스트"/>
          <p:cNvSpPr txBox="1">
            <a:spLocks noGrp="1"/>
          </p:cNvSpPr>
          <p:nvPr>
            <p:ph type="title"/>
          </p:nvPr>
        </p:nvSpPr>
        <p:spPr>
          <a:prstGeom prst="rect">
            <a:avLst/>
          </a:prstGeom>
        </p:spPr>
        <p:txBody>
          <a:bodyPr/>
          <a:lstStyle/>
          <a:p>
            <a:r>
              <a:t>제목 텍스트</a:t>
            </a:r>
          </a:p>
        </p:txBody>
      </p:sp>
      <p:sp>
        <p:nvSpPr>
          <p:cNvPr id="39" name="본문 첫 번째 줄…"/>
          <p:cNvSpPr txBox="1">
            <a:spLocks noGrp="1"/>
          </p:cNvSpPr>
          <p:nvPr>
            <p:ph type="body" sz="half" idx="1"/>
          </p:nvPr>
        </p:nvSpPr>
        <p:spPr>
          <a:xfrm>
            <a:off x="838202" y="1825625"/>
            <a:ext cx="5181601" cy="4351338"/>
          </a:xfrm>
          <a:prstGeom prst="rect">
            <a:avLst/>
          </a:prstGeom>
        </p:spPr>
        <p:txBody>
          <a:bodyPr/>
          <a:lstStyle/>
          <a:p>
            <a:r>
              <a:t>본문 첫 번째 줄</a:t>
            </a:r>
          </a:p>
          <a:p>
            <a:pPr lvl="1"/>
            <a:r>
              <a:t>본문 두 번째 줄</a:t>
            </a:r>
          </a:p>
          <a:p>
            <a:pPr lvl="2"/>
            <a:r>
              <a:t>본문 세 번째 줄</a:t>
            </a:r>
          </a:p>
          <a:p>
            <a:pPr lvl="3"/>
            <a:r>
              <a:t>본문 네 번째 줄</a:t>
            </a:r>
          </a:p>
          <a:p>
            <a:pPr lvl="4"/>
            <a:r>
              <a:t>본문 다섯 번째 줄</a:t>
            </a:r>
          </a:p>
        </p:txBody>
      </p:sp>
      <p:sp>
        <p:nvSpPr>
          <p:cNvPr id="40"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비교">
    <p:spTree>
      <p:nvGrpSpPr>
        <p:cNvPr id="1" name=""/>
        <p:cNvGrpSpPr/>
        <p:nvPr/>
      </p:nvGrpSpPr>
      <p:grpSpPr>
        <a:xfrm>
          <a:off x="0" y="0"/>
          <a:ext cx="0" cy="0"/>
          <a:chOff x="0" y="0"/>
          <a:chExt cx="0" cy="0"/>
        </a:xfrm>
      </p:grpSpPr>
      <p:sp>
        <p:nvSpPr>
          <p:cNvPr id="47" name="제목 텍스트"/>
          <p:cNvSpPr txBox="1">
            <a:spLocks noGrp="1"/>
          </p:cNvSpPr>
          <p:nvPr>
            <p:ph type="title"/>
          </p:nvPr>
        </p:nvSpPr>
        <p:spPr>
          <a:xfrm>
            <a:off x="839790" y="365125"/>
            <a:ext cx="10515601" cy="1325564"/>
          </a:xfrm>
          <a:prstGeom prst="rect">
            <a:avLst/>
          </a:prstGeom>
        </p:spPr>
        <p:txBody>
          <a:bodyPr/>
          <a:lstStyle/>
          <a:p>
            <a:r>
              <a:t>제목 텍스트</a:t>
            </a:r>
          </a:p>
        </p:txBody>
      </p:sp>
      <p:sp>
        <p:nvSpPr>
          <p:cNvPr id="48" name="본문 첫 번째 줄…"/>
          <p:cNvSpPr txBox="1">
            <a:spLocks noGrp="1"/>
          </p:cNvSpPr>
          <p:nvPr>
            <p:ph type="body" sz="quarter" idx="1"/>
          </p:nvPr>
        </p:nvSpPr>
        <p:spPr>
          <a:xfrm>
            <a:off x="839789" y="1681166"/>
            <a:ext cx="5157787" cy="823913"/>
          </a:xfrm>
          <a:prstGeom prst="rect">
            <a:avLst/>
          </a:prstGeom>
        </p:spPr>
        <p:txBody>
          <a:bodyPr anchor="b"/>
          <a:lstStyle>
            <a:lvl1pPr marL="0" indent="0">
              <a:buSzTx/>
              <a:buFontTx/>
              <a:buNone/>
              <a:defRPr sz="1900" b="1"/>
            </a:lvl1pPr>
            <a:lvl2pPr marL="0" indent="371465">
              <a:buSzTx/>
              <a:buFontTx/>
              <a:buNone/>
              <a:defRPr sz="1900" b="1"/>
            </a:lvl2pPr>
            <a:lvl3pPr marL="0" indent="742932">
              <a:buSzTx/>
              <a:buFontTx/>
              <a:buNone/>
              <a:defRPr sz="1900" b="1"/>
            </a:lvl3pPr>
            <a:lvl4pPr marL="0" indent="1114397">
              <a:buSzTx/>
              <a:buFontTx/>
              <a:buNone/>
              <a:defRPr sz="1900" b="1"/>
            </a:lvl4pPr>
            <a:lvl5pPr marL="0" indent="1485863">
              <a:buSzTx/>
              <a:buFontTx/>
              <a:buNone/>
              <a:defRPr sz="1900" b="1"/>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49" name="텍스트 개체 틀 4"/>
          <p:cNvSpPr>
            <a:spLocks noGrp="1"/>
          </p:cNvSpPr>
          <p:nvPr>
            <p:ph type="body" sz="quarter" idx="13"/>
          </p:nvPr>
        </p:nvSpPr>
        <p:spPr>
          <a:xfrm>
            <a:off x="6172200" y="1681166"/>
            <a:ext cx="5183189" cy="823913"/>
          </a:xfrm>
          <a:prstGeom prst="rect">
            <a:avLst/>
          </a:prstGeom>
        </p:spPr>
        <p:txBody>
          <a:bodyPr anchor="b"/>
          <a:lstStyle>
            <a:lvl1pPr marL="0" indent="0">
              <a:buSzTx/>
              <a:buFontTx/>
              <a:buNone/>
              <a:defRPr sz="1900" b="1"/>
            </a:lvl1pPr>
          </a:lstStyle>
          <a:p>
            <a:pPr marL="0" indent="0">
              <a:buSzTx/>
              <a:buFontTx/>
              <a:buNone/>
              <a:defRPr sz="1900" b="1"/>
            </a:pPr>
            <a:endParaRPr/>
          </a:p>
        </p:txBody>
      </p:sp>
      <p:sp>
        <p:nvSpPr>
          <p:cNvPr id="50"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만">
    <p:spTree>
      <p:nvGrpSpPr>
        <p:cNvPr id="1" name=""/>
        <p:cNvGrpSpPr/>
        <p:nvPr/>
      </p:nvGrpSpPr>
      <p:grpSpPr>
        <a:xfrm>
          <a:off x="0" y="0"/>
          <a:ext cx="0" cy="0"/>
          <a:chOff x="0" y="0"/>
          <a:chExt cx="0" cy="0"/>
        </a:xfrm>
      </p:grpSpPr>
      <p:sp>
        <p:nvSpPr>
          <p:cNvPr id="57" name="제목 텍스트"/>
          <p:cNvSpPr txBox="1">
            <a:spLocks noGrp="1"/>
          </p:cNvSpPr>
          <p:nvPr>
            <p:ph type="title"/>
          </p:nvPr>
        </p:nvSpPr>
        <p:spPr>
          <a:prstGeom prst="rect">
            <a:avLst/>
          </a:prstGeom>
        </p:spPr>
        <p:txBody>
          <a:bodyPr/>
          <a:lstStyle/>
          <a:p>
            <a:r>
              <a:t>제목 텍스트</a:t>
            </a:r>
          </a:p>
        </p:txBody>
      </p:sp>
      <p:sp>
        <p:nvSpPr>
          <p:cNvPr id="58"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빈 화면">
    <p:spTree>
      <p:nvGrpSpPr>
        <p:cNvPr id="1" name=""/>
        <p:cNvGrpSpPr/>
        <p:nvPr/>
      </p:nvGrpSpPr>
      <p:grpSpPr>
        <a:xfrm>
          <a:off x="0" y="0"/>
          <a:ext cx="0" cy="0"/>
          <a:chOff x="0" y="0"/>
          <a:chExt cx="0" cy="0"/>
        </a:xfrm>
      </p:grpSpPr>
      <p:sp>
        <p:nvSpPr>
          <p:cNvPr id="65"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캡션 있는 콘텐츠">
    <p:spTree>
      <p:nvGrpSpPr>
        <p:cNvPr id="1" name=""/>
        <p:cNvGrpSpPr/>
        <p:nvPr/>
      </p:nvGrpSpPr>
      <p:grpSpPr>
        <a:xfrm>
          <a:off x="0" y="0"/>
          <a:ext cx="0" cy="0"/>
          <a:chOff x="0" y="0"/>
          <a:chExt cx="0" cy="0"/>
        </a:xfrm>
      </p:grpSpPr>
      <p:sp>
        <p:nvSpPr>
          <p:cNvPr id="72" name="제목 텍스트"/>
          <p:cNvSpPr txBox="1">
            <a:spLocks noGrp="1"/>
          </p:cNvSpPr>
          <p:nvPr>
            <p:ph type="title"/>
          </p:nvPr>
        </p:nvSpPr>
        <p:spPr>
          <a:xfrm>
            <a:off x="839791" y="457200"/>
            <a:ext cx="3932239" cy="1600200"/>
          </a:xfrm>
          <a:prstGeom prst="rect">
            <a:avLst/>
          </a:prstGeom>
        </p:spPr>
        <p:txBody>
          <a:bodyPr anchor="b"/>
          <a:lstStyle>
            <a:lvl1pPr>
              <a:defRPr sz="2600"/>
            </a:lvl1pPr>
          </a:lstStyle>
          <a:p>
            <a:r>
              <a:t>제목 텍스트</a:t>
            </a:r>
          </a:p>
        </p:txBody>
      </p:sp>
      <p:sp>
        <p:nvSpPr>
          <p:cNvPr id="73" name="본문 첫 번째 줄…"/>
          <p:cNvSpPr txBox="1">
            <a:spLocks noGrp="1"/>
          </p:cNvSpPr>
          <p:nvPr>
            <p:ph type="body" sz="half" idx="1"/>
          </p:nvPr>
        </p:nvSpPr>
        <p:spPr>
          <a:xfrm>
            <a:off x="5183185" y="987425"/>
            <a:ext cx="6172203" cy="4873626"/>
          </a:xfrm>
          <a:prstGeom prst="rect">
            <a:avLst/>
          </a:prstGeom>
        </p:spPr>
        <p:txBody>
          <a:bodyPr/>
          <a:lstStyle>
            <a:lvl1pPr marL="185733" indent="-185733">
              <a:defRPr sz="2600"/>
            </a:lvl1pPr>
            <a:lvl2pPr marL="590968" indent="-219503">
              <a:defRPr sz="2600"/>
            </a:lvl2pPr>
            <a:lvl3pPr marL="997092" indent="-254160">
              <a:defRPr sz="2600"/>
            </a:lvl3pPr>
            <a:lvl4pPr marL="1416214" indent="-301816">
              <a:defRPr sz="2600"/>
            </a:lvl4pPr>
            <a:lvl5pPr marL="1787679" indent="-301816">
              <a:defRPr sz="2600"/>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74" name="텍스트 개체 틀 3"/>
          <p:cNvSpPr>
            <a:spLocks noGrp="1"/>
          </p:cNvSpPr>
          <p:nvPr>
            <p:ph type="body" sz="quarter" idx="13"/>
          </p:nvPr>
        </p:nvSpPr>
        <p:spPr>
          <a:xfrm>
            <a:off x="839791" y="2057400"/>
            <a:ext cx="3932239" cy="3811588"/>
          </a:xfrm>
          <a:prstGeom prst="rect">
            <a:avLst/>
          </a:prstGeom>
        </p:spPr>
        <p:txBody>
          <a:bodyPr/>
          <a:lstStyle>
            <a:lvl1pPr marL="0" indent="0">
              <a:buSzTx/>
              <a:buFontTx/>
              <a:buNone/>
              <a:defRPr sz="1300"/>
            </a:lvl1pPr>
          </a:lstStyle>
          <a:p>
            <a:pPr marL="0" indent="0">
              <a:buSzTx/>
              <a:buFontTx/>
              <a:buNone/>
              <a:defRPr sz="1300"/>
            </a:pPr>
            <a:endParaRPr/>
          </a:p>
        </p:txBody>
      </p:sp>
      <p:sp>
        <p:nvSpPr>
          <p:cNvPr id="75"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사용자 지정 레이아웃">
    <p:spTree>
      <p:nvGrpSpPr>
        <p:cNvPr id="1" name=""/>
        <p:cNvGrpSpPr/>
        <p:nvPr/>
      </p:nvGrpSpPr>
      <p:grpSpPr>
        <a:xfrm>
          <a:off x="0" y="0"/>
          <a:ext cx="0" cy="0"/>
          <a:chOff x="0" y="0"/>
          <a:chExt cx="0" cy="0"/>
        </a:xfrm>
      </p:grpSpPr>
      <p:sp>
        <p:nvSpPr>
          <p:cNvPr id="92" name="본문 첫 번째 줄…"/>
          <p:cNvSpPr txBox="1">
            <a:spLocks noGrp="1"/>
          </p:cNvSpPr>
          <p:nvPr>
            <p:ph type="body" sz="quarter" idx="1"/>
          </p:nvPr>
        </p:nvSpPr>
        <p:spPr>
          <a:xfrm>
            <a:off x="532016" y="2969549"/>
            <a:ext cx="2132133" cy="273514"/>
          </a:xfrm>
          <a:prstGeom prst="rect">
            <a:avLst/>
          </a:prstGeom>
        </p:spPr>
        <p:txBody>
          <a:bodyPr/>
          <a:lstStyle>
            <a:lvl1pPr marL="0" indent="0" defTabSz="914377">
              <a:lnSpc>
                <a:spcPct val="100000"/>
              </a:lnSpc>
              <a:spcBef>
                <a:spcPts val="300"/>
              </a:spcBef>
              <a:buSzTx/>
              <a:buFontTx/>
              <a:buNone/>
              <a:defRPr sz="1300">
                <a:solidFill>
                  <a:srgbClr val="004C86"/>
                </a:solidFill>
              </a:defRPr>
            </a:lvl1pPr>
            <a:lvl2pPr marL="498546" indent="-127079" defTabSz="914377">
              <a:lnSpc>
                <a:spcPct val="100000"/>
              </a:lnSpc>
              <a:spcBef>
                <a:spcPts val="300"/>
              </a:spcBef>
              <a:buFontTx/>
              <a:defRPr sz="1300">
                <a:solidFill>
                  <a:srgbClr val="004C86"/>
                </a:solidFill>
              </a:defRPr>
            </a:lvl2pPr>
            <a:lvl3pPr marL="893840" indent="-150908" defTabSz="914377">
              <a:lnSpc>
                <a:spcPct val="100000"/>
              </a:lnSpc>
              <a:spcBef>
                <a:spcPts val="300"/>
              </a:spcBef>
              <a:buFontTx/>
              <a:defRPr sz="1300">
                <a:solidFill>
                  <a:srgbClr val="004C86"/>
                </a:solidFill>
              </a:defRPr>
            </a:lvl3pPr>
            <a:lvl4pPr marL="1286862" indent="-172466" defTabSz="914377">
              <a:lnSpc>
                <a:spcPct val="100000"/>
              </a:lnSpc>
              <a:spcBef>
                <a:spcPts val="300"/>
              </a:spcBef>
              <a:buFontTx/>
              <a:defRPr sz="1300">
                <a:solidFill>
                  <a:srgbClr val="004C86"/>
                </a:solidFill>
              </a:defRPr>
            </a:lvl4pPr>
            <a:lvl5pPr marL="1658329" indent="-172466" defTabSz="914377">
              <a:lnSpc>
                <a:spcPct val="100000"/>
              </a:lnSpc>
              <a:spcBef>
                <a:spcPts val="300"/>
              </a:spcBef>
              <a:buFontTx/>
              <a:defRPr sz="1300">
                <a:solidFill>
                  <a:srgbClr val="004C86"/>
                </a:solidFill>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93" name="제목 텍스트"/>
          <p:cNvSpPr txBox="1">
            <a:spLocks noGrp="1"/>
          </p:cNvSpPr>
          <p:nvPr>
            <p:ph type="title"/>
          </p:nvPr>
        </p:nvSpPr>
        <p:spPr>
          <a:xfrm>
            <a:off x="534630" y="1799999"/>
            <a:ext cx="6522097" cy="1169552"/>
          </a:xfrm>
          <a:prstGeom prst="rect">
            <a:avLst/>
          </a:prstGeom>
        </p:spPr>
        <p:txBody>
          <a:bodyPr/>
          <a:lstStyle>
            <a:lvl1pPr>
              <a:defRPr b="1">
                <a:solidFill>
                  <a:srgbClr val="004C86"/>
                </a:solidFill>
                <a:latin typeface="+mn-lt"/>
                <a:ea typeface="+mn-ea"/>
                <a:cs typeface="+mn-cs"/>
                <a:sym typeface="Helvetica"/>
              </a:defRPr>
            </a:lvl1pPr>
          </a:lstStyle>
          <a:p>
            <a:r>
              <a:t>제목 텍스트</a:t>
            </a:r>
          </a:p>
        </p:txBody>
      </p:sp>
      <p:sp>
        <p:nvSpPr>
          <p:cNvPr id="94" name="슬라이드 번호"/>
          <p:cNvSpPr txBox="1">
            <a:spLocks noGrp="1"/>
          </p:cNvSpPr>
          <p:nvPr>
            <p:ph type="sldNum" sz="quarter" idx="2"/>
          </p:nvPr>
        </p:nvSpPr>
        <p:spPr>
          <a:xfrm>
            <a:off x="11117205" y="6423499"/>
            <a:ext cx="236601" cy="230832"/>
          </a:xfrm>
          <a:prstGeom prst="rect">
            <a:avLst/>
          </a:prstGeom>
        </p:spPr>
        <p:txBody>
          <a:bodyPr/>
          <a:lstStyle/>
          <a:p>
            <a:fld id="{86CB4B4D-7CA3-9044-876B-883B54F8677D}" type="slidenum">
              <a:t>‹#›</a:t>
            </a:fld>
            <a:endParaRPr/>
          </a:p>
        </p:txBody>
      </p:sp>
      <p:sp>
        <p:nvSpPr>
          <p:cNvPr id="95" name="직사각형 5"/>
          <p:cNvSpPr/>
          <p:nvPr/>
        </p:nvSpPr>
        <p:spPr>
          <a:xfrm>
            <a:off x="532019" y="6237313"/>
            <a:ext cx="1435527" cy="484164"/>
          </a:xfrm>
          <a:prstGeom prst="rect">
            <a:avLst/>
          </a:prstGeom>
          <a:solidFill>
            <a:srgbClr val="FFFFFF"/>
          </a:solidFill>
          <a:ln w="12700">
            <a:miter lim="400000"/>
          </a:ln>
        </p:spPr>
        <p:txBody>
          <a:bodyPr lIns="45719" rIns="45719" anchor="ctr"/>
          <a:lstStyle/>
          <a:p>
            <a:pPr algn="ctr">
              <a:defRPr>
                <a:solidFill>
                  <a:srgbClr val="FFFFFF"/>
                </a:solidFill>
              </a:defRPr>
            </a:pPr>
            <a:endParaRPr sz="1800"/>
          </a:p>
        </p:txBody>
      </p:sp>
      <p:sp>
        <p:nvSpPr>
          <p:cNvPr id="96" name="직사각형 8"/>
          <p:cNvSpPr txBox="1"/>
          <p:nvPr/>
        </p:nvSpPr>
        <p:spPr>
          <a:xfrm>
            <a:off x="448273" y="6381333"/>
            <a:ext cx="1674495"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200" spc="-50">
                <a:solidFill>
                  <a:srgbClr val="004C86"/>
                </a:solidFill>
                <a:latin typeface="나눔스퀘어 ExtraBold"/>
                <a:ea typeface="나눔스퀘어 ExtraBold"/>
                <a:cs typeface="나눔스퀘어 ExtraBold"/>
                <a:sym typeface="나눔스퀘어 ExtraBold"/>
              </a:defRPr>
            </a:lvl1pPr>
          </a:lstStyle>
          <a:p>
            <a:r>
              <a:rPr sz="1200"/>
              <a:t>http://esoc.hanyang.ac.kr</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2_제목 및 내용">
    <p:spTree>
      <p:nvGrpSpPr>
        <p:cNvPr id="1" name=""/>
        <p:cNvGrpSpPr/>
        <p:nvPr/>
      </p:nvGrpSpPr>
      <p:grpSpPr>
        <a:xfrm>
          <a:off x="0" y="0"/>
          <a:ext cx="0" cy="0"/>
          <a:chOff x="0" y="0"/>
          <a:chExt cx="0" cy="0"/>
        </a:xfrm>
      </p:grpSpPr>
      <p:sp>
        <p:nvSpPr>
          <p:cNvPr id="103" name="본문 첫 번째 줄…"/>
          <p:cNvSpPr txBox="1">
            <a:spLocks noGrp="1"/>
          </p:cNvSpPr>
          <p:nvPr>
            <p:ph type="body" sz="quarter" idx="1"/>
          </p:nvPr>
        </p:nvSpPr>
        <p:spPr>
          <a:xfrm>
            <a:off x="532801" y="1232102"/>
            <a:ext cx="8251499" cy="536720"/>
          </a:xfrm>
          <a:prstGeom prst="rect">
            <a:avLst/>
          </a:prstGeom>
        </p:spPr>
        <p:txBody>
          <a:bodyPr/>
          <a:lstStyle>
            <a:lvl1pPr marL="0" indent="0">
              <a:buSzTx/>
              <a:buFontTx/>
              <a:buNone/>
              <a:defRPr sz="2800" b="1" spc="-60">
                <a:solidFill>
                  <a:srgbClr val="FFFFFF"/>
                </a:solidFill>
              </a:defRPr>
            </a:lvl1pPr>
            <a:lvl2pPr marL="645179" indent="-273712">
              <a:buFontTx/>
              <a:defRPr sz="2800" b="1" spc="-60">
                <a:solidFill>
                  <a:srgbClr val="FFFFFF"/>
                </a:solidFill>
              </a:defRPr>
            </a:lvl2pPr>
            <a:lvl3pPr marL="1067964" indent="-325033">
              <a:buFontTx/>
              <a:defRPr sz="2800" b="1" spc="-60">
                <a:solidFill>
                  <a:srgbClr val="FFFFFF"/>
                </a:solidFill>
              </a:defRPr>
            </a:lvl3pPr>
            <a:lvl4pPr marL="1485863" indent="-371465">
              <a:buFontTx/>
              <a:defRPr sz="2800" b="1" spc="-60">
                <a:solidFill>
                  <a:srgbClr val="FFFFFF"/>
                </a:solidFill>
              </a:defRPr>
            </a:lvl4pPr>
            <a:lvl5pPr marL="1857330" indent="-371467">
              <a:buFontTx/>
              <a:defRPr sz="2800" b="1" spc="-60">
                <a:solidFill>
                  <a:srgbClr val="FFFFFF"/>
                </a:solidFill>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104" name="TextBox 8"/>
          <p:cNvSpPr txBox="1"/>
          <p:nvPr/>
        </p:nvSpPr>
        <p:spPr>
          <a:xfrm>
            <a:off x="487641" y="6309326"/>
            <a:ext cx="247974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000" spc="-50">
                <a:solidFill>
                  <a:srgbClr val="95A1AB"/>
                </a:solidFill>
                <a:latin typeface="나눔스퀘어 ExtraBold"/>
                <a:ea typeface="나눔스퀘어 ExtraBold"/>
                <a:cs typeface="나눔스퀘어 ExtraBold"/>
                <a:sym typeface="나눔스퀘어 ExtraBold"/>
              </a:defRPr>
            </a:lvl1pPr>
          </a:lstStyle>
          <a:p>
            <a:r>
              <a:rPr sz="1000"/>
              <a:t>Embedded System on Chip Lab</a:t>
            </a:r>
          </a:p>
        </p:txBody>
      </p:sp>
      <p:sp>
        <p:nvSpPr>
          <p:cNvPr id="105" name="슬라이드 번호"/>
          <p:cNvSpPr txBox="1">
            <a:spLocks noGrp="1"/>
          </p:cNvSpPr>
          <p:nvPr>
            <p:ph type="sldNum" sz="quarter" idx="2"/>
          </p:nvPr>
        </p:nvSpPr>
        <p:spPr>
          <a:xfrm>
            <a:off x="8501001" y="6240935"/>
            <a:ext cx="236601" cy="23083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제목 및 내용">
    <p:spTree>
      <p:nvGrpSpPr>
        <p:cNvPr id="1" name=""/>
        <p:cNvGrpSpPr/>
        <p:nvPr/>
      </p:nvGrpSpPr>
      <p:grpSpPr>
        <a:xfrm>
          <a:off x="0" y="0"/>
          <a:ext cx="0" cy="0"/>
          <a:chOff x="0" y="0"/>
          <a:chExt cx="0" cy="0"/>
        </a:xfrm>
      </p:grpSpPr>
      <p:sp>
        <p:nvSpPr>
          <p:cNvPr id="112" name="제목 텍스트"/>
          <p:cNvSpPr txBox="1">
            <a:spLocks noGrp="1"/>
          </p:cNvSpPr>
          <p:nvPr>
            <p:ph type="title"/>
          </p:nvPr>
        </p:nvSpPr>
        <p:spPr>
          <a:xfrm>
            <a:off x="838202" y="365125"/>
            <a:ext cx="10515601" cy="1325564"/>
          </a:xfrm>
          <a:prstGeom prst="rect">
            <a:avLst/>
          </a:prstGeom>
        </p:spPr>
        <p:txBody>
          <a:bodyPr lIns="45718" tIns="45718" rIns="45718" bIns="45718"/>
          <a:lstStyle/>
          <a:p>
            <a:r>
              <a:t>제목 텍스트</a:t>
            </a:r>
          </a:p>
        </p:txBody>
      </p:sp>
      <p:sp>
        <p:nvSpPr>
          <p:cNvPr id="113" name="본문 첫 번째 줄…"/>
          <p:cNvSpPr txBox="1">
            <a:spLocks noGrp="1"/>
          </p:cNvSpPr>
          <p:nvPr>
            <p:ph type="body" idx="1"/>
          </p:nvPr>
        </p:nvSpPr>
        <p:spPr>
          <a:xfrm>
            <a:off x="838202" y="1825625"/>
            <a:ext cx="10515601" cy="4351338"/>
          </a:xfrm>
          <a:prstGeom prst="rect">
            <a:avLst/>
          </a:prstGeom>
        </p:spPr>
        <p:txBody>
          <a:bodyPr lIns="45718" tIns="45718" rIns="45718" bIns="45718"/>
          <a:lstStyle>
            <a:lvl1pPr marL="185733" indent="-185733"/>
            <a:lvl2pPr marL="586525" indent="-215059"/>
            <a:lvl3pPr marL="998312" indent="-255380"/>
            <a:lvl4pPr marL="1406262" indent="-291865"/>
            <a:lvl5pPr indent="-291865"/>
          </a:lstStyle>
          <a:p>
            <a:r>
              <a:t>본문 첫 번째 줄</a:t>
            </a:r>
          </a:p>
          <a:p>
            <a:pPr lvl="1"/>
            <a:r>
              <a:t>본문 두 번째 줄</a:t>
            </a:r>
          </a:p>
          <a:p>
            <a:pPr lvl="2"/>
            <a:r>
              <a:t>본문 세 번째 줄</a:t>
            </a:r>
          </a:p>
          <a:p>
            <a:pPr lvl="3"/>
            <a:r>
              <a:t>본문 네 번째 줄</a:t>
            </a:r>
          </a:p>
          <a:p>
            <a:pPr lvl="4"/>
            <a:r>
              <a:t>본문 다섯 번째 줄</a:t>
            </a:r>
          </a:p>
        </p:txBody>
      </p:sp>
      <p:sp>
        <p:nvSpPr>
          <p:cNvPr id="114" name="슬라이드 번호"/>
          <p:cNvSpPr txBox="1">
            <a:spLocks noGrp="1"/>
          </p:cNvSpPr>
          <p:nvPr>
            <p:ph type="sldNum" sz="quarter" idx="2"/>
          </p:nvPr>
        </p:nvSpPr>
        <p:spPr>
          <a:xfrm>
            <a:off x="6493012" y="6560022"/>
            <a:ext cx="236599" cy="230828"/>
          </a:xfrm>
          <a:prstGeom prst="rect">
            <a:avLst/>
          </a:prstGeom>
        </p:spPr>
        <p:txBody>
          <a:bodyPr lIns="45718" tIns="45718" rIns="45718" bIns="45718"/>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11" name="제목 텍스트"/>
          <p:cNvSpPr txBox="1">
            <a:spLocks noGrp="1"/>
          </p:cNvSpPr>
          <p:nvPr>
            <p:ph type="title" hasCustomPrompt="1"/>
          </p:nvPr>
        </p:nvSpPr>
        <p:spPr>
          <a:xfrm>
            <a:off x="1524000" y="1104645"/>
            <a:ext cx="9144000" cy="1456936"/>
          </a:xfrm>
          <a:prstGeom prst="rect">
            <a:avLst/>
          </a:prstGeom>
        </p:spPr>
        <p:txBody>
          <a:bodyPr anchor="ctr">
            <a:normAutofit/>
          </a:bodyPr>
          <a:lstStyle>
            <a:lvl1pPr algn="ctr">
              <a:defRPr sz="4400" b="1"/>
            </a:lvl1pPr>
          </a:lstStyle>
          <a:p>
            <a:r>
              <a:rPr lang="en-US" dirty="0"/>
              <a:t>Main Title</a:t>
            </a:r>
            <a:endParaRPr dirty="0"/>
          </a:p>
        </p:txBody>
      </p:sp>
      <p:sp>
        <p:nvSpPr>
          <p:cNvPr id="12" name="본문 첫 번째 줄…"/>
          <p:cNvSpPr txBox="1">
            <a:spLocks noGrp="1"/>
          </p:cNvSpPr>
          <p:nvPr>
            <p:ph type="body" sz="quarter" idx="1" hasCustomPrompt="1"/>
          </p:nvPr>
        </p:nvSpPr>
        <p:spPr>
          <a:xfrm>
            <a:off x="1524000" y="3661918"/>
            <a:ext cx="9144000" cy="1828799"/>
          </a:xfrm>
          <a:prstGeom prst="rect">
            <a:avLst/>
          </a:prstGeom>
        </p:spPr>
        <p:txBody>
          <a:bodyPr anchor="ctr">
            <a:normAutofit/>
          </a:bodyPr>
          <a:lstStyle>
            <a:lvl1pPr marL="0" indent="0" algn="ctr">
              <a:buSzTx/>
              <a:buFontTx/>
              <a:buNone/>
              <a:defRPr sz="2400" b="1"/>
            </a:lvl1pPr>
            <a:lvl2pPr marL="0" indent="371465" algn="ctr">
              <a:buSzTx/>
              <a:buFontTx/>
              <a:buNone/>
              <a:defRPr sz="1900"/>
            </a:lvl2pPr>
            <a:lvl3pPr marL="0" indent="742932" algn="ctr">
              <a:buSzTx/>
              <a:buFontTx/>
              <a:buNone/>
              <a:defRPr sz="1900"/>
            </a:lvl3pPr>
            <a:lvl4pPr marL="0" indent="1114397" algn="ctr">
              <a:buSzTx/>
              <a:buFontTx/>
              <a:buNone/>
              <a:defRPr sz="1900"/>
            </a:lvl4pPr>
            <a:lvl5pPr marL="0" indent="1485863" algn="ctr">
              <a:buSzTx/>
              <a:buFontTx/>
              <a:buNone/>
              <a:defRPr sz="1900"/>
            </a:lvl5pPr>
          </a:lstStyle>
          <a:p>
            <a:r>
              <a:rPr lang="ko-KR" altLang="en-US" dirty="0"/>
              <a:t>이름</a:t>
            </a:r>
            <a:endParaRPr dirty="0"/>
          </a:p>
        </p:txBody>
      </p:sp>
      <p:sp>
        <p:nvSpPr>
          <p:cNvPr id="13" name="슬라이드 번호"/>
          <p:cNvSpPr txBox="1">
            <a:spLocks noGrp="1"/>
          </p:cNvSpPr>
          <p:nvPr>
            <p:ph type="sldNum" sz="quarter" idx="2"/>
          </p:nvPr>
        </p:nvSpPr>
        <p:spPr>
          <a:xfrm>
            <a:off x="6001726" y="6559962"/>
            <a:ext cx="236601" cy="230832"/>
          </a:xfrm>
          <a:prstGeom prst="rect">
            <a:avLst/>
          </a:prstGeom>
        </p:spPr>
        <p:txBody>
          <a:bodyPr/>
          <a:lstStyle/>
          <a:p>
            <a:fld id="{86CB4B4D-7CA3-9044-876B-883B54F8677D}" type="slidenum">
              <a:t>‹#›</a:t>
            </a:fld>
            <a:endParaRPr dirty="0"/>
          </a:p>
        </p:txBody>
      </p:sp>
      <p:sp>
        <p:nvSpPr>
          <p:cNvPr id="5" name="본문 첫 번째 줄…">
            <a:extLst>
              <a:ext uri="{FF2B5EF4-FFF2-40B4-BE49-F238E27FC236}">
                <a16:creationId xmlns:a16="http://schemas.microsoft.com/office/drawing/2014/main" id="{73BC6E9D-21D3-4B95-B362-AC4B8C825FA0}"/>
              </a:ext>
            </a:extLst>
          </p:cNvPr>
          <p:cNvSpPr txBox="1">
            <a:spLocks noGrp="1"/>
          </p:cNvSpPr>
          <p:nvPr>
            <p:ph type="body" sz="quarter" idx="10" hasCustomPrompt="1"/>
          </p:nvPr>
        </p:nvSpPr>
        <p:spPr>
          <a:xfrm>
            <a:off x="1524000" y="2561581"/>
            <a:ext cx="9144000" cy="884208"/>
          </a:xfrm>
          <a:prstGeom prst="rect">
            <a:avLst/>
          </a:prstGeom>
        </p:spPr>
        <p:txBody>
          <a:bodyPr anchor="ctr">
            <a:normAutofit/>
          </a:bodyPr>
          <a:lstStyle>
            <a:lvl1pPr marL="0" indent="0" algn="ctr">
              <a:buSzTx/>
              <a:buFontTx/>
              <a:buNone/>
              <a:defRPr sz="3200" b="1"/>
            </a:lvl1pPr>
            <a:lvl2pPr marL="0" indent="371465" algn="ctr">
              <a:buSzTx/>
              <a:buFontTx/>
              <a:buNone/>
              <a:defRPr sz="1900"/>
            </a:lvl2pPr>
            <a:lvl3pPr marL="0" indent="742932" algn="ctr">
              <a:buSzTx/>
              <a:buFontTx/>
              <a:buNone/>
              <a:defRPr sz="1900"/>
            </a:lvl3pPr>
            <a:lvl4pPr marL="0" indent="1114397" algn="ctr">
              <a:buSzTx/>
              <a:buFontTx/>
              <a:buNone/>
              <a:defRPr sz="1900"/>
            </a:lvl4pPr>
            <a:lvl5pPr marL="0" indent="1485863" algn="ctr">
              <a:buSzTx/>
              <a:buFontTx/>
              <a:buNone/>
              <a:defRPr sz="1900"/>
            </a:lvl5pPr>
          </a:lstStyle>
          <a:p>
            <a:r>
              <a:rPr lang="en-US" altLang="ko-KR" dirty="0"/>
              <a:t>Sub title</a:t>
            </a:r>
            <a:endParaRPr dirty="0"/>
          </a:p>
        </p:txBody>
      </p:sp>
    </p:spTree>
    <p:extLst>
      <p:ext uri="{BB962C8B-B14F-4D97-AF65-F5344CB8AC3E}">
        <p14:creationId xmlns:p14="http://schemas.microsoft.com/office/powerpoint/2010/main" val="10218635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제목 텍스트"/>
          <p:cNvSpPr txBox="1">
            <a:spLocks noGrp="1"/>
          </p:cNvSpPr>
          <p:nvPr>
            <p:ph type="title"/>
          </p:nvPr>
        </p:nvSpPr>
        <p:spPr>
          <a:xfrm>
            <a:off x="838202" y="365125"/>
            <a:ext cx="10515601" cy="6441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rPr dirty="0" err="1"/>
              <a:t>제목</a:t>
            </a:r>
            <a:r>
              <a:rPr dirty="0"/>
              <a:t> </a:t>
            </a:r>
            <a:r>
              <a:rPr dirty="0" err="1"/>
              <a:t>텍스트</a:t>
            </a:r>
            <a:endParaRPr dirty="0"/>
          </a:p>
        </p:txBody>
      </p:sp>
      <p:sp>
        <p:nvSpPr>
          <p:cNvPr id="3" name="본문 첫 번째 줄…"/>
          <p:cNvSpPr txBox="1">
            <a:spLocks noGrp="1"/>
          </p:cNvSpPr>
          <p:nvPr>
            <p:ph type="body" idx="1"/>
          </p:nvPr>
        </p:nvSpPr>
        <p:spPr>
          <a:xfrm>
            <a:off x="838202" y="1147313"/>
            <a:ext cx="10515601" cy="5029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err="1"/>
              <a:t>본문</a:t>
            </a:r>
            <a:r>
              <a:rPr dirty="0"/>
              <a:t> 첫 </a:t>
            </a:r>
            <a:r>
              <a:rPr dirty="0" err="1"/>
              <a:t>번째</a:t>
            </a:r>
            <a:r>
              <a:rPr dirty="0"/>
              <a:t> 줄</a:t>
            </a:r>
          </a:p>
          <a:p>
            <a:pPr lvl="1"/>
            <a:r>
              <a:rPr dirty="0" err="1"/>
              <a:t>본문</a:t>
            </a:r>
            <a:r>
              <a:rPr dirty="0"/>
              <a:t> 두 </a:t>
            </a:r>
            <a:r>
              <a:rPr dirty="0" err="1"/>
              <a:t>번째</a:t>
            </a:r>
            <a:r>
              <a:rPr dirty="0"/>
              <a:t> 줄</a:t>
            </a:r>
          </a:p>
          <a:p>
            <a:pPr lvl="2"/>
            <a:r>
              <a:rPr dirty="0" err="1"/>
              <a:t>본문</a:t>
            </a:r>
            <a:r>
              <a:rPr dirty="0"/>
              <a:t> 세 </a:t>
            </a:r>
            <a:r>
              <a:rPr dirty="0" err="1"/>
              <a:t>번째</a:t>
            </a:r>
            <a:r>
              <a:rPr dirty="0"/>
              <a:t> 줄</a:t>
            </a:r>
          </a:p>
          <a:p>
            <a:pPr lvl="3"/>
            <a:r>
              <a:rPr dirty="0" err="1"/>
              <a:t>본문</a:t>
            </a:r>
            <a:r>
              <a:rPr dirty="0"/>
              <a:t> 네 </a:t>
            </a:r>
            <a:r>
              <a:rPr dirty="0" err="1"/>
              <a:t>번째</a:t>
            </a:r>
            <a:r>
              <a:rPr dirty="0"/>
              <a:t> 줄</a:t>
            </a:r>
          </a:p>
          <a:p>
            <a:pPr lvl="4"/>
            <a:r>
              <a:rPr dirty="0" err="1"/>
              <a:t>본문</a:t>
            </a:r>
            <a:r>
              <a:rPr dirty="0"/>
              <a:t> </a:t>
            </a:r>
            <a:r>
              <a:rPr dirty="0" err="1"/>
              <a:t>다섯</a:t>
            </a:r>
            <a:r>
              <a:rPr dirty="0"/>
              <a:t> </a:t>
            </a:r>
            <a:r>
              <a:rPr dirty="0" err="1"/>
              <a:t>번째</a:t>
            </a:r>
            <a:r>
              <a:rPr dirty="0"/>
              <a:t> 줄</a:t>
            </a:r>
          </a:p>
        </p:txBody>
      </p:sp>
      <p:sp>
        <p:nvSpPr>
          <p:cNvPr id="4" name="슬라이드 번호"/>
          <p:cNvSpPr txBox="1">
            <a:spLocks noGrp="1"/>
          </p:cNvSpPr>
          <p:nvPr>
            <p:ph type="sldNum" sz="quarter" idx="2"/>
          </p:nvPr>
        </p:nvSpPr>
        <p:spPr>
          <a:xfrm>
            <a:off x="6001726" y="6560020"/>
            <a:ext cx="236601" cy="230832"/>
          </a:xfrm>
          <a:prstGeom prst="rect">
            <a:avLst/>
          </a:prstGeom>
          <a:ln w="12700">
            <a:miter lim="400000"/>
          </a:ln>
        </p:spPr>
        <p:txBody>
          <a:bodyPr wrap="none" lIns="45719" rIns="45719" anchor="ctr">
            <a:spAutoFit/>
          </a:bodyPr>
          <a:lstStyle>
            <a:lvl1pPr algn="r">
              <a:defRPr sz="9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Lst>
  <p:transition spd="med"/>
  <p:txStyles>
    <p:titleStyle>
      <a:lvl1pPr marL="0" marR="0" indent="0" algn="l" defTabSz="742932" rtl="0" latinLnBrk="0">
        <a:lnSpc>
          <a:spcPct val="90000"/>
        </a:lnSpc>
        <a:spcBef>
          <a:spcPts val="0"/>
        </a:spcBef>
        <a:spcAft>
          <a:spcPts val="0"/>
        </a:spcAft>
        <a:buClrTx/>
        <a:buSzTx/>
        <a:buFontTx/>
        <a:buNone/>
        <a:tabLst/>
        <a:defRPr sz="2800" b="1" i="0" u="none" strike="noStrike" cap="none" spc="0" baseline="0">
          <a:solidFill>
            <a:srgbClr val="000000"/>
          </a:solidFill>
          <a:uFillTx/>
          <a:latin typeface="+mj-lt"/>
          <a:ea typeface="+mj-ea"/>
          <a:cs typeface="+mj-cs"/>
          <a:sym typeface="맑은 고딕"/>
        </a:defRPr>
      </a:lvl1pPr>
      <a:lvl2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2pPr>
      <a:lvl3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3pPr>
      <a:lvl4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4pPr>
      <a:lvl5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5pPr>
      <a:lvl6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6pPr>
      <a:lvl7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7pPr>
      <a:lvl8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8pPr>
      <a:lvl9pPr marL="0" marR="0" indent="0" algn="l" defTabSz="742932" rtl="0" latinLnBrk="0">
        <a:lnSpc>
          <a:spcPct val="90000"/>
        </a:lnSpc>
        <a:spcBef>
          <a:spcPts val="0"/>
        </a:spcBef>
        <a:spcAft>
          <a:spcPts val="0"/>
        </a:spcAft>
        <a:buClrTx/>
        <a:buSzTx/>
        <a:buFontTx/>
        <a:buNone/>
        <a:tabLst/>
        <a:defRPr sz="3500" b="0" i="0" u="none" strike="noStrike" cap="none" spc="0" baseline="0">
          <a:solidFill>
            <a:srgbClr val="000000"/>
          </a:solidFill>
          <a:uFillTx/>
          <a:latin typeface="+mj-lt"/>
          <a:ea typeface="+mj-ea"/>
          <a:cs typeface="+mj-cs"/>
          <a:sym typeface="맑은 고딕"/>
        </a:defRPr>
      </a:lvl9pPr>
    </p:titleStyle>
    <p:bodyStyle>
      <a:lvl1pPr marL="185733" marR="0" indent="-185733" algn="l" defTabSz="742932" rtl="0" latinLnBrk="0">
        <a:lnSpc>
          <a:spcPct val="90000"/>
        </a:lnSpc>
        <a:spcBef>
          <a:spcPts val="800"/>
        </a:spcBef>
        <a:spcAft>
          <a:spcPts val="0"/>
        </a:spcAft>
        <a:buClrTx/>
        <a:buSzPct val="100000"/>
        <a:buFont typeface="Arial"/>
        <a:buChar char="•"/>
        <a:tabLst/>
        <a:defRPr sz="2000" b="0" i="0" u="none" strike="noStrike" cap="none" spc="0" baseline="0">
          <a:solidFill>
            <a:srgbClr val="000000"/>
          </a:solidFill>
          <a:uFillTx/>
          <a:latin typeface="+mj-lt"/>
          <a:ea typeface="+mj-ea"/>
          <a:cs typeface="+mj-cs"/>
          <a:sym typeface="맑은 고딕"/>
        </a:defRPr>
      </a:lvl1pPr>
      <a:lvl2pPr marL="586525" marR="0" indent="-215060" algn="l" defTabSz="742932" rtl="0" latinLnBrk="0">
        <a:lnSpc>
          <a:spcPct val="90000"/>
        </a:lnSpc>
        <a:spcBef>
          <a:spcPts val="800"/>
        </a:spcBef>
        <a:spcAft>
          <a:spcPts val="0"/>
        </a:spcAft>
        <a:buClrTx/>
        <a:buSzPct val="100000"/>
        <a:buFont typeface="맑은 고딕" panose="020B0503020000020004" pitchFamily="50" charset="-127"/>
        <a:buChar char="–"/>
        <a:tabLst/>
        <a:defRPr sz="1800" b="0" i="0" u="none" strike="noStrike" cap="none" spc="0" baseline="0">
          <a:solidFill>
            <a:srgbClr val="000000"/>
          </a:solidFill>
          <a:uFillTx/>
          <a:latin typeface="+mj-lt"/>
          <a:ea typeface="+mj-ea"/>
          <a:cs typeface="+mj-cs"/>
          <a:sym typeface="맑은 고딕"/>
        </a:defRPr>
      </a:lvl2pPr>
      <a:lvl3pPr marL="998314" marR="0" indent="-255383"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3pPr>
      <a:lvl4pPr marL="1406264"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4pPr>
      <a:lvl5pPr marL="1777730"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5pPr>
      <a:lvl6pPr marL="214919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6pPr>
      <a:lvl7pPr marL="2520661"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7pPr>
      <a:lvl8pPr marL="289212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8pPr>
      <a:lvl9pPr marL="3263593"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9pPr>
    </p:bodyStyle>
    <p:otherStyle>
      <a:lvl1pPr marL="0" marR="0" indent="0"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1pPr>
      <a:lvl2pPr marL="0" marR="0" indent="457189"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2pPr>
      <a:lvl3pPr marL="0" marR="0" indent="914377"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3pPr>
      <a:lvl4pPr marL="0" marR="0" indent="1371566"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4pPr>
      <a:lvl5pPr marL="0" marR="0" indent="1828754"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5pPr>
      <a:lvl6pPr marL="0" marR="0" indent="2285943"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6pPr>
      <a:lvl7pPr marL="0" marR="0" indent="2743131"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7pPr>
      <a:lvl8pPr marL="0" marR="0" indent="3200320"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8pPr>
      <a:lvl9pPr marL="0" marR="0" indent="3657509" algn="r" defTabSz="914377"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맑은 고딕"/>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umin35@hanyang.ac.kr" TargetMode="External"/><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hyperlink" Target="mailto:slbiog3025@hanyang.ac.kr" TargetMode="External"/><Relationship Id="rId4" Type="http://schemas.openxmlformats.org/officeDocument/2006/relationships/hyperlink" Target="mailto:kkyou123@hanyang.ac.kr"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C825D4-4E72-43DB-9A22-D1B102EEB36A}"/>
              </a:ext>
            </a:extLst>
          </p:cNvPr>
          <p:cNvSpPr>
            <a:spLocks noGrp="1"/>
          </p:cNvSpPr>
          <p:nvPr>
            <p:ph type="title"/>
          </p:nvPr>
        </p:nvSpPr>
        <p:spPr/>
        <p:txBody>
          <a:bodyPr>
            <a:normAutofit/>
          </a:bodyPr>
          <a:lstStyle/>
          <a:p>
            <a:r>
              <a:rPr lang="en-US" altLang="ko-KR" sz="4000" dirty="0"/>
              <a:t>Understanding the Background of Xilinx </a:t>
            </a:r>
            <a:r>
              <a:rPr lang="en-US" altLang="ko-KR" sz="4000" dirty="0" err="1"/>
              <a:t>Alveo</a:t>
            </a:r>
            <a:r>
              <a:rPr lang="en-US" altLang="ko-KR" sz="4000" dirty="0"/>
              <a:t> FPGA Implementation</a:t>
            </a:r>
            <a:endParaRPr lang="ko-KR" altLang="en-US" sz="4000" dirty="0"/>
          </a:p>
        </p:txBody>
      </p:sp>
      <p:sp>
        <p:nvSpPr>
          <p:cNvPr id="3" name="텍스트 개체 틀 2">
            <a:extLst>
              <a:ext uri="{FF2B5EF4-FFF2-40B4-BE49-F238E27FC236}">
                <a16:creationId xmlns:a16="http://schemas.microsoft.com/office/drawing/2014/main" id="{27BA36C9-71D5-4E11-8E8B-DD270C8A89B9}"/>
              </a:ext>
            </a:extLst>
          </p:cNvPr>
          <p:cNvSpPr>
            <a:spLocks noGrp="1"/>
          </p:cNvSpPr>
          <p:nvPr>
            <p:ph type="body" sz="quarter" idx="1"/>
          </p:nvPr>
        </p:nvSpPr>
        <p:spPr/>
        <p:txBody>
          <a:bodyPr>
            <a:normAutofit/>
          </a:bodyPr>
          <a:lstStyle/>
          <a:p>
            <a:r>
              <a:rPr lang="en-US" altLang="ko-KR" sz="2800" dirty="0" err="1"/>
              <a:t>Dongbeom</a:t>
            </a:r>
            <a:r>
              <a:rPr lang="en-US" altLang="ko-KR" sz="2800" dirty="0"/>
              <a:t> Son / </a:t>
            </a:r>
            <a:r>
              <a:rPr lang="en-US" altLang="ko-KR" sz="2800" dirty="0" err="1"/>
              <a:t>Wonbin</a:t>
            </a:r>
            <a:r>
              <a:rPr lang="en-US" altLang="ko-KR" sz="2800" dirty="0"/>
              <a:t> Seo / </a:t>
            </a:r>
            <a:r>
              <a:rPr lang="en-US" altLang="ko-KR" sz="2800" dirty="0" err="1"/>
              <a:t>Sumin</a:t>
            </a:r>
            <a:r>
              <a:rPr lang="en-US" altLang="ko-KR" sz="2800" dirty="0"/>
              <a:t> Lee</a:t>
            </a:r>
          </a:p>
          <a:p>
            <a:r>
              <a:rPr lang="en-US" altLang="ko-KR" sz="1600" dirty="0">
                <a:hlinkClick r:id="rId3"/>
              </a:rPr>
              <a:t>bumin35@hanyang.ac.kr</a:t>
            </a:r>
            <a:r>
              <a:rPr lang="en-US" altLang="ko-KR" sz="1600" dirty="0"/>
              <a:t> / </a:t>
            </a:r>
            <a:r>
              <a:rPr lang="en-US" altLang="ko-KR" sz="1600" dirty="0">
                <a:hlinkClick r:id="rId4"/>
              </a:rPr>
              <a:t>kkyou123@hanyang.ac.kr</a:t>
            </a:r>
            <a:r>
              <a:rPr lang="en-US" altLang="ko-KR" sz="1600" dirty="0"/>
              <a:t> / </a:t>
            </a:r>
            <a:r>
              <a:rPr lang="en-US" altLang="ko-KR" sz="1600" dirty="0">
                <a:hlinkClick r:id="rId5"/>
              </a:rPr>
              <a:t>slbiog3025@hanyang.ac.kr</a:t>
            </a:r>
            <a:endParaRPr lang="en-US" altLang="ko-KR" sz="2000" dirty="0"/>
          </a:p>
          <a:p>
            <a:r>
              <a:rPr lang="en-US" altLang="ko-KR" sz="2000" dirty="0"/>
              <a:t>2023 </a:t>
            </a:r>
            <a:r>
              <a:rPr lang="en-US" altLang="ko-KR" sz="2000" dirty="0" err="1"/>
              <a:t>aiha</a:t>
            </a:r>
            <a:r>
              <a:rPr lang="en-US" altLang="ko-KR" sz="2000" dirty="0"/>
              <a:t>-intern</a:t>
            </a:r>
            <a:endParaRPr lang="ko-KR" altLang="en-US" sz="2000" dirty="0"/>
          </a:p>
        </p:txBody>
      </p:sp>
      <p:sp>
        <p:nvSpPr>
          <p:cNvPr id="4" name="텍스트 개체 틀 3">
            <a:extLst>
              <a:ext uri="{FF2B5EF4-FFF2-40B4-BE49-F238E27FC236}">
                <a16:creationId xmlns:a16="http://schemas.microsoft.com/office/drawing/2014/main" id="{DB4E2EA9-68B3-450D-B960-48AAF0A85035}"/>
              </a:ext>
            </a:extLst>
          </p:cNvPr>
          <p:cNvSpPr>
            <a:spLocks noGrp="1"/>
          </p:cNvSpPr>
          <p:nvPr>
            <p:ph type="body" sz="quarter" idx="10"/>
          </p:nvPr>
        </p:nvSpPr>
        <p:spPr>
          <a:xfrm>
            <a:off x="1066800" y="2561581"/>
            <a:ext cx="10058400" cy="884208"/>
          </a:xfrm>
        </p:spPr>
        <p:txBody>
          <a:bodyPr>
            <a:normAutofit/>
          </a:bodyPr>
          <a:lstStyle/>
          <a:p>
            <a:r>
              <a:rPr lang="en-US" altLang="ko-KR" sz="2800" dirty="0"/>
              <a:t>AIHA-Intern-2023-NPU</a:t>
            </a:r>
          </a:p>
        </p:txBody>
      </p:sp>
    </p:spTree>
    <p:extLst>
      <p:ext uri="{BB962C8B-B14F-4D97-AF65-F5344CB8AC3E}">
        <p14:creationId xmlns:p14="http://schemas.microsoft.com/office/powerpoint/2010/main" val="14823954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marL="0" indent="0">
              <a:buNone/>
            </a:pPr>
            <a:r>
              <a:rPr lang="en-US" altLang="ko-KR" dirty="0"/>
              <a:t>1. </a:t>
            </a:r>
            <a:r>
              <a:rPr lang="en-US" altLang="ko-KR" b="1" dirty="0"/>
              <a:t>FPGA</a:t>
            </a:r>
          </a:p>
          <a:p>
            <a:pPr lvl="1">
              <a:lnSpc>
                <a:spcPct val="150000"/>
              </a:lnSpc>
            </a:pPr>
            <a:r>
              <a:rPr lang="en-US" altLang="ko-KR" dirty="0"/>
              <a:t>FPGA Overview</a:t>
            </a:r>
          </a:p>
          <a:p>
            <a:pPr lvl="1">
              <a:lnSpc>
                <a:spcPct val="150000"/>
              </a:lnSpc>
            </a:pPr>
            <a:r>
              <a:rPr lang="en-US" altLang="ko-KR" dirty="0"/>
              <a:t>FPGA Architecture</a:t>
            </a:r>
          </a:p>
          <a:p>
            <a:pPr lvl="1">
              <a:lnSpc>
                <a:spcPct val="150000"/>
              </a:lnSpc>
            </a:pPr>
            <a:r>
              <a:rPr lang="en-US" altLang="ko-KR" dirty="0"/>
              <a:t>The basic Logic Cells</a:t>
            </a:r>
          </a:p>
          <a:p>
            <a:pPr lvl="1">
              <a:lnSpc>
                <a:spcPct val="150000"/>
              </a:lnSpc>
            </a:pPr>
            <a:r>
              <a:rPr lang="en-US" altLang="ko-KR" dirty="0"/>
              <a:t>Programmable Interconnection</a:t>
            </a:r>
          </a:p>
          <a:p>
            <a:pPr lvl="1">
              <a:lnSpc>
                <a:spcPct val="150000"/>
              </a:lnSpc>
            </a:pPr>
            <a:r>
              <a:rPr lang="en-US" altLang="ko-KR" dirty="0"/>
              <a:t>Block RAM</a:t>
            </a:r>
          </a:p>
          <a:p>
            <a:pPr lvl="1">
              <a:lnSpc>
                <a:spcPct val="150000"/>
              </a:lnSpc>
            </a:pPr>
            <a:r>
              <a:rPr lang="en-US" altLang="ko-KR" dirty="0"/>
              <a:t>DSP Block</a:t>
            </a:r>
          </a:p>
          <a:p>
            <a:pPr lvl="1">
              <a:lnSpc>
                <a:spcPct val="150000"/>
              </a:lnSpc>
            </a:pPr>
            <a:r>
              <a:rPr lang="en-US" altLang="ko-KR" dirty="0"/>
              <a:t>Configurable Logic Block in </a:t>
            </a:r>
            <a:r>
              <a:rPr lang="en-US" altLang="ko-KR" dirty="0" err="1"/>
              <a:t>UltraScale</a:t>
            </a:r>
            <a:r>
              <a:rPr lang="en-US" altLang="ko-KR" dirty="0"/>
              <a:t> Architecture</a:t>
            </a:r>
          </a:p>
          <a:p>
            <a:pPr lvl="1">
              <a:lnSpc>
                <a:spcPct val="150000"/>
              </a:lnSpc>
            </a:pPr>
            <a:r>
              <a:rPr lang="en-US" altLang="ko-KR" dirty="0"/>
              <a:t>Block RAM in </a:t>
            </a:r>
            <a:r>
              <a:rPr lang="en-US" altLang="ko-KR" dirty="0" err="1"/>
              <a:t>UltraScale</a:t>
            </a:r>
            <a:r>
              <a:rPr lang="en-US" altLang="ko-KR" dirty="0"/>
              <a:t> Architecture</a:t>
            </a:r>
          </a:p>
          <a:p>
            <a:pPr lvl="1">
              <a:lnSpc>
                <a:spcPct val="150000"/>
              </a:lnSpc>
            </a:pPr>
            <a:r>
              <a:rPr lang="en-US" altLang="ko-KR" dirty="0"/>
              <a:t>DSP block in </a:t>
            </a:r>
            <a:r>
              <a:rPr lang="en-US" altLang="ko-KR" dirty="0" err="1"/>
              <a:t>UltraScale</a:t>
            </a:r>
            <a:r>
              <a:rPr lang="en-US" altLang="ko-KR" dirty="0"/>
              <a:t> Architecture</a:t>
            </a:r>
          </a:p>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Table of Contents</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a:t>
            </a:fld>
            <a:endParaRPr lang="ko-KR" altLang="en-US"/>
          </a:p>
        </p:txBody>
      </p:sp>
      <p:sp>
        <p:nvSpPr>
          <p:cNvPr id="5" name="텍스트 개체 틀 2">
            <a:extLst>
              <a:ext uri="{FF2B5EF4-FFF2-40B4-BE49-F238E27FC236}">
                <a16:creationId xmlns:a16="http://schemas.microsoft.com/office/drawing/2014/main" id="{A48DB1F8-540A-5DA4-1279-DCDEB9DF1457}"/>
              </a:ext>
            </a:extLst>
          </p:cNvPr>
          <p:cNvSpPr txBox="1">
            <a:spLocks/>
          </p:cNvSpPr>
          <p:nvPr/>
        </p:nvSpPr>
        <p:spPr>
          <a:xfrm>
            <a:off x="6181167" y="1147313"/>
            <a:ext cx="6010833" cy="5029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fontScale="92500" lnSpcReduction="10000"/>
          </a:bodyPr>
          <a:lstStyle>
            <a:lvl1pPr marL="185733" marR="0" indent="-185733" algn="l" defTabSz="742932" rtl="0" latinLnBrk="0">
              <a:lnSpc>
                <a:spcPct val="90000"/>
              </a:lnSpc>
              <a:spcBef>
                <a:spcPts val="800"/>
              </a:spcBef>
              <a:spcAft>
                <a:spcPts val="0"/>
              </a:spcAft>
              <a:buClrTx/>
              <a:buSzPct val="100000"/>
              <a:buFont typeface="Arial"/>
              <a:buChar char="•"/>
              <a:tabLst/>
              <a:defRPr sz="2000" b="0" i="0" u="none" strike="noStrike" cap="none" spc="0" baseline="0">
                <a:solidFill>
                  <a:srgbClr val="000000"/>
                </a:solidFill>
                <a:uFillTx/>
                <a:latin typeface="+mj-lt"/>
                <a:ea typeface="+mj-ea"/>
                <a:cs typeface="+mj-cs"/>
                <a:sym typeface="맑은 고딕"/>
              </a:defRPr>
            </a:lvl1pPr>
            <a:lvl2pPr marL="586525" marR="0" indent="-215060" algn="l" defTabSz="742932" rtl="0" latinLnBrk="0">
              <a:lnSpc>
                <a:spcPct val="90000"/>
              </a:lnSpc>
              <a:spcBef>
                <a:spcPts val="800"/>
              </a:spcBef>
              <a:spcAft>
                <a:spcPts val="0"/>
              </a:spcAft>
              <a:buClrTx/>
              <a:buSzPct val="100000"/>
              <a:buFont typeface="맑은 고딕" panose="020B0503020000020004" pitchFamily="50" charset="-127"/>
              <a:buChar char="–"/>
              <a:tabLst/>
              <a:defRPr sz="1800" b="0" i="0" u="none" strike="noStrike" cap="none" spc="0" baseline="0">
                <a:solidFill>
                  <a:srgbClr val="000000"/>
                </a:solidFill>
                <a:uFillTx/>
                <a:latin typeface="+mj-lt"/>
                <a:ea typeface="+mj-ea"/>
                <a:cs typeface="+mj-cs"/>
                <a:sym typeface="맑은 고딕"/>
              </a:defRPr>
            </a:lvl2pPr>
            <a:lvl3pPr marL="998314" marR="0" indent="-255383"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3pPr>
            <a:lvl4pPr marL="1406264"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4pPr>
            <a:lvl5pPr marL="1777730"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5pPr>
            <a:lvl6pPr marL="214919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6pPr>
            <a:lvl7pPr marL="2520661"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7pPr>
            <a:lvl8pPr marL="289212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8pPr>
            <a:lvl9pPr marL="3263593"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9pPr>
          </a:lstStyle>
          <a:p>
            <a:pPr marL="0" indent="0" hangingPunct="1">
              <a:buFont typeface="Arial"/>
              <a:buNone/>
            </a:pPr>
            <a:r>
              <a:rPr lang="en-US" altLang="ko-KR" dirty="0"/>
              <a:t>2. </a:t>
            </a:r>
            <a:r>
              <a:rPr lang="en-US" altLang="ko-KR" b="1" dirty="0"/>
              <a:t>DDR4 SDRAM</a:t>
            </a:r>
          </a:p>
          <a:p>
            <a:pPr marL="686542" lvl="1" indent="-285750" hangingPunct="1">
              <a:lnSpc>
                <a:spcPct val="150000"/>
              </a:lnSpc>
            </a:pPr>
            <a:r>
              <a:rPr lang="en-US" altLang="ko-KR" dirty="0"/>
              <a:t>Hierarchy</a:t>
            </a:r>
          </a:p>
          <a:p>
            <a:pPr marL="686542" lvl="1" indent="-285750" hangingPunct="1">
              <a:lnSpc>
                <a:spcPct val="150000"/>
              </a:lnSpc>
            </a:pPr>
            <a:r>
              <a:rPr lang="en-US" altLang="ko-KR" dirty="0"/>
              <a:t>DDR4 Memory Organization</a:t>
            </a:r>
          </a:p>
          <a:p>
            <a:pPr marL="686542" lvl="1" indent="-285750" hangingPunct="1">
              <a:lnSpc>
                <a:spcPct val="150000"/>
              </a:lnSpc>
            </a:pPr>
            <a:r>
              <a:rPr lang="en-US" altLang="ko-KR" dirty="0"/>
              <a:t>DRAM sizing &amp; Addressing</a:t>
            </a:r>
          </a:p>
          <a:p>
            <a:pPr marL="686542" lvl="1" indent="-285750" hangingPunct="1">
              <a:lnSpc>
                <a:spcPct val="150000"/>
              </a:lnSpc>
            </a:pPr>
            <a:r>
              <a:rPr lang="en-US" altLang="ko-KR" dirty="0"/>
              <a:t>DDR4 Memory Accessing</a:t>
            </a:r>
          </a:p>
          <a:p>
            <a:pPr marL="686542" lvl="1" indent="-285750" hangingPunct="1">
              <a:lnSpc>
                <a:spcPct val="150000"/>
              </a:lnSpc>
            </a:pPr>
            <a:r>
              <a:rPr lang="en-US" altLang="ko-KR" dirty="0"/>
              <a:t>Micron DDR4 SDRAM</a:t>
            </a:r>
          </a:p>
          <a:p>
            <a:pPr marL="0" indent="0" hangingPunct="1">
              <a:lnSpc>
                <a:spcPct val="150000"/>
              </a:lnSpc>
              <a:buNone/>
            </a:pPr>
            <a:r>
              <a:rPr lang="en-US" altLang="ko-KR" dirty="0"/>
              <a:t>3. </a:t>
            </a:r>
            <a:r>
              <a:rPr lang="en-US" altLang="ko-KR" b="1" dirty="0"/>
              <a:t>HBM DRAM</a:t>
            </a:r>
          </a:p>
          <a:p>
            <a:pPr marL="686542" lvl="1" indent="-285750" hangingPunct="1">
              <a:lnSpc>
                <a:spcPct val="150000"/>
              </a:lnSpc>
            </a:pPr>
            <a:r>
              <a:rPr lang="en-US" altLang="ko-KR" dirty="0"/>
              <a:t>Difference between HBM and other memories</a:t>
            </a:r>
          </a:p>
          <a:p>
            <a:pPr marL="686542" lvl="1" indent="-285750" hangingPunct="1">
              <a:lnSpc>
                <a:spcPct val="150000"/>
              </a:lnSpc>
            </a:pPr>
            <a:r>
              <a:rPr lang="en-US" altLang="ko-KR" dirty="0" err="1"/>
              <a:t>Disadvangates</a:t>
            </a:r>
            <a:endParaRPr lang="en-US" altLang="ko-KR" dirty="0"/>
          </a:p>
          <a:p>
            <a:pPr marL="686542" lvl="1" indent="-285750" hangingPunct="1">
              <a:lnSpc>
                <a:spcPct val="150000"/>
              </a:lnSpc>
            </a:pPr>
            <a:r>
              <a:rPr lang="en-US" altLang="ko-KR" dirty="0"/>
              <a:t>Vertex </a:t>
            </a:r>
            <a:r>
              <a:rPr lang="en-US" altLang="ko-KR" dirty="0" err="1"/>
              <a:t>Ultrascale</a:t>
            </a:r>
            <a:r>
              <a:rPr lang="en-US" altLang="ko-KR" dirty="0"/>
              <a:t>+ HBM</a:t>
            </a:r>
          </a:p>
          <a:p>
            <a:pPr marL="686542" lvl="1" indent="-285750" hangingPunct="1">
              <a:lnSpc>
                <a:spcPct val="150000"/>
              </a:lnSpc>
            </a:pPr>
            <a:r>
              <a:rPr lang="en-US" altLang="ko-KR" dirty="0"/>
              <a:t>Optimizing HBM Memory Controller</a:t>
            </a:r>
          </a:p>
          <a:p>
            <a:pPr marL="371465" lvl="1" indent="0" hangingPunct="1">
              <a:buFont typeface="맑은 고딕" panose="020B0503020000020004" pitchFamily="50" charset="-127"/>
              <a:buNone/>
            </a:pPr>
            <a:endParaRPr lang="en-US" altLang="ko-KR" dirty="0"/>
          </a:p>
          <a:p>
            <a:pPr marL="742931" lvl="2" indent="0" hangingPunct="1">
              <a:buFont typeface="맑은 고딕" panose="020B0503020000020004" pitchFamily="50" charset="-127"/>
              <a:buNone/>
            </a:pPr>
            <a:endParaRPr lang="ko-KR" altLang="en-US" dirty="0"/>
          </a:p>
        </p:txBody>
      </p:sp>
    </p:spTree>
    <p:extLst>
      <p:ext uri="{BB962C8B-B14F-4D97-AF65-F5344CB8AC3E}">
        <p14:creationId xmlns:p14="http://schemas.microsoft.com/office/powerpoint/2010/main" val="391015288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marL="0" indent="0">
              <a:buNone/>
            </a:pPr>
            <a:r>
              <a:rPr lang="en-US" altLang="ko-KR" dirty="0"/>
              <a:t>4. </a:t>
            </a:r>
            <a:r>
              <a:rPr lang="en-US" altLang="ko-KR" b="1" dirty="0"/>
              <a:t>Xilinx </a:t>
            </a:r>
            <a:r>
              <a:rPr lang="en-US" altLang="ko-KR" b="1" dirty="0" err="1"/>
              <a:t>Alveo</a:t>
            </a:r>
            <a:r>
              <a:rPr lang="en-US" altLang="ko-KR" b="1" dirty="0"/>
              <a:t> Card (U250)</a:t>
            </a:r>
          </a:p>
          <a:p>
            <a:pPr lvl="1">
              <a:lnSpc>
                <a:spcPct val="150000"/>
              </a:lnSpc>
            </a:pPr>
            <a:r>
              <a:rPr lang="en-US" altLang="ko-KR" dirty="0"/>
              <a:t>Overview </a:t>
            </a:r>
          </a:p>
          <a:p>
            <a:pPr lvl="1">
              <a:lnSpc>
                <a:spcPct val="150000"/>
              </a:lnSpc>
            </a:pPr>
            <a:r>
              <a:rPr lang="en-US" altLang="ko-KR" dirty="0"/>
              <a:t>Basic </a:t>
            </a:r>
            <a:r>
              <a:rPr lang="en-US" altLang="ko-KR" dirty="0" err="1"/>
              <a:t>Alveo</a:t>
            </a:r>
            <a:r>
              <a:rPr lang="en-US" altLang="ko-KR" dirty="0"/>
              <a:t> Architecture</a:t>
            </a:r>
          </a:p>
          <a:p>
            <a:pPr lvl="1">
              <a:lnSpc>
                <a:spcPct val="150000"/>
              </a:lnSpc>
            </a:pPr>
            <a:r>
              <a:rPr lang="en-US" altLang="ko-KR" dirty="0" err="1"/>
              <a:t>Alveo</a:t>
            </a:r>
            <a:r>
              <a:rPr lang="en-US" altLang="ko-KR" dirty="0"/>
              <a:t> Architecture</a:t>
            </a:r>
          </a:p>
          <a:p>
            <a:pPr lvl="1">
              <a:lnSpc>
                <a:spcPct val="150000"/>
              </a:lnSpc>
            </a:pPr>
            <a:r>
              <a:rPr lang="en-US" altLang="ko-KR" dirty="0"/>
              <a:t>Inside the FPGA (XCU250)</a:t>
            </a:r>
          </a:p>
          <a:p>
            <a:pPr marL="0" indent="0">
              <a:lnSpc>
                <a:spcPct val="150000"/>
              </a:lnSpc>
              <a:buNone/>
            </a:pPr>
            <a:r>
              <a:rPr lang="en-US" altLang="ko-KR" dirty="0"/>
              <a:t>5. </a:t>
            </a:r>
            <a:r>
              <a:rPr lang="en-US" altLang="ko-KR" b="1" dirty="0"/>
              <a:t>Xilinx </a:t>
            </a:r>
            <a:r>
              <a:rPr lang="en-US" altLang="ko-KR" b="1" dirty="0" err="1"/>
              <a:t>Alveo</a:t>
            </a:r>
            <a:r>
              <a:rPr lang="en-US" altLang="ko-KR" b="1" dirty="0"/>
              <a:t> Card (U280)</a:t>
            </a:r>
          </a:p>
          <a:p>
            <a:pPr lvl="1">
              <a:lnSpc>
                <a:spcPct val="150000"/>
              </a:lnSpc>
            </a:pPr>
            <a:r>
              <a:rPr lang="en-US" altLang="ko-KR" dirty="0"/>
              <a:t>Overview</a:t>
            </a:r>
          </a:p>
          <a:p>
            <a:pPr lvl="1">
              <a:lnSpc>
                <a:spcPct val="150000"/>
              </a:lnSpc>
            </a:pPr>
            <a:r>
              <a:rPr lang="en-US" altLang="ko-KR" dirty="0" err="1"/>
              <a:t>Alveo</a:t>
            </a:r>
            <a:r>
              <a:rPr lang="en-US" altLang="ko-KR" dirty="0"/>
              <a:t> Architecture</a:t>
            </a:r>
          </a:p>
          <a:p>
            <a:pPr lvl="1">
              <a:lnSpc>
                <a:spcPct val="150000"/>
              </a:lnSpc>
            </a:pPr>
            <a:r>
              <a:rPr lang="en-US" altLang="ko-KR" dirty="0"/>
              <a:t>Inside the FPGA (XCU280)</a:t>
            </a:r>
          </a:p>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Table of Contents</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a:t>
            </a:fld>
            <a:endParaRPr lang="ko-KR" altLang="en-US"/>
          </a:p>
        </p:txBody>
      </p:sp>
      <p:sp>
        <p:nvSpPr>
          <p:cNvPr id="5" name="텍스트 개체 틀 2">
            <a:extLst>
              <a:ext uri="{FF2B5EF4-FFF2-40B4-BE49-F238E27FC236}">
                <a16:creationId xmlns:a16="http://schemas.microsoft.com/office/drawing/2014/main" id="{A48DB1F8-540A-5DA4-1279-DCDEB9DF1457}"/>
              </a:ext>
            </a:extLst>
          </p:cNvPr>
          <p:cNvSpPr txBox="1">
            <a:spLocks/>
          </p:cNvSpPr>
          <p:nvPr/>
        </p:nvSpPr>
        <p:spPr>
          <a:xfrm>
            <a:off x="6181167" y="1147313"/>
            <a:ext cx="6010833" cy="5029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marL="185733" marR="0" indent="-185733" algn="l" defTabSz="742932" rtl="0" latinLnBrk="0">
              <a:lnSpc>
                <a:spcPct val="90000"/>
              </a:lnSpc>
              <a:spcBef>
                <a:spcPts val="800"/>
              </a:spcBef>
              <a:spcAft>
                <a:spcPts val="0"/>
              </a:spcAft>
              <a:buClrTx/>
              <a:buSzPct val="100000"/>
              <a:buFont typeface="Arial"/>
              <a:buChar char="•"/>
              <a:tabLst/>
              <a:defRPr sz="2000" b="0" i="0" u="none" strike="noStrike" cap="none" spc="0" baseline="0">
                <a:solidFill>
                  <a:srgbClr val="000000"/>
                </a:solidFill>
                <a:uFillTx/>
                <a:latin typeface="+mj-lt"/>
                <a:ea typeface="+mj-ea"/>
                <a:cs typeface="+mj-cs"/>
                <a:sym typeface="맑은 고딕"/>
              </a:defRPr>
            </a:lvl1pPr>
            <a:lvl2pPr marL="586525" marR="0" indent="-215060" algn="l" defTabSz="742932" rtl="0" latinLnBrk="0">
              <a:lnSpc>
                <a:spcPct val="90000"/>
              </a:lnSpc>
              <a:spcBef>
                <a:spcPts val="800"/>
              </a:spcBef>
              <a:spcAft>
                <a:spcPts val="0"/>
              </a:spcAft>
              <a:buClrTx/>
              <a:buSzPct val="100000"/>
              <a:buFont typeface="맑은 고딕" panose="020B0503020000020004" pitchFamily="50" charset="-127"/>
              <a:buChar char="–"/>
              <a:tabLst/>
              <a:defRPr sz="1800" b="0" i="0" u="none" strike="noStrike" cap="none" spc="0" baseline="0">
                <a:solidFill>
                  <a:srgbClr val="000000"/>
                </a:solidFill>
                <a:uFillTx/>
                <a:latin typeface="+mj-lt"/>
                <a:ea typeface="+mj-ea"/>
                <a:cs typeface="+mj-cs"/>
                <a:sym typeface="맑은 고딕"/>
              </a:defRPr>
            </a:lvl2pPr>
            <a:lvl3pPr marL="998314" marR="0" indent="-255383"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3pPr>
            <a:lvl4pPr marL="1406264"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4pPr>
            <a:lvl5pPr marL="1777730"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5pPr>
            <a:lvl6pPr marL="214919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6pPr>
            <a:lvl7pPr marL="2520661"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7pPr>
            <a:lvl8pPr marL="289212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8pPr>
            <a:lvl9pPr marL="3263593"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9pPr>
          </a:lstStyle>
          <a:p>
            <a:pPr marL="0" indent="0" hangingPunct="1">
              <a:buFont typeface="Arial"/>
              <a:buNone/>
            </a:pPr>
            <a:r>
              <a:rPr lang="en-US" altLang="ko-KR" dirty="0"/>
              <a:t>6. </a:t>
            </a:r>
            <a:r>
              <a:rPr lang="en-US" altLang="ko-KR" b="1" dirty="0"/>
              <a:t>PCIe</a:t>
            </a:r>
          </a:p>
          <a:p>
            <a:pPr marL="686542" lvl="1" indent="-285750" hangingPunct="1">
              <a:lnSpc>
                <a:spcPct val="150000"/>
              </a:lnSpc>
            </a:pPr>
            <a:r>
              <a:rPr lang="en-US" altLang="ko-KR" dirty="0"/>
              <a:t>Overview</a:t>
            </a:r>
          </a:p>
          <a:p>
            <a:pPr marL="686542" lvl="1" indent="-285750" hangingPunct="1">
              <a:lnSpc>
                <a:spcPct val="150000"/>
              </a:lnSpc>
            </a:pPr>
            <a:r>
              <a:rPr lang="en-US" altLang="ko-KR" dirty="0"/>
              <a:t>PCI-e Layer</a:t>
            </a:r>
          </a:p>
          <a:p>
            <a:pPr marL="686542" lvl="1" indent="-285750" hangingPunct="1">
              <a:lnSpc>
                <a:spcPct val="150000"/>
              </a:lnSpc>
            </a:pPr>
            <a:r>
              <a:rPr lang="en-US" altLang="ko-KR" dirty="0"/>
              <a:t>PCI-e topology</a:t>
            </a:r>
          </a:p>
          <a:p>
            <a:pPr marL="686542" lvl="1" indent="-285750" hangingPunct="1">
              <a:lnSpc>
                <a:spcPct val="150000"/>
              </a:lnSpc>
            </a:pPr>
            <a:r>
              <a:rPr lang="en-US" altLang="ko-KR" dirty="0"/>
              <a:t>CCIX</a:t>
            </a:r>
          </a:p>
          <a:p>
            <a:pPr marL="0" indent="0" hangingPunct="1">
              <a:lnSpc>
                <a:spcPct val="150000"/>
              </a:lnSpc>
              <a:buNone/>
            </a:pPr>
            <a:endParaRPr lang="en-US" altLang="ko-KR" dirty="0"/>
          </a:p>
          <a:p>
            <a:pPr marL="0" indent="0" hangingPunct="1">
              <a:lnSpc>
                <a:spcPct val="150000"/>
              </a:lnSpc>
              <a:buNone/>
            </a:pPr>
            <a:r>
              <a:rPr lang="en-US" altLang="ko-KR" dirty="0"/>
              <a:t>7. </a:t>
            </a:r>
            <a:r>
              <a:rPr lang="en-US" altLang="ko-KR" b="1" dirty="0"/>
              <a:t>Vitis HLS</a:t>
            </a:r>
          </a:p>
          <a:p>
            <a:pPr lvl="1" hangingPunct="1"/>
            <a:r>
              <a:rPr lang="en-US" altLang="ko-KR" dirty="0"/>
              <a:t> Overview</a:t>
            </a:r>
          </a:p>
          <a:p>
            <a:pPr lvl="1" hangingPunct="1"/>
            <a:r>
              <a:rPr lang="en-US" altLang="ko-KR" dirty="0"/>
              <a:t> Re-Architecting the Design Code</a:t>
            </a:r>
          </a:p>
          <a:p>
            <a:pPr marL="742931" lvl="2" indent="0" hangingPunct="1">
              <a:buFont typeface="맑은 고딕" panose="020B0503020000020004" pitchFamily="50" charset="-127"/>
              <a:buNone/>
            </a:pPr>
            <a:endParaRPr lang="ko-KR" altLang="en-US" dirty="0"/>
          </a:p>
        </p:txBody>
      </p:sp>
    </p:spTree>
    <p:extLst>
      <p:ext uri="{BB962C8B-B14F-4D97-AF65-F5344CB8AC3E}">
        <p14:creationId xmlns:p14="http://schemas.microsoft.com/office/powerpoint/2010/main" val="305108064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5327277" y="3106917"/>
            <a:ext cx="1537445" cy="644166"/>
          </a:xfrm>
        </p:spPr>
        <p:txBody>
          <a:bodyPr>
            <a:normAutofit/>
          </a:bodyPr>
          <a:lstStyle/>
          <a:p>
            <a:r>
              <a:rPr lang="en-US" altLang="ko-KR" sz="4000" dirty="0"/>
              <a:t>FPGA</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a:t>
            </a:fld>
            <a:endParaRPr lang="ko-KR" altLang="en-US"/>
          </a:p>
        </p:txBody>
      </p:sp>
    </p:spTree>
    <p:extLst>
      <p:ext uri="{BB962C8B-B14F-4D97-AF65-F5344CB8AC3E}">
        <p14:creationId xmlns:p14="http://schemas.microsoft.com/office/powerpoint/2010/main" val="92150785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a:t>FPGA overview</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10515601" cy="5159046"/>
          </a:xfrm>
        </p:spPr>
        <p:txBody>
          <a:bodyPr lIns="45719" tIns="45720" rIns="45719" bIns="45720" anchor="t">
            <a:normAutofit/>
          </a:bodyPr>
          <a:lstStyle/>
          <a:p>
            <a:pPr marL="185420" indent="-185420"/>
            <a:r>
              <a:rPr lang="en-US" altLang="ko-KR" dirty="0"/>
              <a:t>Field-Programmable gate arrays</a:t>
            </a:r>
          </a:p>
          <a:p>
            <a:pPr marL="586105" lvl="1" indent="-214630">
              <a:buFont typeface="맑은 고딕"/>
              <a:buChar char="–"/>
            </a:pPr>
            <a:r>
              <a:rPr lang="en-US" altLang="ko-KR" dirty="0">
                <a:latin typeface="맑은 고딕"/>
                <a:ea typeface="맑은 고딕"/>
              </a:rPr>
              <a:t>Programmable computer chip</a:t>
            </a:r>
          </a:p>
          <a:p>
            <a:pPr marL="586105" lvl="1" indent="-214630"/>
            <a:r>
              <a:rPr lang="en-US" altLang="ko-KR" dirty="0">
                <a:latin typeface="맑은 고딕"/>
                <a:ea typeface="맑은 고딕"/>
              </a:rPr>
              <a:t>Can be programmed to implement any digital hardware circuit</a:t>
            </a:r>
          </a:p>
          <a:p>
            <a:pPr marL="586105" lvl="1" indent="-214630"/>
            <a:endParaRPr lang="en-US" altLang="ko-KR" dirty="0">
              <a:latin typeface="맑은 고딕"/>
              <a:ea typeface="맑은 고딕"/>
            </a:endParaRPr>
          </a:p>
          <a:p>
            <a:pPr marL="185420" indent="-185420">
              <a:buFont typeface="Arial" panose="020B0503020000020004" pitchFamily="50" charset="-127"/>
              <a:buChar char="•"/>
            </a:pPr>
            <a:r>
              <a:rPr lang="en-US" altLang="ko-KR" dirty="0">
                <a:latin typeface="Malgun Gothic"/>
                <a:ea typeface="Malgun Gothic"/>
              </a:rPr>
              <a:t>Comparison to custom ASIC</a:t>
            </a:r>
          </a:p>
          <a:p>
            <a:pPr marL="586105" lvl="1" indent="-214630"/>
            <a:r>
              <a:rPr lang="en-US" altLang="ko-KR" dirty="0">
                <a:latin typeface="Malgun Gothic"/>
                <a:ea typeface="Malgun Gothic"/>
              </a:rPr>
              <a:t>Lower non-recurring engineering cost and shorter time-to-market</a:t>
            </a:r>
          </a:p>
          <a:p>
            <a:pPr marL="586105" lvl="1" indent="-214630"/>
            <a:r>
              <a:rPr lang="en-US" altLang="ko-KR" dirty="0">
                <a:latin typeface="Malgun Gothic"/>
                <a:ea typeface="Malgun Gothic"/>
              </a:rPr>
              <a:t>Allows hardware update</a:t>
            </a:r>
          </a:p>
          <a:p>
            <a:pPr marL="586105" lvl="1" indent="-214630"/>
            <a:r>
              <a:rPr lang="en-US" altLang="ko-KR" dirty="0">
                <a:latin typeface="Malgun Gothic"/>
                <a:ea typeface="Malgun Gothic"/>
              </a:rPr>
              <a:t>Increased Area and cost</a:t>
            </a:r>
          </a:p>
          <a:p>
            <a:pPr marL="185420" indent="-185420">
              <a:buFont typeface="Arial" panose="020B0503020000020004" pitchFamily="50" charset="-127"/>
              <a:buChar char="•"/>
            </a:pPr>
            <a:r>
              <a:rPr lang="ko-KR" altLang="en-US" dirty="0" err="1">
                <a:latin typeface="Arial"/>
                <a:ea typeface="Malgun Gothic"/>
              </a:rPr>
              <a:t>Usage</a:t>
            </a:r>
            <a:r>
              <a:rPr lang="ko-KR" altLang="en-US" dirty="0">
                <a:latin typeface="Arial"/>
                <a:ea typeface="Malgun Gothic"/>
              </a:rPr>
              <a:t> </a:t>
            </a:r>
          </a:p>
          <a:p>
            <a:pPr marL="586105" lvl="1" indent="-214630"/>
            <a:r>
              <a:rPr lang="en-US" altLang="ko-KR" dirty="0">
                <a:latin typeface="Arial"/>
                <a:ea typeface="Malgun Gothic"/>
              </a:rPr>
              <a:t>Medium and small volume designs</a:t>
            </a:r>
          </a:p>
          <a:p>
            <a:pPr marL="586105" lvl="1" indent="-214630"/>
            <a:r>
              <a:rPr lang="en-US" altLang="ko-KR" dirty="0">
                <a:latin typeface="Arial"/>
                <a:ea typeface="Malgun Gothic"/>
              </a:rPr>
              <a:t>ASIC-prototyping</a:t>
            </a:r>
          </a:p>
          <a:p>
            <a:pPr marL="586105" lvl="1" indent="-214630"/>
            <a:r>
              <a:rPr lang="en-US" altLang="ko-KR" dirty="0">
                <a:latin typeface="Arial"/>
                <a:ea typeface="Malgun Gothic"/>
              </a:rPr>
              <a:t>High-frequency trading</a:t>
            </a:r>
          </a:p>
          <a:p>
            <a:pPr marL="586105" lvl="1" indent="-214630"/>
            <a:r>
              <a:rPr lang="en-US" altLang="ko-KR" dirty="0">
                <a:latin typeface="Arial"/>
                <a:ea typeface="Malgun Gothic"/>
              </a:rPr>
              <a:t>Wireless trading</a:t>
            </a:r>
          </a:p>
          <a:p>
            <a:pPr marL="586105" lvl="1" indent="-214630"/>
            <a:r>
              <a:rPr lang="en-US" altLang="ko-KR" dirty="0">
                <a:latin typeface="Arial"/>
                <a:ea typeface="Malgun Gothic"/>
              </a:rPr>
              <a:t>Embedded signal processing</a:t>
            </a:r>
          </a:p>
          <a:p>
            <a:pPr marL="185420" indent="-185420">
              <a:buFont typeface="Arial" panose="020B0503020000020004" pitchFamily="50" charset="-127"/>
              <a:buChar char="•"/>
            </a:pPr>
            <a:endParaRPr lang="en-US" dirty="0">
              <a:latin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a:t>
            </a:fld>
            <a:endParaRPr lang="ko-KR" altLang="en-US"/>
          </a:p>
        </p:txBody>
      </p:sp>
    </p:spTree>
    <p:extLst>
      <p:ext uri="{BB962C8B-B14F-4D97-AF65-F5344CB8AC3E}">
        <p14:creationId xmlns:p14="http://schemas.microsoft.com/office/powerpoint/2010/main" val="5604139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FPGA architecture </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FPGA key elements</a:t>
            </a:r>
          </a:p>
          <a:p>
            <a:pPr marL="586105" lvl="1" indent="-214630"/>
            <a:r>
              <a:rPr lang="en-US" altLang="ko-KR" dirty="0"/>
              <a:t>Basic Logic Cells</a:t>
            </a:r>
          </a:p>
          <a:p>
            <a:pPr marL="586105" lvl="1" indent="-214630"/>
            <a:r>
              <a:rPr lang="en-US" altLang="ko-KR" dirty="0">
                <a:latin typeface="맑은 고딕"/>
                <a:ea typeface="맑은 고딕"/>
              </a:rPr>
              <a:t>Programmable interconnection</a:t>
            </a:r>
          </a:p>
          <a:p>
            <a:pPr marL="586105" lvl="1" indent="-214630"/>
            <a:r>
              <a:rPr lang="en-US" altLang="ko-KR" dirty="0">
                <a:latin typeface="맑은 고딕"/>
                <a:ea typeface="맑은 고딕"/>
              </a:rPr>
              <a:t>Configuration technology</a:t>
            </a:r>
          </a:p>
          <a:p>
            <a:pPr marL="998220" lvl="2" indent="-255270"/>
            <a:r>
              <a:rPr lang="en-US" altLang="ko-KR" dirty="0">
                <a:latin typeface="맑은 고딕"/>
                <a:ea typeface="맑은 고딕"/>
              </a:rPr>
              <a:t>SRAM configuration cell </a:t>
            </a:r>
          </a:p>
          <a:p>
            <a:pPr marL="586105" lvl="1" indent="-214630"/>
            <a:r>
              <a:rPr lang="en-US" altLang="ko-KR" dirty="0">
                <a:latin typeface="맑은 고딕"/>
                <a:ea typeface="맑은 고딕"/>
              </a:rPr>
              <a:t>Programmable IO</a:t>
            </a:r>
          </a:p>
          <a:p>
            <a:pPr marL="998220" lvl="2" indent="-255270"/>
            <a:r>
              <a:rPr lang="en-US" altLang="ko-KR" dirty="0">
                <a:latin typeface="맑은 고딕"/>
                <a:ea typeface="맑은 고딕"/>
              </a:rPr>
              <a:t>Possible to communicate with very wide variety of other devices</a:t>
            </a:r>
          </a:p>
          <a:p>
            <a:pPr marL="586105" lvl="1" indent="-214630"/>
            <a:r>
              <a:rPr lang="en-US" altLang="ko-KR" dirty="0">
                <a:latin typeface="맑은 고딕"/>
                <a:ea typeface="맑은 고딕"/>
              </a:rPr>
              <a:t>Software to design and Program FPGA</a:t>
            </a:r>
          </a:p>
          <a:p>
            <a:pPr marL="998220" lvl="2" indent="-255270"/>
            <a:r>
              <a:rPr lang="en-US" altLang="ko-KR" dirty="0">
                <a:latin typeface="맑은 고딕"/>
                <a:ea typeface="맑은 고딕"/>
              </a:rPr>
              <a:t>User describe desired function with hardware description language(HDL) and compiled using special software to program FPGA's configuration SRAM cells </a:t>
            </a:r>
          </a:p>
          <a:p>
            <a:pPr marL="185420" indent="-185420">
              <a:buFont typeface="Arial" panose="020B0503020000020004" pitchFamily="50" charset="-127"/>
              <a:buChar char="•"/>
            </a:pPr>
            <a:r>
              <a:rPr lang="en-US" altLang="ko-KR" dirty="0">
                <a:latin typeface="Malgun Gothic"/>
                <a:ea typeface="Malgun Gothic"/>
              </a:rPr>
              <a:t> Advanced features</a:t>
            </a:r>
          </a:p>
          <a:p>
            <a:pPr marL="586105" lvl="1" indent="-214630"/>
            <a:r>
              <a:rPr lang="en-US" altLang="ko-KR" dirty="0">
                <a:latin typeface="Malgun Gothic"/>
                <a:ea typeface="Malgun Gothic"/>
              </a:rPr>
              <a:t>BRAM</a:t>
            </a:r>
          </a:p>
          <a:p>
            <a:pPr marL="586105" lvl="1" indent="-214630"/>
            <a:r>
              <a:rPr lang="en-US" altLang="ko-KR" dirty="0">
                <a:latin typeface="Malgun Gothic"/>
                <a:ea typeface="Malgun Gothic"/>
              </a:rPr>
              <a:t>DSP Block</a:t>
            </a:r>
          </a:p>
          <a:p>
            <a:pPr marL="185420" indent="-185420">
              <a:buFont typeface="Arial" panose="020B0503020000020004" pitchFamily="50" charset="-127"/>
              <a:buChar char="•"/>
            </a:pPr>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latin typeface="맑은 고딕"/>
              <a:ea typeface="맑은 고딕"/>
            </a:endParaRPr>
          </a:p>
          <a:p>
            <a:pPr marL="586105" lvl="1" indent="-214630"/>
            <a:endParaRPr lang="en-US" altLang="ko-KR">
              <a:latin typeface="맑은 고딕"/>
              <a:ea typeface="맑은 고딕"/>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a:t>
            </a:fld>
            <a:endParaRPr lang="ko-KR" altLang="en-US"/>
          </a:p>
        </p:txBody>
      </p:sp>
    </p:spTree>
    <p:extLst>
      <p:ext uri="{BB962C8B-B14F-4D97-AF65-F5344CB8AC3E}">
        <p14:creationId xmlns:p14="http://schemas.microsoft.com/office/powerpoint/2010/main" val="139723252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The basic logic cells</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Configurable logic block</a:t>
            </a:r>
          </a:p>
          <a:p>
            <a:pPr marL="586105" lvl="1" indent="-214630"/>
            <a:r>
              <a:rPr lang="en-US" dirty="0">
                <a:latin typeface="Malgun Gothic"/>
                <a:ea typeface="Malgun Gothic"/>
              </a:rPr>
              <a:t>Main resource for implementing general-purpose combinational and sequential circuits</a:t>
            </a:r>
            <a:endParaRPr lang="en-US" altLang="ko-KR" dirty="0"/>
          </a:p>
          <a:p>
            <a:pPr marL="586105" lvl="1" indent="-214630"/>
            <a:r>
              <a:rPr lang="en-US" altLang="ko-KR" dirty="0"/>
              <a:t>Logic elements grouped together in a slice</a:t>
            </a:r>
          </a:p>
          <a:p>
            <a:pPr marL="586105" lvl="1" indent="-214630"/>
            <a:r>
              <a:rPr lang="en-US" altLang="ko-KR" dirty="0">
                <a:latin typeface="맑은 고딕"/>
                <a:ea typeface="맑은 고딕"/>
              </a:rPr>
              <a:t>Interconnect routing resources to connect the logic elements</a:t>
            </a:r>
          </a:p>
          <a:p>
            <a:pPr marL="586105" lvl="1" indent="-214630"/>
            <a:endParaRPr lang="en-US" altLang="ko-KR" dirty="0">
              <a:latin typeface="맑은 고딕"/>
              <a:ea typeface="맑은 고딕"/>
            </a:endParaRPr>
          </a:p>
          <a:p>
            <a:pPr marL="185420" indent="-185420">
              <a:buFont typeface="Arial" panose="020B0503020000020004" pitchFamily="50" charset="-127"/>
              <a:buChar char="•"/>
            </a:pPr>
            <a:r>
              <a:rPr lang="en-US" altLang="ko-KR" dirty="0">
                <a:latin typeface="Malgun Gothic"/>
                <a:ea typeface="Malgun Gothic"/>
              </a:rPr>
              <a:t>Slice</a:t>
            </a:r>
          </a:p>
          <a:p>
            <a:pPr marL="586105" lvl="1" indent="-214630"/>
            <a:r>
              <a:rPr lang="en-US" altLang="ko-KR" dirty="0">
                <a:latin typeface="Malgun Gothic"/>
                <a:ea typeface="Malgun Gothic"/>
              </a:rPr>
              <a:t>Smallest programmable unit of FPGA</a:t>
            </a:r>
          </a:p>
          <a:p>
            <a:pPr marL="586105" lvl="1" indent="-214630"/>
            <a:r>
              <a:rPr lang="en-US" altLang="ko-KR" dirty="0">
                <a:latin typeface="Malgun Gothic"/>
                <a:ea typeface="Malgun Gothic"/>
              </a:rPr>
              <a:t>Contains LUTs, FFs, Multiplexers, Carry Logic and others</a:t>
            </a:r>
          </a:p>
          <a:p>
            <a:pPr marL="185420" indent="-185420">
              <a:buFont typeface="Arial" panose="020B0503020000020004" pitchFamily="50" charset="-127"/>
              <a:buChar char="•"/>
            </a:pPr>
            <a:endParaRPr lang="ko-KR" altLang="en-US" dirty="0">
              <a:latin typeface="Arial"/>
              <a:ea typeface="Malgun Gothic"/>
            </a:endParaRPr>
          </a:p>
          <a:p>
            <a:pPr marL="185420" indent="-185420">
              <a:buFont typeface="Arial" panose="020B0503020000020004" pitchFamily="50" charset="-127"/>
              <a:buChar char="•"/>
            </a:pPr>
            <a:r>
              <a:rPr lang="ko-KR" altLang="en-US" dirty="0" err="1">
                <a:latin typeface="Arial"/>
                <a:ea typeface="Malgun Gothic"/>
              </a:rPr>
              <a:t>Look-Up</a:t>
            </a:r>
            <a:r>
              <a:rPr lang="ko-KR" altLang="en-US" dirty="0">
                <a:latin typeface="Arial"/>
                <a:ea typeface="Malgun Gothic"/>
              </a:rPr>
              <a:t> </a:t>
            </a:r>
            <a:r>
              <a:rPr lang="ko-KR" altLang="en-US" dirty="0" err="1">
                <a:latin typeface="Arial"/>
                <a:ea typeface="Malgun Gothic"/>
              </a:rPr>
              <a:t>Tables</a:t>
            </a:r>
            <a:endParaRPr lang="ko-KR" altLang="en-US" dirty="0">
              <a:latin typeface="Arial"/>
              <a:ea typeface="Malgun Gothic"/>
            </a:endParaRPr>
          </a:p>
          <a:p>
            <a:pPr marL="586105" lvl="1" indent="-214630"/>
            <a:r>
              <a:rPr lang="ko-KR" altLang="en-US" dirty="0" err="1">
                <a:latin typeface="Arial"/>
                <a:ea typeface="Malgun Gothic"/>
              </a:rPr>
              <a:t>Fundamental</a:t>
            </a:r>
            <a:r>
              <a:rPr lang="ko-KR" altLang="en-US" dirty="0">
                <a:latin typeface="Arial"/>
                <a:ea typeface="Malgun Gothic"/>
              </a:rPr>
              <a:t> </a:t>
            </a:r>
            <a:r>
              <a:rPr lang="ko-KR" altLang="en-US" dirty="0" err="1">
                <a:latin typeface="Arial"/>
                <a:ea typeface="Malgun Gothic"/>
              </a:rPr>
              <a:t>logic</a:t>
            </a:r>
            <a:r>
              <a:rPr lang="ko-KR" altLang="en-US" dirty="0">
                <a:latin typeface="Arial"/>
                <a:ea typeface="Malgun Gothic"/>
              </a:rPr>
              <a:t> </a:t>
            </a:r>
            <a:r>
              <a:rPr lang="ko-KR" altLang="en-US" dirty="0" err="1">
                <a:latin typeface="Arial"/>
                <a:ea typeface="Malgun Gothic"/>
              </a:rPr>
              <a:t>element</a:t>
            </a:r>
            <a:r>
              <a:rPr lang="ko-KR" altLang="en-US" dirty="0">
                <a:latin typeface="Arial"/>
                <a:ea typeface="Malgun Gothic"/>
              </a:rPr>
              <a:t> </a:t>
            </a:r>
            <a:r>
              <a:rPr lang="ko-KR" altLang="en-US" dirty="0" err="1">
                <a:latin typeface="Arial"/>
                <a:ea typeface="Malgun Gothic"/>
              </a:rPr>
              <a:t>in</a:t>
            </a:r>
            <a:r>
              <a:rPr lang="ko-KR" altLang="en-US" dirty="0">
                <a:latin typeface="Arial"/>
                <a:ea typeface="Malgun Gothic"/>
              </a:rPr>
              <a:t> FPGA</a:t>
            </a:r>
          </a:p>
          <a:p>
            <a:pPr marL="586105" lvl="1" indent="-214630"/>
            <a:r>
              <a:rPr lang="ko-KR" altLang="en-US" dirty="0">
                <a:latin typeface="Arial"/>
                <a:ea typeface="Malgun Gothic"/>
              </a:rPr>
              <a:t>All </a:t>
            </a:r>
            <a:r>
              <a:rPr lang="ko-KR" altLang="en-US" dirty="0" err="1">
                <a:latin typeface="Arial"/>
                <a:ea typeface="Malgun Gothic"/>
              </a:rPr>
              <a:t>possible</a:t>
            </a:r>
            <a:r>
              <a:rPr lang="ko-KR" altLang="en-US" dirty="0">
                <a:latin typeface="Arial"/>
                <a:ea typeface="Malgun Gothic"/>
              </a:rPr>
              <a:t> </a:t>
            </a:r>
            <a:r>
              <a:rPr lang="ko-KR" altLang="en-US" dirty="0" err="1">
                <a:latin typeface="Arial"/>
                <a:ea typeface="Malgun Gothic"/>
              </a:rPr>
              <a:t>outputs</a:t>
            </a:r>
            <a:r>
              <a:rPr lang="ko-KR" altLang="en-US" dirty="0">
                <a:latin typeface="Arial"/>
                <a:ea typeface="Malgun Gothic"/>
              </a:rPr>
              <a:t> </a:t>
            </a:r>
            <a:r>
              <a:rPr lang="ko-KR" altLang="en-US" dirty="0" err="1">
                <a:latin typeface="Arial"/>
                <a:ea typeface="Malgun Gothic"/>
              </a:rPr>
              <a:t>are</a:t>
            </a:r>
            <a:r>
              <a:rPr lang="ko-KR" altLang="en-US" dirty="0">
                <a:latin typeface="Arial"/>
                <a:ea typeface="Malgun Gothic"/>
              </a:rPr>
              <a:t> </a:t>
            </a:r>
            <a:r>
              <a:rPr lang="ko-KR" altLang="en-US" dirty="0" err="1">
                <a:latin typeface="Arial"/>
                <a:ea typeface="Malgun Gothic"/>
              </a:rPr>
              <a:t>configured</a:t>
            </a:r>
            <a:r>
              <a:rPr lang="ko-KR" altLang="en-US" dirty="0">
                <a:latin typeface="Arial"/>
                <a:ea typeface="Malgun Gothic"/>
              </a:rPr>
              <a:t> </a:t>
            </a:r>
            <a:r>
              <a:rPr lang="ko-KR" altLang="en-US" dirty="0" err="1">
                <a:latin typeface="Arial"/>
                <a:ea typeface="Malgun Gothic"/>
              </a:rPr>
              <a:t>in</a:t>
            </a:r>
            <a:r>
              <a:rPr lang="ko-KR" altLang="en-US" dirty="0">
                <a:latin typeface="Arial"/>
                <a:ea typeface="Malgun Gothic"/>
              </a:rPr>
              <a:t> SRAM, </a:t>
            </a:r>
            <a:r>
              <a:rPr lang="ko-KR" altLang="en-US" dirty="0" err="1">
                <a:latin typeface="Arial"/>
                <a:ea typeface="Malgun Gothic"/>
              </a:rPr>
              <a:t>selected</a:t>
            </a:r>
            <a:r>
              <a:rPr lang="ko-KR" altLang="en-US" dirty="0">
                <a:latin typeface="Arial"/>
                <a:ea typeface="Malgun Gothic"/>
              </a:rPr>
              <a:t> </a:t>
            </a:r>
            <a:r>
              <a:rPr lang="ko-KR" altLang="en-US" dirty="0" err="1">
                <a:latin typeface="Arial"/>
                <a:ea typeface="Malgun Gothic"/>
              </a:rPr>
              <a:t>by</a:t>
            </a:r>
            <a:r>
              <a:rPr lang="ko-KR" altLang="en-US" dirty="0">
                <a:latin typeface="Arial"/>
                <a:ea typeface="Malgun Gothic"/>
              </a:rPr>
              <a:t> </a:t>
            </a:r>
            <a:r>
              <a:rPr lang="ko-KR" altLang="en-US" dirty="0" err="1">
                <a:latin typeface="Arial"/>
                <a:ea typeface="Malgun Gothic"/>
              </a:rPr>
              <a:t>Multiplexer</a:t>
            </a:r>
            <a:endParaRPr lang="ko-KR" altLang="en-US" dirty="0">
              <a:latin typeface="Arial"/>
              <a:ea typeface="Malgun Gothic"/>
            </a:endParaRPr>
          </a:p>
          <a:p>
            <a:pPr marL="586105" lvl="1" indent="-214630"/>
            <a:r>
              <a:rPr lang="ko-KR" altLang="en-US" dirty="0">
                <a:latin typeface="Arial"/>
                <a:ea typeface="Malgun Gothic"/>
              </a:rPr>
              <a:t>K-</a:t>
            </a:r>
            <a:r>
              <a:rPr lang="ko-KR" altLang="en-US" dirty="0" err="1">
                <a:latin typeface="Arial"/>
                <a:ea typeface="Malgun Gothic"/>
              </a:rPr>
              <a:t>input</a:t>
            </a:r>
            <a:r>
              <a:rPr lang="ko-KR" altLang="en-US" dirty="0">
                <a:latin typeface="Arial"/>
                <a:ea typeface="Malgun Gothic"/>
              </a:rPr>
              <a:t> LUT </a:t>
            </a:r>
            <a:r>
              <a:rPr lang="ko-KR" altLang="en-US" dirty="0" err="1">
                <a:latin typeface="Arial"/>
                <a:ea typeface="Malgun Gothic"/>
              </a:rPr>
              <a:t>can</a:t>
            </a:r>
            <a:r>
              <a:rPr lang="ko-KR" altLang="en-US" dirty="0">
                <a:latin typeface="Arial"/>
                <a:ea typeface="Malgun Gothic"/>
              </a:rPr>
              <a:t> </a:t>
            </a:r>
            <a:r>
              <a:rPr lang="ko-KR" altLang="en-US" dirty="0" err="1">
                <a:latin typeface="Arial"/>
                <a:ea typeface="Malgun Gothic"/>
              </a:rPr>
              <a:t>implement</a:t>
            </a:r>
            <a:r>
              <a:rPr lang="ko-KR" altLang="en-US" dirty="0">
                <a:latin typeface="Arial"/>
                <a:ea typeface="Malgun Gothic"/>
              </a:rPr>
              <a:t> </a:t>
            </a:r>
            <a:r>
              <a:rPr lang="ko-KR" altLang="en-US" dirty="0" err="1">
                <a:latin typeface="Arial"/>
                <a:ea typeface="Malgun Gothic"/>
              </a:rPr>
              <a:t>any</a:t>
            </a:r>
            <a:r>
              <a:rPr lang="ko-KR" altLang="en-US" dirty="0">
                <a:latin typeface="Arial"/>
                <a:ea typeface="Malgun Gothic"/>
              </a:rPr>
              <a:t> K-</a:t>
            </a:r>
            <a:r>
              <a:rPr lang="ko-KR" altLang="en-US" dirty="0" err="1">
                <a:latin typeface="Arial"/>
                <a:ea typeface="Malgun Gothic"/>
              </a:rPr>
              <a:t>input</a:t>
            </a:r>
            <a:r>
              <a:rPr lang="ko-KR" altLang="en-US" dirty="0">
                <a:latin typeface="Arial"/>
                <a:ea typeface="Malgun Gothic"/>
              </a:rPr>
              <a:t> </a:t>
            </a:r>
            <a:r>
              <a:rPr lang="ko-KR" altLang="en-US" dirty="0" err="1">
                <a:latin typeface="Arial"/>
                <a:ea typeface="Malgun Gothic"/>
              </a:rPr>
              <a:t>Boolean</a:t>
            </a:r>
            <a:r>
              <a:rPr lang="ko-KR" altLang="en-US" dirty="0">
                <a:latin typeface="Arial"/>
                <a:ea typeface="Malgun Gothic"/>
              </a:rPr>
              <a:t> </a:t>
            </a:r>
            <a:r>
              <a:rPr lang="ko-KR" altLang="en-US" dirty="0" err="1">
                <a:latin typeface="Arial"/>
                <a:ea typeface="Malgun Gothic"/>
              </a:rPr>
              <a:t>function</a:t>
            </a:r>
            <a:r>
              <a:rPr lang="ko-KR" altLang="en-US" dirty="0">
                <a:latin typeface="Arial"/>
                <a:ea typeface="Malgun Gothic"/>
              </a:rPr>
              <a:t> </a:t>
            </a:r>
            <a:r>
              <a:rPr lang="ko-KR" altLang="en-US" dirty="0" err="1">
                <a:latin typeface="Arial"/>
                <a:ea typeface="Malgun Gothic"/>
              </a:rPr>
              <a:t>by</a:t>
            </a:r>
            <a:r>
              <a:rPr lang="ko-KR" altLang="en-US" dirty="0">
                <a:latin typeface="Arial"/>
                <a:ea typeface="Malgun Gothic"/>
              </a:rPr>
              <a:t> </a:t>
            </a:r>
            <a:r>
              <a:rPr lang="ko-KR" altLang="en-US" dirty="0" err="1">
                <a:latin typeface="Arial"/>
                <a:ea typeface="Malgun Gothic"/>
              </a:rPr>
              <a:t>storing</a:t>
            </a:r>
            <a:r>
              <a:rPr lang="ko-KR" altLang="en-US" dirty="0">
                <a:latin typeface="Arial"/>
                <a:ea typeface="Malgun Gothic"/>
              </a:rPr>
              <a:t> </a:t>
            </a:r>
            <a:r>
              <a:rPr lang="ko-KR" altLang="en-US" dirty="0" err="1">
                <a:latin typeface="Arial"/>
                <a:ea typeface="Malgun Gothic"/>
              </a:rPr>
              <a:t>truth</a:t>
            </a:r>
            <a:r>
              <a:rPr lang="ko-KR" altLang="en-US" dirty="0">
                <a:latin typeface="Arial"/>
                <a:ea typeface="Malgun Gothic"/>
              </a:rPr>
              <a:t> </a:t>
            </a:r>
            <a:r>
              <a:rPr lang="ko-KR" altLang="en-US" dirty="0" err="1">
                <a:latin typeface="Arial"/>
                <a:ea typeface="Malgun Gothic"/>
              </a:rPr>
              <a:t>table</a:t>
            </a:r>
            <a:endParaRPr lang="ko-KR" altLang="en-US" dirty="0">
              <a:latin typeface="Arial"/>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7</a:t>
            </a:fld>
            <a:endParaRPr lang="ko-KR" altLang="en-US"/>
          </a:p>
        </p:txBody>
      </p:sp>
    </p:spTree>
    <p:extLst>
      <p:ext uri="{BB962C8B-B14F-4D97-AF65-F5344CB8AC3E}">
        <p14:creationId xmlns:p14="http://schemas.microsoft.com/office/powerpoint/2010/main" val="74914211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Programmable interconnection</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Programmable Routing</a:t>
            </a:r>
          </a:p>
          <a:p>
            <a:pPr marL="586105" lvl="1" indent="-214630"/>
            <a:r>
              <a:rPr lang="en-US" altLang="ko-KR" dirty="0">
                <a:latin typeface="맑은 고딕"/>
                <a:ea typeface="맑은 고딕"/>
              </a:rPr>
              <a:t>Over 50% of both the fabric area and the critical path delay of application</a:t>
            </a:r>
          </a:p>
          <a:p>
            <a:pPr marL="586105" lvl="1" indent="-214630"/>
            <a:r>
              <a:rPr lang="en-US" altLang="ko-KR" dirty="0">
                <a:latin typeface="맑은 고딕"/>
                <a:ea typeface="맑은 고딕"/>
              </a:rPr>
              <a:t>Composed of pre-fabricated wiring segments and programmable switches</a:t>
            </a:r>
          </a:p>
          <a:p>
            <a:pPr marL="586105" lvl="1" indent="-214630"/>
            <a:r>
              <a:rPr lang="en-US" altLang="ko-KR" dirty="0">
                <a:latin typeface="맑은 고딕"/>
                <a:ea typeface="맑은 고딕"/>
              </a:rPr>
              <a:t>By programming an appropriate sequence of switches to be on, any output from logic block can be connected to any input</a:t>
            </a:r>
          </a:p>
          <a:p>
            <a:pPr marL="586105" lvl="1" indent="-214630"/>
            <a:endParaRPr lang="en-US" altLang="ko-KR" dirty="0">
              <a:latin typeface="맑은 고딕"/>
              <a:ea typeface="맑은 고딕"/>
            </a:endParaRPr>
          </a:p>
          <a:p>
            <a:pPr marL="185420" indent="-185420">
              <a:buFont typeface="Arial" panose="020B0503020000020004" pitchFamily="50" charset="-127"/>
              <a:buChar char="•"/>
            </a:pPr>
            <a:r>
              <a:rPr lang="en-US" dirty="0">
                <a:latin typeface="Malgun Gothic"/>
                <a:ea typeface="Malgun Gothic"/>
              </a:rPr>
              <a:t>Routing architecture</a:t>
            </a:r>
          </a:p>
          <a:p>
            <a:pPr marL="586105" lvl="1" indent="-214630"/>
            <a:r>
              <a:rPr lang="en-US" dirty="0">
                <a:latin typeface="Malgun Gothic"/>
                <a:ea typeface="Malgun Gothic"/>
              </a:rPr>
              <a:t>Hierarchical routing</a:t>
            </a:r>
          </a:p>
          <a:p>
            <a:pPr marL="998220" lvl="2" indent="-255270"/>
            <a:r>
              <a:rPr lang="en-US" dirty="0">
                <a:latin typeface="Malgun Gothic"/>
                <a:ea typeface="Malgun Gothic"/>
              </a:rPr>
              <a:t>Realize connection between higher-level module instantiating lower-level module with short wires</a:t>
            </a:r>
          </a:p>
          <a:p>
            <a:pPr marL="998220" lvl="2" indent="-255270"/>
            <a:r>
              <a:rPr lang="en-US" dirty="0">
                <a:latin typeface="Malgun Gothic"/>
                <a:ea typeface="Malgun Gothic"/>
              </a:rPr>
              <a:t>Requires long wires at the upper-level interconnection</a:t>
            </a:r>
          </a:p>
          <a:p>
            <a:pPr marL="998220" lvl="2" indent="-255270"/>
            <a:endParaRPr lang="en-US" dirty="0">
              <a:latin typeface="Malgun Gothic"/>
              <a:ea typeface="Malgun Gothic"/>
            </a:endParaRPr>
          </a:p>
          <a:p>
            <a:pPr marL="586105" lvl="1" indent="-214630"/>
            <a:r>
              <a:rPr lang="en-US" altLang="ko-KR" dirty="0">
                <a:latin typeface="맑은 고딕"/>
                <a:ea typeface="맑은 고딕"/>
              </a:rPr>
              <a:t>Island-style routing</a:t>
            </a:r>
          </a:p>
          <a:p>
            <a:pPr marL="998220" lvl="2" indent="-255270"/>
            <a:r>
              <a:rPr lang="en-US" altLang="ko-KR" dirty="0"/>
              <a:t>Horizontal and vertical directed wire segments can be efficiently laid out</a:t>
            </a:r>
          </a:p>
          <a:p>
            <a:pPr marL="998220" lvl="2" indent="-255270"/>
            <a:endParaRPr lang="en-US" dirty="0"/>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8</a:t>
            </a:fld>
            <a:endParaRPr lang="ko-KR" altLang="en-US"/>
          </a:p>
        </p:txBody>
      </p:sp>
    </p:spTree>
    <p:extLst>
      <p:ext uri="{BB962C8B-B14F-4D97-AF65-F5344CB8AC3E}">
        <p14:creationId xmlns:p14="http://schemas.microsoft.com/office/powerpoint/2010/main" val="160080449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Block RAM</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7139764" cy="5029650"/>
          </a:xfrm>
        </p:spPr>
        <p:txBody>
          <a:bodyPr lIns="45719" tIns="45720" rIns="45719" bIns="45720" anchor="t">
            <a:normAutofit/>
          </a:bodyPr>
          <a:lstStyle/>
          <a:p>
            <a:pPr marL="185420" indent="-185420"/>
            <a:r>
              <a:rPr lang="en-US" altLang="ko-KR" dirty="0"/>
              <a:t>Block RAM History</a:t>
            </a:r>
          </a:p>
          <a:p>
            <a:pPr marL="586105" lvl="1" indent="-214630"/>
            <a:r>
              <a:rPr lang="en-US" altLang="ko-KR" dirty="0"/>
              <a:t>First on-chip memory elements in FPGA was </a:t>
            </a:r>
            <a:r>
              <a:rPr lang="en-US" altLang="ko-KR" dirty="0" err="1"/>
              <a:t>FlipFlops</a:t>
            </a:r>
            <a:r>
              <a:rPr lang="en-US" altLang="ko-KR" dirty="0"/>
              <a:t> in logic block</a:t>
            </a:r>
          </a:p>
          <a:p>
            <a:pPr marL="586105" lvl="1" indent="-214630"/>
            <a:r>
              <a:rPr lang="en-US" altLang="ko-KR" dirty="0"/>
              <a:t>As FPGA's logic capacity grew, required memory to buffer and re-use data on-chip</a:t>
            </a:r>
          </a:p>
          <a:p>
            <a:pPr marL="586105" lvl="1" indent="-214630"/>
            <a:r>
              <a:rPr lang="en-US" altLang="ko-KR" dirty="0"/>
              <a:t>Due to inefficiency of LUT based RAM, denser on chip storage BRAM was introduced</a:t>
            </a:r>
          </a:p>
          <a:p>
            <a:pPr marL="185420" indent="-185420">
              <a:buFont typeface="Arial" panose="020B0503020000020004" pitchFamily="50" charset="-127"/>
              <a:buChar char="•"/>
            </a:pPr>
            <a:r>
              <a:rPr lang="en-US" dirty="0">
                <a:latin typeface="Malgun Gothic"/>
                <a:ea typeface="Malgun Gothic"/>
              </a:rPr>
              <a:t>Block RAM architecture</a:t>
            </a:r>
          </a:p>
          <a:p>
            <a:pPr marL="586105" lvl="1" indent="-214630"/>
            <a:r>
              <a:rPr lang="en-US" altLang="ko-KR" dirty="0">
                <a:latin typeface="맑은 고딕"/>
                <a:ea typeface="맑은 고딕"/>
              </a:rPr>
              <a:t>BRAM consists of an SRAM-based memory core with additional peripheral circuitry to orchestrate access to these cells for read/write</a:t>
            </a:r>
          </a:p>
          <a:p>
            <a:pPr marL="0" indent="0">
              <a:buNone/>
            </a:pPr>
            <a:endParaRPr lang="en-US" dirty="0">
              <a:latin typeface="Malgun Gothic"/>
              <a:ea typeface="Malgun Gothic"/>
            </a:endParaRPr>
          </a:p>
          <a:p>
            <a:pPr marL="0" indent="0">
              <a:buFont typeface="Arial"/>
              <a:buNone/>
            </a:pPr>
            <a:endParaRPr lang="en-US" altLang="ko-KR" dirty="0">
              <a:latin typeface="Malgun Gothic"/>
              <a:ea typeface="Malgun Gothic"/>
            </a:endParaRPr>
          </a:p>
          <a:p>
            <a:pPr marL="371475" lvl="1" indent="0">
              <a:buNone/>
            </a:pPr>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9</a:t>
            </a:fld>
            <a:endParaRPr lang="ko-KR" altLang="en-US"/>
          </a:p>
        </p:txBody>
      </p:sp>
      <p:pic>
        <p:nvPicPr>
          <p:cNvPr id="5" name="그림 5" descr="텍스트, 도표, 평면도, 지도이(가) 표시된 사진&#10;&#10;자동 생성된 설명">
            <a:extLst>
              <a:ext uri="{FF2B5EF4-FFF2-40B4-BE49-F238E27FC236}">
                <a16:creationId xmlns:a16="http://schemas.microsoft.com/office/drawing/2014/main" id="{64FDE965-24E4-5C2F-CEF0-FB1685F61C5B}"/>
              </a:ext>
            </a:extLst>
          </p:cNvPr>
          <p:cNvPicPr>
            <a:picLocks noChangeAspect="1"/>
          </p:cNvPicPr>
          <p:nvPr/>
        </p:nvPicPr>
        <p:blipFill>
          <a:blip r:embed="rId2"/>
          <a:stretch>
            <a:fillRect/>
          </a:stretch>
        </p:blipFill>
        <p:spPr>
          <a:xfrm>
            <a:off x="8366051" y="1359904"/>
            <a:ext cx="3505200" cy="3128098"/>
          </a:xfrm>
          <a:prstGeom prst="rect">
            <a:avLst/>
          </a:prstGeom>
        </p:spPr>
      </p:pic>
    </p:spTree>
    <p:extLst>
      <p:ext uri="{BB962C8B-B14F-4D97-AF65-F5344CB8AC3E}">
        <p14:creationId xmlns:p14="http://schemas.microsoft.com/office/powerpoint/2010/main" val="311049955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DSP Block</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6342322" cy="5029650"/>
          </a:xfrm>
        </p:spPr>
        <p:txBody>
          <a:bodyPr lIns="45719" tIns="45720" rIns="45719" bIns="45720" anchor="t">
            <a:normAutofit/>
          </a:bodyPr>
          <a:lstStyle/>
          <a:p>
            <a:pPr marL="185420" indent="-185420"/>
            <a:r>
              <a:rPr lang="en-US" altLang="ko-KR" dirty="0"/>
              <a:t>DSP Block history</a:t>
            </a:r>
          </a:p>
          <a:p>
            <a:pPr marL="586105" lvl="1" indent="-214630"/>
            <a:r>
              <a:rPr lang="en-US" altLang="ko-KR" dirty="0">
                <a:latin typeface="맑은 고딕"/>
                <a:ea typeface="맑은 고딕"/>
              </a:rPr>
              <a:t>LUTs and Carry chains implement efficient adders </a:t>
            </a:r>
          </a:p>
          <a:p>
            <a:pPr marL="586105" lvl="1" indent="-214630"/>
            <a:r>
              <a:rPr lang="en-US" altLang="ko-KR" dirty="0">
                <a:latin typeface="맑은 고딕"/>
                <a:ea typeface="맑은 고딕"/>
              </a:rPr>
              <a:t>Implementing multiplier with LUTs and Carry chains incurs a substantial area and delay penalty</a:t>
            </a:r>
          </a:p>
          <a:p>
            <a:pPr marL="586105" lvl="1" indent="-214630"/>
            <a:r>
              <a:rPr lang="en-US" altLang="ko-KR" dirty="0">
                <a:latin typeface="맑은 고딕"/>
                <a:ea typeface="맑은 고딕"/>
              </a:rPr>
              <a:t>Adopted hard multiplier in FPGA</a:t>
            </a:r>
          </a:p>
          <a:p>
            <a:pPr marL="586105" lvl="1" indent="-214630"/>
            <a:r>
              <a:rPr lang="en-US" altLang="ko-KR" dirty="0">
                <a:latin typeface="맑은 고딕"/>
                <a:ea typeface="맑은 고딕"/>
              </a:rPr>
              <a:t>Full featured DSP blocks targeting the communications and signal processing domain was introduced</a:t>
            </a:r>
          </a:p>
          <a:p>
            <a:pPr marL="586105" lvl="1" indent="-214630"/>
            <a:endParaRPr lang="en-US" altLang="ko-KR" dirty="0">
              <a:latin typeface="맑은 고딕"/>
              <a:ea typeface="맑은 고딕"/>
            </a:endParaRPr>
          </a:p>
          <a:p>
            <a:pPr marL="185420" indent="-185420">
              <a:buFont typeface="Arial" panose="020B0503020000020004" pitchFamily="50" charset="-127"/>
              <a:buChar char="•"/>
            </a:pPr>
            <a:r>
              <a:rPr lang="en-US" dirty="0">
                <a:latin typeface="Malgun Gothic"/>
                <a:ea typeface="Malgun Gothic"/>
              </a:rPr>
              <a:t>Basic DSP Block Features</a:t>
            </a:r>
          </a:p>
          <a:p>
            <a:pPr marL="586105" lvl="1" indent="-214630"/>
            <a:r>
              <a:rPr lang="en-US" dirty="0">
                <a:latin typeface="Malgun Gothic"/>
                <a:ea typeface="Malgun Gothic"/>
              </a:rPr>
              <a:t>Adder/Subtractor</a:t>
            </a:r>
          </a:p>
          <a:p>
            <a:pPr marL="586105" lvl="1" indent="-214630"/>
            <a:r>
              <a:rPr lang="en-US" dirty="0">
                <a:latin typeface="Malgun Gothic"/>
                <a:ea typeface="Malgun Gothic"/>
              </a:rPr>
              <a:t>Accumulator</a:t>
            </a:r>
          </a:p>
          <a:p>
            <a:pPr marL="586105" lvl="1" indent="-214630"/>
            <a:r>
              <a:rPr lang="en-US" dirty="0">
                <a:latin typeface="Malgun Gothic"/>
                <a:ea typeface="Malgun Gothic"/>
              </a:rPr>
              <a:t>Multiplier</a:t>
            </a:r>
          </a:p>
          <a:p>
            <a:pPr marL="371475" lvl="1" indent="0">
              <a:buNone/>
            </a:pPr>
            <a:endParaRPr lang="en-US" dirty="0">
              <a:latin typeface="Malgun Gothic"/>
              <a:ea typeface="Malgun Gothic"/>
            </a:endParaRPr>
          </a:p>
          <a:p>
            <a:pPr marL="586105" lvl="1" indent="-214630"/>
            <a:endParaRPr lang="en-US" dirty="0">
              <a:latin typeface="Malgun Gothic"/>
              <a:ea typeface="Malgun Gothic"/>
            </a:endParaRPr>
          </a:p>
          <a:p>
            <a:pPr marL="0" indent="0">
              <a:buNone/>
            </a:pPr>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10</a:t>
            </a:fld>
            <a:endParaRPr lang="ko-KR" altLang="en-US"/>
          </a:p>
        </p:txBody>
      </p:sp>
      <p:pic>
        <p:nvPicPr>
          <p:cNvPr id="5" name="그림 5" descr="도표, 기술 도면, 평면도, 스케치이(가) 표시된 사진&#10;&#10;자동 생성된 설명">
            <a:extLst>
              <a:ext uri="{FF2B5EF4-FFF2-40B4-BE49-F238E27FC236}">
                <a16:creationId xmlns:a16="http://schemas.microsoft.com/office/drawing/2014/main" id="{3962882A-B2A9-2BEE-E103-EFA0D9719A10}"/>
              </a:ext>
            </a:extLst>
          </p:cNvPr>
          <p:cNvPicPr>
            <a:picLocks noChangeAspect="1"/>
          </p:cNvPicPr>
          <p:nvPr/>
        </p:nvPicPr>
        <p:blipFill>
          <a:blip r:embed="rId2"/>
          <a:stretch>
            <a:fillRect/>
          </a:stretch>
        </p:blipFill>
        <p:spPr>
          <a:xfrm>
            <a:off x="6505353" y="3463453"/>
            <a:ext cx="5365897" cy="2633536"/>
          </a:xfrm>
          <a:prstGeom prst="rect">
            <a:avLst/>
          </a:prstGeom>
        </p:spPr>
      </p:pic>
    </p:spTree>
    <p:extLst>
      <p:ext uri="{BB962C8B-B14F-4D97-AF65-F5344CB8AC3E}">
        <p14:creationId xmlns:p14="http://schemas.microsoft.com/office/powerpoint/2010/main" val="87846809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DSP Block</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6342322" cy="5029650"/>
          </a:xfrm>
        </p:spPr>
        <p:txBody>
          <a:bodyPr lIns="45719" tIns="45720" rIns="45719" bIns="45720" anchor="t">
            <a:normAutofit/>
          </a:bodyPr>
          <a:lstStyle/>
          <a:p>
            <a:pPr marL="185420" indent="-185420"/>
            <a:r>
              <a:rPr lang="en-US" altLang="ko-KR" dirty="0"/>
              <a:t>DSP Block evolution</a:t>
            </a:r>
          </a:p>
          <a:p>
            <a:pPr marL="586105" lvl="1" indent="-214630"/>
            <a:r>
              <a:rPr lang="en-US" altLang="ko-KR" dirty="0">
                <a:latin typeface="맑은 고딕"/>
                <a:ea typeface="맑은 고딕"/>
              </a:rPr>
              <a:t>High performance computing</a:t>
            </a:r>
          </a:p>
          <a:p>
            <a:pPr marL="998220" lvl="2" indent="-255270"/>
            <a:r>
              <a:rPr lang="en-US" altLang="ko-KR" dirty="0">
                <a:latin typeface="맑은 고딕"/>
                <a:ea typeface="맑은 고딕"/>
              </a:rPr>
              <a:t>Adding native support for single precision floating point multiplication</a:t>
            </a:r>
          </a:p>
          <a:p>
            <a:pPr marL="998220" lvl="2" indent="-255270"/>
            <a:endParaRPr lang="en-US" altLang="ko-KR" dirty="0">
              <a:latin typeface="맑은 고딕"/>
              <a:ea typeface="맑은 고딕"/>
            </a:endParaRPr>
          </a:p>
          <a:p>
            <a:pPr marL="586105" lvl="1" indent="-214630"/>
            <a:r>
              <a:rPr lang="en-US" dirty="0">
                <a:latin typeface="Malgun Gothic"/>
                <a:ea typeface="Malgun Gothic"/>
              </a:rPr>
              <a:t>Low precision multiplication</a:t>
            </a:r>
          </a:p>
          <a:p>
            <a:pPr marL="998220" lvl="2" indent="-255270"/>
            <a:r>
              <a:rPr lang="en-US" dirty="0">
                <a:latin typeface="Malgun Gothic"/>
                <a:ea typeface="Malgun Gothic"/>
              </a:rPr>
              <a:t>Increasing low-precision integer multiplication specifically for deep learning inference workload</a:t>
            </a:r>
            <a:endParaRPr lang="en-US" dirty="0"/>
          </a:p>
          <a:p>
            <a:pPr marL="998220" lvl="2" indent="-255270"/>
            <a:r>
              <a:rPr lang="en-US" dirty="0">
                <a:latin typeface="Malgun Gothic"/>
                <a:ea typeface="Malgun Gothic"/>
              </a:rPr>
              <a:t>Use of low-precision fixed-point arithmetic instead of fp32 shows negligible or no accuracy degradation but greatly reduced hardware cost</a:t>
            </a:r>
          </a:p>
          <a:p>
            <a:pPr marL="998220" lvl="2" indent="-255270"/>
            <a:r>
              <a:rPr lang="en-US" dirty="0">
                <a:latin typeface="Malgun Gothic"/>
                <a:ea typeface="Malgun Gothic"/>
              </a:rPr>
              <a:t>Required precision is model dependent and FPGAs have emerged as an attractive solution for DL inference due to ability to implement custom precision </a:t>
            </a:r>
            <a:r>
              <a:rPr lang="en-US" dirty="0" err="1">
                <a:latin typeface="Malgun Gothic"/>
                <a:ea typeface="Malgun Gothic"/>
              </a:rPr>
              <a:t>datapath</a:t>
            </a:r>
            <a:endParaRPr lang="en-US" dirty="0">
              <a:latin typeface="Malgun Gothic"/>
              <a:ea typeface="Malgun Gothic"/>
            </a:endParaRPr>
          </a:p>
          <a:p>
            <a:pPr marL="998220" lvl="2" indent="-255270"/>
            <a:endParaRPr lang="en-US" dirty="0">
              <a:latin typeface="Malgun Gothic"/>
              <a:ea typeface="Malgun Gothic"/>
            </a:endParaRPr>
          </a:p>
          <a:p>
            <a:pPr marL="586105" lvl="1" indent="-214630"/>
            <a:endParaRPr lang="en-US" altLang="ko-KR" dirty="0">
              <a:latin typeface="맑은 고딕"/>
              <a:ea typeface="맑은 고딕"/>
            </a:endParaRPr>
          </a:p>
          <a:p>
            <a:pPr marL="185420" indent="-185420">
              <a:buFont typeface="Arial" panose="020B0503020000020004" pitchFamily="50" charset="-127"/>
              <a:buChar char="•"/>
            </a:pPr>
            <a:endParaRPr lang="en-US" dirty="0">
              <a:latin typeface="Malgun Gothic"/>
              <a:ea typeface="Malgun Gothic"/>
            </a:endParaRPr>
          </a:p>
          <a:p>
            <a:pPr marL="371475" lvl="1" indent="0">
              <a:buNone/>
            </a:pPr>
            <a:endParaRPr lang="en-US" dirty="0">
              <a:latin typeface="Malgun Gothic"/>
              <a:ea typeface="Malgun Gothic"/>
            </a:endParaRPr>
          </a:p>
          <a:p>
            <a:pPr marL="586105" lvl="1" indent="-214630"/>
            <a:endParaRPr lang="en-US" dirty="0">
              <a:latin typeface="Malgun Gothic"/>
              <a:ea typeface="Malgun Gothic"/>
            </a:endParaRPr>
          </a:p>
          <a:p>
            <a:pPr marL="0" indent="0">
              <a:buNone/>
            </a:pPr>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11</a:t>
            </a:fld>
            <a:endParaRPr lang="ko-KR" altLang="en-US"/>
          </a:p>
        </p:txBody>
      </p:sp>
      <p:pic>
        <p:nvPicPr>
          <p:cNvPr id="5" name="그림 5" descr="도표, 기술 도면, 평면도, 스케치이(가) 표시된 사진&#10;&#10;자동 생성된 설명">
            <a:extLst>
              <a:ext uri="{FF2B5EF4-FFF2-40B4-BE49-F238E27FC236}">
                <a16:creationId xmlns:a16="http://schemas.microsoft.com/office/drawing/2014/main" id="{3962882A-B2A9-2BEE-E103-EFA0D9719A10}"/>
              </a:ext>
            </a:extLst>
          </p:cNvPr>
          <p:cNvPicPr>
            <a:picLocks noChangeAspect="1"/>
          </p:cNvPicPr>
          <p:nvPr/>
        </p:nvPicPr>
        <p:blipFill>
          <a:blip r:embed="rId2"/>
          <a:stretch>
            <a:fillRect/>
          </a:stretch>
        </p:blipFill>
        <p:spPr>
          <a:xfrm>
            <a:off x="7169888" y="3428011"/>
            <a:ext cx="4940595" cy="2403164"/>
          </a:xfrm>
          <a:prstGeom prst="rect">
            <a:avLst/>
          </a:prstGeom>
        </p:spPr>
      </p:pic>
    </p:spTree>
    <p:extLst>
      <p:ext uri="{BB962C8B-B14F-4D97-AF65-F5344CB8AC3E}">
        <p14:creationId xmlns:p14="http://schemas.microsoft.com/office/powerpoint/2010/main" val="289633611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Configurable Logic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err="1"/>
              <a:t>UltraScale</a:t>
            </a:r>
            <a:r>
              <a:rPr lang="en-US" altLang="ko-KR" dirty="0"/>
              <a:t> Architecture CLB contains one slice</a:t>
            </a:r>
          </a:p>
          <a:p>
            <a:pPr marL="586105" lvl="1" indent="-214630"/>
            <a:r>
              <a:rPr lang="en-US" altLang="ko-KR" dirty="0"/>
              <a:t>Each slice provides eight 6-input LUTs and sixteen flip-flops</a:t>
            </a:r>
          </a:p>
          <a:p>
            <a:pPr marL="586105" lvl="1" indent="-214630"/>
            <a:r>
              <a:rPr lang="en-US" altLang="ko-KR" dirty="0">
                <a:latin typeface="맑은 고딕"/>
                <a:ea typeface="맑은 고딕"/>
              </a:rPr>
              <a:t>LUTs are organized as a column with an 8-bit carry chain per CLB</a:t>
            </a:r>
          </a:p>
          <a:p>
            <a:pPr marL="586105" lvl="1" indent="-214630"/>
            <a:r>
              <a:rPr lang="en-US" altLang="ko-KR" dirty="0">
                <a:latin typeface="맑은 고딕"/>
                <a:ea typeface="맑은 고딕"/>
              </a:rPr>
              <a:t>Wide-function multiplexers to create any function of 7,8 or 9 inputs</a:t>
            </a:r>
          </a:p>
          <a:p>
            <a:pPr marL="185420" indent="-185420">
              <a:buFont typeface="Arial" panose="020B0503020000020004" pitchFamily="50" charset="-127"/>
              <a:buChar char="•"/>
            </a:pPr>
            <a:r>
              <a:rPr lang="en-US" altLang="ko-KR" dirty="0">
                <a:latin typeface="Malgun Gothic"/>
                <a:ea typeface="Malgun Gothic"/>
              </a:rPr>
              <a:t>SLICEL and </a:t>
            </a:r>
            <a:r>
              <a:rPr lang="en-US" altLang="ko-KR">
                <a:latin typeface="Malgun Gothic"/>
                <a:ea typeface="Malgun Gothic"/>
              </a:rPr>
              <a:t>SLICEM</a:t>
            </a:r>
          </a:p>
          <a:p>
            <a:pPr marL="586105" lvl="1" indent="-214630"/>
            <a:r>
              <a:rPr lang="en-US" altLang="ko-KR" dirty="0">
                <a:latin typeface="Malgun Gothic"/>
                <a:ea typeface="Malgun Gothic"/>
              </a:rPr>
              <a:t>The LUT in SLICEM can be configured as a 64-bit distributed RAM, or 32-bit shift register</a:t>
            </a:r>
          </a:p>
          <a:p>
            <a:pPr marL="185420" indent="-185420">
              <a:buFont typeface="Arial" panose="020B0503020000020004" pitchFamily="50" charset="-127"/>
              <a:buChar char="•"/>
            </a:pPr>
            <a:r>
              <a:rPr lang="en-US" dirty="0">
                <a:latin typeface="Malgun Gothic"/>
                <a:ea typeface="Malgun Gothic"/>
              </a:rPr>
              <a:t>Look-Up Table</a:t>
            </a:r>
          </a:p>
          <a:p>
            <a:pPr marL="586105" lvl="1" indent="-214630"/>
            <a:r>
              <a:rPr lang="en-US" dirty="0">
                <a:latin typeface="Malgun Gothic"/>
                <a:ea typeface="Malgun Gothic"/>
              </a:rPr>
              <a:t>Six independent inputs and two independent </a:t>
            </a:r>
            <a:r>
              <a:rPr lang="en-US" dirty="0" err="1">
                <a:latin typeface="Malgun Gothic"/>
                <a:ea typeface="Malgun Gothic"/>
              </a:rPr>
              <a:t>ouputs</a:t>
            </a:r>
          </a:p>
          <a:p>
            <a:pPr marL="586105" lvl="1" indent="-214630"/>
            <a:r>
              <a:rPr lang="en-US" dirty="0">
                <a:latin typeface="Malgun Gothic"/>
                <a:ea typeface="Malgun Gothic"/>
              </a:rPr>
              <a:t>Can implement</a:t>
            </a:r>
          </a:p>
          <a:p>
            <a:pPr marL="998220" lvl="2" indent="-255270"/>
            <a:r>
              <a:rPr lang="en-US" dirty="0">
                <a:latin typeface="Malgun Gothic"/>
                <a:ea typeface="Malgun Gothic"/>
              </a:rPr>
              <a:t>Any six-input Boolean function</a:t>
            </a:r>
          </a:p>
          <a:p>
            <a:pPr marL="998220" lvl="2" indent="-255270"/>
            <a:r>
              <a:rPr lang="en-US">
                <a:latin typeface="Malgun Gothic"/>
                <a:ea typeface="Malgun Gothic"/>
              </a:rPr>
              <a:t>Two five-input Boolean functions sharing common input</a:t>
            </a:r>
            <a:endParaRPr lang="en-US" dirty="0">
              <a:latin typeface="Malgun Gothic"/>
              <a:ea typeface="Malgun Gothic"/>
            </a:endParaRPr>
          </a:p>
          <a:p>
            <a:pPr marL="998220" lvl="2" indent="-255270"/>
            <a:r>
              <a:rPr lang="en-US" dirty="0">
                <a:latin typeface="Malgun Gothic"/>
                <a:ea typeface="Malgun Gothic"/>
              </a:rPr>
              <a:t>Two Boolean functions three inputs or less</a:t>
            </a: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latin typeface="맑은 고딕"/>
              <a:ea typeface="맑은 고딕"/>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12</a:t>
            </a:fld>
            <a:endParaRPr lang="ko-KR" altLang="en-US"/>
          </a:p>
        </p:txBody>
      </p:sp>
      <p:pic>
        <p:nvPicPr>
          <p:cNvPr id="5" name="그림 5" descr="도표, 라인, 텍스트, 스크린샷이(가) 표시된 사진&#10;&#10;자동 생성된 설명">
            <a:extLst>
              <a:ext uri="{FF2B5EF4-FFF2-40B4-BE49-F238E27FC236}">
                <a16:creationId xmlns:a16="http://schemas.microsoft.com/office/drawing/2014/main" id="{23EC1A81-45A4-10CD-9AE3-466562997548}"/>
              </a:ext>
            </a:extLst>
          </p:cNvPr>
          <p:cNvPicPr>
            <a:picLocks noChangeAspect="1"/>
          </p:cNvPicPr>
          <p:nvPr/>
        </p:nvPicPr>
        <p:blipFill>
          <a:blip r:embed="rId2"/>
          <a:stretch>
            <a:fillRect/>
          </a:stretch>
        </p:blipFill>
        <p:spPr>
          <a:xfrm>
            <a:off x="7205330" y="4241170"/>
            <a:ext cx="4701362" cy="1432521"/>
          </a:xfrm>
          <a:prstGeom prst="rect">
            <a:avLst/>
          </a:prstGeom>
        </p:spPr>
      </p:pic>
    </p:spTree>
    <p:extLst>
      <p:ext uri="{BB962C8B-B14F-4D97-AF65-F5344CB8AC3E}">
        <p14:creationId xmlns:p14="http://schemas.microsoft.com/office/powerpoint/2010/main" val="418999234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Configurable Logic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5255943" cy="5029650"/>
          </a:xfrm>
        </p:spPr>
        <p:txBody>
          <a:bodyPr lIns="45719" tIns="45720" rIns="45719" bIns="45720" anchor="t">
            <a:normAutofit/>
          </a:bodyPr>
          <a:lstStyle/>
          <a:p>
            <a:pPr marL="185420" indent="-185420"/>
            <a:r>
              <a:rPr lang="en-US" altLang="ko-KR" dirty="0"/>
              <a:t>Multiplexers</a:t>
            </a:r>
          </a:p>
          <a:p>
            <a:pPr marL="586105" lvl="1" indent="-214630"/>
            <a:r>
              <a:rPr lang="en-US" altLang="ko-KR" dirty="0"/>
              <a:t>LUTs and associated multiplexers can implement wide-input multiplexers</a:t>
            </a:r>
          </a:p>
          <a:p>
            <a:pPr marL="998220" lvl="2" indent="-255270"/>
            <a:r>
              <a:rPr lang="en-US" altLang="ko-KR" dirty="0">
                <a:latin typeface="맑은 고딕"/>
                <a:ea typeface="맑은 고딕"/>
              </a:rPr>
              <a:t>4:1 multiplexers using one LUT</a:t>
            </a:r>
          </a:p>
          <a:p>
            <a:pPr marL="998220" lvl="2" indent="-255270"/>
            <a:r>
              <a:rPr lang="en-US" altLang="ko-KR" dirty="0">
                <a:latin typeface="맑은 고딕"/>
                <a:ea typeface="맑은 고딕"/>
              </a:rPr>
              <a:t>8:1 multiplexers combining 2 adjacent LUTs</a:t>
            </a:r>
          </a:p>
          <a:p>
            <a:pPr marL="998220" lvl="2" indent="-255270"/>
            <a:r>
              <a:rPr lang="en-US" altLang="ko-KR" dirty="0">
                <a:latin typeface="맑은 고딕"/>
                <a:ea typeface="맑은 고딕"/>
              </a:rPr>
              <a:t>16:1 multiplexers combining 4 adjacent LUTs</a:t>
            </a:r>
          </a:p>
          <a:p>
            <a:pPr marL="998220" lvl="2" indent="-255270"/>
            <a:r>
              <a:rPr lang="en-US" altLang="ko-KR" dirty="0">
                <a:latin typeface="맑은 고딕"/>
                <a:ea typeface="맑은 고딕"/>
              </a:rPr>
              <a:t>32:1 multiplexers combining 8 LUTs</a:t>
            </a:r>
          </a:p>
          <a:p>
            <a:pPr marL="0" indent="0">
              <a:buFont typeface="Arial"/>
              <a:buNone/>
            </a:pPr>
            <a:endParaRPr lang="en-US" altLang="ko-KR" dirty="0">
              <a:latin typeface="Malgun Gothic"/>
              <a:ea typeface="Malgun Gothic"/>
            </a:endParaRPr>
          </a:p>
          <a:p>
            <a:pPr marL="371475" lvl="1" indent="0">
              <a:buNone/>
            </a:pPr>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13</a:t>
            </a:fld>
            <a:endParaRPr lang="ko-KR" altLang="en-US"/>
          </a:p>
        </p:txBody>
      </p:sp>
      <p:pic>
        <p:nvPicPr>
          <p:cNvPr id="5" name="그림 5" descr="텍스트, 도표, 평면도, 기술 도면이(가) 표시된 사진&#10;&#10;자동 생성된 설명">
            <a:extLst>
              <a:ext uri="{FF2B5EF4-FFF2-40B4-BE49-F238E27FC236}">
                <a16:creationId xmlns:a16="http://schemas.microsoft.com/office/drawing/2014/main" id="{C3A571E7-CC9A-2CCD-5604-1A599E68BACA}"/>
              </a:ext>
            </a:extLst>
          </p:cNvPr>
          <p:cNvPicPr>
            <a:picLocks noChangeAspect="1"/>
          </p:cNvPicPr>
          <p:nvPr/>
        </p:nvPicPr>
        <p:blipFill>
          <a:blip r:embed="rId2"/>
          <a:stretch>
            <a:fillRect/>
          </a:stretch>
        </p:blipFill>
        <p:spPr>
          <a:xfrm>
            <a:off x="6549656" y="1735973"/>
            <a:ext cx="4603897" cy="3855657"/>
          </a:xfrm>
          <a:prstGeom prst="rect">
            <a:avLst/>
          </a:prstGeom>
        </p:spPr>
      </p:pic>
    </p:spTree>
    <p:extLst>
      <p:ext uri="{BB962C8B-B14F-4D97-AF65-F5344CB8AC3E}">
        <p14:creationId xmlns:p14="http://schemas.microsoft.com/office/powerpoint/2010/main" val="370613447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Configurable Logic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Storage Elements</a:t>
            </a:r>
          </a:p>
          <a:p>
            <a:pPr marL="586105" lvl="1" indent="-214630"/>
            <a:r>
              <a:rPr lang="en-US" altLang="ko-KR" dirty="0"/>
              <a:t>16 storage elements per CLB slice(2 per LUT)</a:t>
            </a:r>
          </a:p>
          <a:p>
            <a:pPr marL="586105" lvl="1" indent="-214630"/>
            <a:r>
              <a:rPr lang="en-US" altLang="ko-KR">
                <a:latin typeface="맑은 고딕"/>
                <a:ea typeface="맑은 고딕"/>
              </a:rPr>
              <a:t>Can be configured as either edge-triggered D-type flip-flop or level sensitive latches.</a:t>
            </a:r>
            <a:endParaRPr lang="en-US" altLang="ko-KR" dirty="0">
              <a:latin typeface="맑은 고딕"/>
              <a:ea typeface="맑은 고딕"/>
            </a:endParaRPr>
          </a:p>
          <a:p>
            <a:pPr marL="586105" lvl="1" indent="-214630"/>
            <a:r>
              <a:rPr lang="en-US" altLang="ko-KR" dirty="0">
                <a:latin typeface="맑은 고딕"/>
                <a:ea typeface="맑은 고딕"/>
              </a:rPr>
              <a:t>Two storage elements of one LUT have same input </a:t>
            </a:r>
            <a:r>
              <a:rPr lang="en-US" altLang="ko-KR">
                <a:latin typeface="맑은 고딕"/>
                <a:ea typeface="맑은 고딕"/>
              </a:rPr>
              <a:t>options</a:t>
            </a:r>
            <a:endParaRPr lang="en-US" altLang="ko-KR" dirty="0">
              <a:latin typeface="맑은 고딕"/>
              <a:ea typeface="맑은 고딕"/>
            </a:endParaRPr>
          </a:p>
          <a:p>
            <a:pPr marL="998220" lvl="2" indent="-255270"/>
            <a:r>
              <a:rPr lang="en-US" altLang="ko-KR">
                <a:latin typeface="맑은 고딕"/>
                <a:ea typeface="맑은 고딕"/>
              </a:rPr>
              <a:t>Two LUT outputs</a:t>
            </a:r>
            <a:endParaRPr lang="en-US" altLang="ko-KR" dirty="0">
              <a:latin typeface="맑은 고딕"/>
              <a:ea typeface="맑은 고딕"/>
            </a:endParaRPr>
          </a:p>
          <a:p>
            <a:pPr marL="998220" lvl="2" indent="-255270"/>
            <a:r>
              <a:rPr lang="en-US" altLang="ko-KR">
                <a:latin typeface="맑은 고딕"/>
                <a:ea typeface="맑은 고딕"/>
              </a:rPr>
              <a:t>Direct input from CLB</a:t>
            </a:r>
            <a:endParaRPr lang="en-US" altLang="ko-KR" dirty="0">
              <a:latin typeface="맑은 고딕"/>
              <a:ea typeface="맑은 고딕"/>
            </a:endParaRPr>
          </a:p>
          <a:p>
            <a:pPr marL="998220" lvl="2" indent="-255270"/>
            <a:r>
              <a:rPr lang="en-US" altLang="ko-KR" dirty="0">
                <a:latin typeface="맑은 고딕"/>
                <a:ea typeface="맑은 고딕"/>
              </a:rPr>
              <a:t>Carry XOR result or cascade output</a:t>
            </a:r>
          </a:p>
          <a:p>
            <a:pPr marL="998220" lvl="2" indent="-255270"/>
            <a:r>
              <a:rPr lang="en-US" altLang="ko-KR" dirty="0">
                <a:latin typeface="맑은 고딕"/>
                <a:ea typeface="맑은 고딕"/>
              </a:rPr>
              <a:t>Output of wide multiplexer</a:t>
            </a:r>
          </a:p>
          <a:p>
            <a:pPr marL="586105" lvl="1" indent="-214630"/>
            <a:r>
              <a:rPr lang="en-US" altLang="ko-KR" dirty="0">
                <a:latin typeface="Malgun Gothic"/>
                <a:ea typeface="Malgun Gothic"/>
              </a:rPr>
              <a:t>8 storage elements share clock and set/reset inputs</a:t>
            </a:r>
          </a:p>
          <a:p>
            <a:pPr marL="586105" lvl="1" indent="-214630"/>
            <a:r>
              <a:rPr lang="en-US" altLang="ko-KR" dirty="0">
                <a:latin typeface="Malgun Gothic"/>
                <a:ea typeface="Malgun Gothic"/>
              </a:rPr>
              <a:t>4 storage elements share Clock Enable signal</a:t>
            </a:r>
          </a:p>
          <a:p>
            <a:pPr marL="0" indent="0">
              <a:buNone/>
            </a:pPr>
            <a:endParaRPr lang="en-US" altLang="ko-KR" dirty="0">
              <a:latin typeface="Malgun Gothic"/>
              <a:ea typeface="Malgun Gothic"/>
            </a:endParaRPr>
          </a:p>
          <a:p>
            <a:pPr marL="371475" lvl="1" indent="0">
              <a:buNone/>
            </a:pPr>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latin typeface="맑은 고딕"/>
              <a:ea typeface="맑은 고딕"/>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14</a:t>
            </a:fld>
            <a:endParaRPr lang="ko-KR" altLang="en-US"/>
          </a:p>
        </p:txBody>
      </p:sp>
      <p:pic>
        <p:nvPicPr>
          <p:cNvPr id="5" name="그림 5" descr="도표, 평면도, 기술 도면, 개략도이(가) 표시된 사진&#10;&#10;자동 생성된 설명">
            <a:extLst>
              <a:ext uri="{FF2B5EF4-FFF2-40B4-BE49-F238E27FC236}">
                <a16:creationId xmlns:a16="http://schemas.microsoft.com/office/drawing/2014/main" id="{8ECD2C01-9F6F-0FD2-15A7-29F330FDC81D}"/>
              </a:ext>
            </a:extLst>
          </p:cNvPr>
          <p:cNvPicPr>
            <a:picLocks noChangeAspect="1"/>
          </p:cNvPicPr>
          <p:nvPr/>
        </p:nvPicPr>
        <p:blipFill>
          <a:blip r:embed="rId2"/>
          <a:stretch>
            <a:fillRect/>
          </a:stretch>
        </p:blipFill>
        <p:spPr>
          <a:xfrm>
            <a:off x="7382540" y="2715261"/>
            <a:ext cx="4187455" cy="2614780"/>
          </a:xfrm>
          <a:prstGeom prst="rect">
            <a:avLst/>
          </a:prstGeom>
        </p:spPr>
      </p:pic>
    </p:spTree>
    <p:extLst>
      <p:ext uri="{BB962C8B-B14F-4D97-AF65-F5344CB8AC3E}">
        <p14:creationId xmlns:p14="http://schemas.microsoft.com/office/powerpoint/2010/main" val="48584230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Configurable Logic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5116553" cy="5029650"/>
          </a:xfrm>
        </p:spPr>
        <p:txBody>
          <a:bodyPr lIns="45719" tIns="45720" rIns="45719" bIns="45720" anchor="t">
            <a:normAutofit/>
          </a:bodyPr>
          <a:lstStyle/>
          <a:p>
            <a:pPr marL="185420" indent="-185420"/>
            <a:r>
              <a:rPr lang="en-US" altLang="ko-KR" dirty="0"/>
              <a:t>Dedicated fast lookahead carry logic performs fast arithmetic addition and subtraction </a:t>
            </a:r>
          </a:p>
          <a:p>
            <a:pPr marL="586105" lvl="1" indent="-214630"/>
            <a:r>
              <a:rPr lang="en-US" altLang="ko-KR" dirty="0"/>
              <a:t>A slice has a single 8-bit carry chain</a:t>
            </a:r>
          </a:p>
          <a:p>
            <a:pPr marL="586105" lvl="1" indent="-214630"/>
            <a:r>
              <a:rPr lang="en-US" altLang="ko-KR" dirty="0">
                <a:latin typeface="맑은 고딕"/>
                <a:ea typeface="맑은 고딕"/>
              </a:rPr>
              <a:t>Carry chains are cascaded to form wider add/subtract logic</a:t>
            </a:r>
          </a:p>
          <a:p>
            <a:pPr marL="586105" lvl="1" indent="-214630"/>
            <a:r>
              <a:rPr lang="en-US" altLang="ko-KR" dirty="0">
                <a:latin typeface="맑은 고딕"/>
                <a:ea typeface="맑은 고딕"/>
              </a:rPr>
              <a:t>XOR gate provided for adding subtracting the operands with selected carry bit</a:t>
            </a:r>
          </a:p>
          <a:p>
            <a:pPr marL="0" indent="0">
              <a:buFont typeface="Arial"/>
              <a:buNone/>
            </a:pPr>
            <a:endParaRPr lang="en-US" altLang="ko-KR" dirty="0">
              <a:latin typeface="Malgun Gothic"/>
              <a:ea typeface="Malgun Gothic"/>
            </a:endParaRPr>
          </a:p>
          <a:p>
            <a:pPr marL="371475" lvl="1" indent="0">
              <a:buNone/>
            </a:pPr>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15</a:t>
            </a:fld>
            <a:endParaRPr lang="ko-KR" altLang="en-US"/>
          </a:p>
        </p:txBody>
      </p:sp>
      <p:pic>
        <p:nvPicPr>
          <p:cNvPr id="5" name="그림 5" descr="텍스트, 도표, 번호, 폰트이(가) 표시된 사진&#10;&#10;자동 생성된 설명">
            <a:extLst>
              <a:ext uri="{FF2B5EF4-FFF2-40B4-BE49-F238E27FC236}">
                <a16:creationId xmlns:a16="http://schemas.microsoft.com/office/drawing/2014/main" id="{82423856-5EF3-DC50-56E8-60F94263DB44}"/>
              </a:ext>
            </a:extLst>
          </p:cNvPr>
          <p:cNvPicPr>
            <a:picLocks noChangeAspect="1"/>
          </p:cNvPicPr>
          <p:nvPr/>
        </p:nvPicPr>
        <p:blipFill>
          <a:blip r:embed="rId2"/>
          <a:stretch>
            <a:fillRect/>
          </a:stretch>
        </p:blipFill>
        <p:spPr>
          <a:xfrm>
            <a:off x="6726865" y="1690777"/>
            <a:ext cx="4311502" cy="3733399"/>
          </a:xfrm>
          <a:prstGeom prst="rect">
            <a:avLst/>
          </a:prstGeom>
        </p:spPr>
      </p:pic>
    </p:spTree>
    <p:extLst>
      <p:ext uri="{BB962C8B-B14F-4D97-AF65-F5344CB8AC3E}">
        <p14:creationId xmlns:p14="http://schemas.microsoft.com/office/powerpoint/2010/main" val="208233770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Configurable Logic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Distributed RAM</a:t>
            </a:r>
          </a:p>
          <a:p>
            <a:pPr marL="586105" lvl="1" indent="-214630"/>
            <a:r>
              <a:rPr lang="en-US" altLang="ko-KR" dirty="0"/>
              <a:t>LUTs in SLICEM can be implemented as a synchronous RAM resource</a:t>
            </a:r>
          </a:p>
          <a:p>
            <a:pPr marL="586105" lvl="1" indent="-214630"/>
            <a:r>
              <a:rPr lang="en-US" altLang="ko-KR" dirty="0">
                <a:latin typeface="맑은 고딕"/>
                <a:ea typeface="맑은 고딕"/>
              </a:rPr>
              <a:t>Multiple LUTs can be combined to store larger amounts of data</a:t>
            </a:r>
          </a:p>
          <a:p>
            <a:pPr marL="586105" lvl="1" indent="-214630"/>
            <a:r>
              <a:rPr lang="en-US" altLang="ko-KR" dirty="0">
                <a:latin typeface="맑은 고딕"/>
                <a:ea typeface="맑은 고딕"/>
              </a:rPr>
              <a:t>Multiple SLICEMs can be combined to create larger memories</a:t>
            </a:r>
          </a:p>
          <a:p>
            <a:pPr marL="586105" lvl="1" indent="-214630"/>
            <a:r>
              <a:rPr lang="en-US" altLang="ko-KR" dirty="0">
                <a:latin typeface="맑은 고딕"/>
                <a:ea typeface="맑은 고딕"/>
              </a:rPr>
              <a:t>Synchronous write resources. Write clock is from dedicated SLICEM input LCLK that is independent of clocks for the storage elements.</a:t>
            </a:r>
          </a:p>
          <a:p>
            <a:pPr marL="586105" lvl="1" indent="-214630"/>
            <a:r>
              <a:rPr lang="en-US" altLang="ko-KR" dirty="0">
                <a:latin typeface="맑은 고딕"/>
                <a:ea typeface="맑은 고딕"/>
              </a:rPr>
              <a:t>Distributed RAM can be configured as Single-port, Dual-port, and Simple dual-port</a:t>
            </a:r>
          </a:p>
          <a:p>
            <a:pPr marL="185420" indent="-185420">
              <a:buFont typeface="Arial" panose="020B0503020000020004" pitchFamily="50" charset="-127"/>
              <a:buChar char="•"/>
            </a:pPr>
            <a:r>
              <a:rPr lang="en-US" dirty="0">
                <a:latin typeface="Malgun Gothic"/>
                <a:ea typeface="Malgun Gothic"/>
              </a:rPr>
              <a:t>Shift Registers</a:t>
            </a:r>
          </a:p>
          <a:p>
            <a:pPr marL="586105" lvl="1" indent="-214630"/>
            <a:r>
              <a:rPr lang="en-US" dirty="0">
                <a:latin typeface="Malgun Gothic"/>
                <a:ea typeface="Malgun Gothic"/>
              </a:rPr>
              <a:t>LUTs in SLICEM can configured as a 32-bit shift register without using the flipflops.</a:t>
            </a:r>
          </a:p>
          <a:p>
            <a:pPr marL="586105" lvl="1" indent="-214630"/>
            <a:r>
              <a:rPr lang="en-US" dirty="0">
                <a:latin typeface="Malgun Gothic"/>
                <a:ea typeface="Malgun Gothic"/>
              </a:rPr>
              <a:t>Each LUT can delay serial data from one to 32 clock cycles.</a:t>
            </a:r>
          </a:p>
          <a:p>
            <a:pPr marL="0" indent="0">
              <a:buFont typeface="Arial"/>
              <a:buNone/>
            </a:pPr>
            <a:endParaRPr lang="en-US" altLang="ko-KR" dirty="0">
              <a:latin typeface="Malgun Gothic"/>
              <a:ea typeface="Malgun Gothic"/>
            </a:endParaRPr>
          </a:p>
          <a:p>
            <a:pPr marL="371475" lvl="1" indent="0">
              <a:buNone/>
            </a:pPr>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16</a:t>
            </a:fld>
            <a:endParaRPr lang="ko-KR" altLang="en-US"/>
          </a:p>
        </p:txBody>
      </p:sp>
      <p:pic>
        <p:nvPicPr>
          <p:cNvPr id="5" name="그림 5" descr="텍스트, 도표, 스크린샷, 라인이(가) 표시된 사진&#10;&#10;자동 생성된 설명">
            <a:extLst>
              <a:ext uri="{FF2B5EF4-FFF2-40B4-BE49-F238E27FC236}">
                <a16:creationId xmlns:a16="http://schemas.microsoft.com/office/drawing/2014/main" id="{4194110D-E9CB-514B-8BDA-79AED9ED97A3}"/>
              </a:ext>
            </a:extLst>
          </p:cNvPr>
          <p:cNvPicPr>
            <a:picLocks noChangeAspect="1"/>
          </p:cNvPicPr>
          <p:nvPr/>
        </p:nvPicPr>
        <p:blipFill>
          <a:blip r:embed="rId2"/>
          <a:stretch>
            <a:fillRect/>
          </a:stretch>
        </p:blipFill>
        <p:spPr>
          <a:xfrm>
            <a:off x="7719237" y="4333865"/>
            <a:ext cx="3930502" cy="1902804"/>
          </a:xfrm>
          <a:prstGeom prst="rect">
            <a:avLst/>
          </a:prstGeom>
        </p:spPr>
      </p:pic>
    </p:spTree>
    <p:extLst>
      <p:ext uri="{BB962C8B-B14F-4D97-AF65-F5344CB8AC3E}">
        <p14:creationId xmlns:p14="http://schemas.microsoft.com/office/powerpoint/2010/main" val="295744908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Block RAM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Block RAM</a:t>
            </a:r>
          </a:p>
          <a:p>
            <a:pPr marL="586105" lvl="1" indent="-214630"/>
            <a:r>
              <a:rPr lang="en-US" altLang="ko-KR" dirty="0"/>
              <a:t>36Kb block RAM contains two independently controlled 18Kb RAMs</a:t>
            </a:r>
          </a:p>
          <a:p>
            <a:pPr marL="586105" lvl="1" indent="-214630"/>
            <a:r>
              <a:rPr lang="en-US" altLang="ko-KR" dirty="0">
                <a:latin typeface="맑은 고딕"/>
                <a:ea typeface="맑은 고딕"/>
              </a:rPr>
              <a:t>BRAM data output blocks are </a:t>
            </a:r>
            <a:r>
              <a:rPr lang="en-US" altLang="ko-KR" dirty="0" err="1">
                <a:latin typeface="맑은 고딕"/>
                <a:ea typeface="맑은 고딕"/>
              </a:rPr>
              <a:t>cascadable</a:t>
            </a:r>
            <a:r>
              <a:rPr lang="en-US" altLang="ko-KR" dirty="0">
                <a:latin typeface="맑은 고딕"/>
                <a:ea typeface="맑은 고딕"/>
              </a:rPr>
              <a:t> to enable deeper memory implementation</a:t>
            </a:r>
          </a:p>
          <a:p>
            <a:pPr marL="586105" lvl="1" indent="-214630"/>
            <a:r>
              <a:rPr lang="en-US" altLang="ko-KR" dirty="0">
                <a:latin typeface="맑은 고딕"/>
                <a:ea typeface="맑은 고딕"/>
              </a:rPr>
              <a:t>Provides sleep mode for power saving and selectable write mode operation</a:t>
            </a:r>
          </a:p>
          <a:p>
            <a:pPr marL="185420" indent="-185420">
              <a:buFont typeface="Arial" panose="020B0503020000020004" pitchFamily="50" charset="-127"/>
              <a:buChar char="•"/>
            </a:pPr>
            <a:r>
              <a:rPr lang="en-US" dirty="0">
                <a:latin typeface="Malgun Gothic"/>
                <a:ea typeface="Malgun Gothic"/>
              </a:rPr>
              <a:t>True dual-port</a:t>
            </a:r>
          </a:p>
          <a:p>
            <a:pPr marL="586105" lvl="1" indent="-214630"/>
            <a:r>
              <a:rPr lang="en-US" dirty="0">
                <a:latin typeface="Malgun Gothic"/>
                <a:ea typeface="Malgun Gothic"/>
              </a:rPr>
              <a:t>True dual-port memories have two completely independent access ports.</a:t>
            </a:r>
          </a:p>
          <a:p>
            <a:pPr marL="586105" lvl="1" indent="-214630"/>
            <a:r>
              <a:rPr lang="en-US" dirty="0">
                <a:latin typeface="Malgun Gothic"/>
                <a:ea typeface="Malgun Gothic"/>
              </a:rPr>
              <a:t>Both ports are interchangeable</a:t>
            </a:r>
          </a:p>
          <a:p>
            <a:pPr marL="586105" lvl="1" indent="-214630"/>
            <a:r>
              <a:rPr lang="en-US" dirty="0">
                <a:latin typeface="Malgun Gothic"/>
                <a:ea typeface="Malgun Gothic"/>
              </a:rPr>
              <a:t>Data can be written to either or both port and can be read from either or both ports.</a:t>
            </a:r>
          </a:p>
          <a:p>
            <a:pPr marL="586105" lvl="1" indent="-214630"/>
            <a:r>
              <a:rPr lang="en-US" dirty="0">
                <a:latin typeface="Malgun Gothic"/>
                <a:ea typeface="Malgun Gothic"/>
              </a:rPr>
              <a:t>Each write and read operation is synchronous</a:t>
            </a:r>
          </a:p>
          <a:p>
            <a:pPr marL="586105" lvl="1" indent="-214630"/>
            <a:r>
              <a:rPr lang="en-US" dirty="0">
                <a:latin typeface="Malgun Gothic"/>
                <a:ea typeface="Malgun Gothic"/>
              </a:rPr>
              <a:t>Each port has its own address, data in, data out, clock, clock enable and write enable</a:t>
            </a:r>
          </a:p>
          <a:p>
            <a:pPr marL="185420" indent="-185420">
              <a:buFont typeface="Arial" panose="020B0503020000020004" pitchFamily="50" charset="-127"/>
              <a:buChar char="•"/>
            </a:pPr>
            <a:r>
              <a:rPr lang="en-US" dirty="0">
                <a:latin typeface="Malgun Gothic"/>
                <a:ea typeface="Malgun Gothic"/>
              </a:rPr>
              <a:t>Simple dual-port</a:t>
            </a:r>
          </a:p>
          <a:p>
            <a:pPr marL="586105" lvl="1" indent="-214630"/>
            <a:r>
              <a:rPr lang="en-US" dirty="0">
                <a:latin typeface="Malgun Gothic"/>
                <a:ea typeface="Malgun Gothic"/>
              </a:rPr>
              <a:t>Doubled maximum port width, port width can be independent for each port </a:t>
            </a:r>
            <a:endParaRPr lang="en-US" dirty="0"/>
          </a:p>
          <a:p>
            <a:pPr marL="586105" lvl="1" indent="-214630"/>
            <a:r>
              <a:rPr lang="en-US" dirty="0">
                <a:latin typeface="Malgun Gothic"/>
                <a:ea typeface="Malgun Gothic"/>
              </a:rPr>
              <a:t>One port is designated as write port and other port as the read port</a:t>
            </a: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17</a:t>
            </a:fld>
            <a:endParaRPr lang="ko-KR" altLang="en-US"/>
          </a:p>
        </p:txBody>
      </p:sp>
    </p:spTree>
    <p:extLst>
      <p:ext uri="{BB962C8B-B14F-4D97-AF65-F5344CB8AC3E}">
        <p14:creationId xmlns:p14="http://schemas.microsoft.com/office/powerpoint/2010/main" val="286577234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Block RAM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Single Port</a:t>
            </a:r>
          </a:p>
          <a:p>
            <a:pPr marL="586105" lvl="1" indent="-214630"/>
            <a:r>
              <a:rPr lang="en-US" altLang="ko-KR" dirty="0"/>
              <a:t>Maximum port width doubled to 72bits</a:t>
            </a:r>
          </a:p>
          <a:p>
            <a:pPr marL="586105" lvl="1" indent="-214630"/>
            <a:r>
              <a:rPr lang="en-US" altLang="ko-KR" dirty="0"/>
              <a:t>Read/Write from same port</a:t>
            </a:r>
          </a:p>
          <a:p>
            <a:pPr marL="185420" indent="-185420"/>
            <a:r>
              <a:rPr lang="en-US" sz="2200" dirty="0">
                <a:latin typeface="Malgun Gothic"/>
                <a:ea typeface="Malgun Gothic"/>
              </a:rPr>
              <a:t>Write mode</a:t>
            </a:r>
          </a:p>
          <a:p>
            <a:pPr marL="586105" lvl="1" indent="-214630">
              <a:buFont typeface="맑은 고딕"/>
              <a:buChar char="–"/>
            </a:pPr>
            <a:r>
              <a:rPr lang="en-US" sz="1900" dirty="0">
                <a:latin typeface="Malgun Gothic"/>
                <a:ea typeface="Malgun Gothic"/>
              </a:rPr>
              <a:t>Write first mode</a:t>
            </a:r>
          </a:p>
          <a:p>
            <a:pPr marL="998220" lvl="2" indent="-255270">
              <a:buFont typeface="맑은 고딕"/>
              <a:buChar char="–"/>
            </a:pPr>
            <a:r>
              <a:rPr lang="en-US" sz="1700" dirty="0">
                <a:latin typeface="Malgun Gothic"/>
                <a:ea typeface="Malgun Gothic"/>
              </a:rPr>
              <a:t>Input data is simultaneously written into memory and stored in data output</a:t>
            </a:r>
          </a:p>
          <a:p>
            <a:pPr marL="586105" lvl="1" indent="-214630">
              <a:buFont typeface="맑은 고딕,Sans-Serif"/>
              <a:buChar char="–"/>
            </a:pPr>
            <a:r>
              <a:rPr lang="en-US" sz="1900" dirty="0">
                <a:latin typeface="Malgun Gothic"/>
                <a:ea typeface="Malgun Gothic"/>
              </a:rPr>
              <a:t>Read first mode</a:t>
            </a:r>
          </a:p>
          <a:p>
            <a:pPr marL="998220" lvl="2" indent="-255270">
              <a:buFont typeface="맑은 고딕,Sans-Serif"/>
              <a:buChar char="–"/>
            </a:pPr>
            <a:r>
              <a:rPr lang="en-US" sz="1700" dirty="0">
                <a:latin typeface="Malgun Gothic"/>
                <a:ea typeface="Malgun Gothic"/>
              </a:rPr>
              <a:t>Data previously stored at the write address appears on the output latches </a:t>
            </a:r>
          </a:p>
          <a:p>
            <a:pPr marL="586105" lvl="1" indent="-214630">
              <a:buFont typeface="맑은 고딕,Sans-Serif"/>
              <a:buChar char="–"/>
            </a:pPr>
            <a:r>
              <a:rPr lang="en-US" sz="1900" dirty="0">
                <a:latin typeface="Malgun Gothic"/>
                <a:ea typeface="Malgun Gothic"/>
              </a:rPr>
              <a:t>No change mode</a:t>
            </a:r>
          </a:p>
          <a:p>
            <a:pPr marL="998220" lvl="2" indent="-255270">
              <a:buFont typeface="맑은 고딕,Sans-Serif"/>
              <a:buChar char="–"/>
            </a:pPr>
            <a:r>
              <a:rPr lang="en-US" sz="1700" dirty="0">
                <a:latin typeface="Malgun Gothic"/>
                <a:ea typeface="Malgun Gothic"/>
              </a:rPr>
              <a:t>Output remain unchanged during a write operation</a:t>
            </a:r>
          </a:p>
          <a:p>
            <a:pPr marL="998220" lvl="2" indent="-255270">
              <a:buFont typeface="맑은 고딕"/>
              <a:buChar char="–"/>
            </a:pPr>
            <a:endParaRPr lang="en-US" sz="1700" dirty="0">
              <a:latin typeface="Malgun Gothic"/>
              <a:ea typeface="Malgun Gothic"/>
            </a:endParaRPr>
          </a:p>
          <a:p>
            <a:pPr marL="998220" lvl="2" indent="-255270">
              <a:buFont typeface="맑은 고딕"/>
              <a:buChar char="–"/>
            </a:pPr>
            <a:endParaRPr lang="en-US" sz="1700" dirty="0">
              <a:latin typeface="Malgun Gothic"/>
              <a:ea typeface="Malgun Gothic"/>
            </a:endParaRPr>
          </a:p>
          <a:p>
            <a:pPr marL="185420" indent="-185420"/>
            <a:endParaRPr lang="en-US" altLang="ko-KR" dirty="0">
              <a:latin typeface="맑은 고딕"/>
              <a:ea typeface="맑은 고딕"/>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18</a:t>
            </a:fld>
            <a:endParaRPr lang="ko-KR" altLang="en-US"/>
          </a:p>
        </p:txBody>
      </p:sp>
    </p:spTree>
    <p:extLst>
      <p:ext uri="{BB962C8B-B14F-4D97-AF65-F5344CB8AC3E}">
        <p14:creationId xmlns:p14="http://schemas.microsoft.com/office/powerpoint/2010/main" val="268632039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Block RAM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5908160" cy="5029650"/>
          </a:xfrm>
        </p:spPr>
        <p:txBody>
          <a:bodyPr lIns="45719" tIns="45720" rIns="45719" bIns="45720" anchor="t">
            <a:normAutofit/>
          </a:bodyPr>
          <a:lstStyle/>
          <a:p>
            <a:pPr marL="185420" indent="-185420"/>
            <a:endParaRPr lang="en-US" altLang="ko-KR" dirty="0">
              <a:latin typeface="맑은 고딕"/>
              <a:ea typeface="맑은 고딕"/>
            </a:endParaRPr>
          </a:p>
          <a:p>
            <a:pPr marL="185420" indent="-185420"/>
            <a:r>
              <a:rPr lang="en-US" altLang="ko-KR" dirty="0"/>
              <a:t>Cascade Block RAM</a:t>
            </a:r>
            <a:endParaRPr lang="en-US" dirty="0"/>
          </a:p>
          <a:p>
            <a:pPr marL="586105" lvl="1" indent="-214630"/>
            <a:r>
              <a:rPr lang="en-US" altLang="ko-KR" dirty="0">
                <a:latin typeface="맑은 고딕"/>
                <a:ea typeface="맑은 고딕"/>
              </a:rPr>
              <a:t>Provide the capability to cascade data out from one RAMB36 to the next RAMB36 to make a deeper block RAM</a:t>
            </a:r>
          </a:p>
          <a:p>
            <a:pPr marL="586105" lvl="1" indent="-214630"/>
            <a:endParaRPr lang="en-US" altLang="ko-KR" dirty="0">
              <a:latin typeface="맑은 고딕"/>
              <a:ea typeface="맑은 고딕"/>
            </a:endParaRPr>
          </a:p>
          <a:p>
            <a:pPr marL="185420" indent="-185420">
              <a:buFont typeface="Arial" panose="020B0503020000020004" pitchFamily="50" charset="-127"/>
              <a:buChar char="•"/>
            </a:pPr>
            <a:r>
              <a:rPr lang="en-US" dirty="0">
                <a:latin typeface="Malgun Gothic"/>
                <a:ea typeface="Malgun Gothic"/>
              </a:rPr>
              <a:t>Block RAM Error Correction Code</a:t>
            </a:r>
          </a:p>
          <a:p>
            <a:pPr marL="586105" lvl="1" indent="-214630"/>
            <a:r>
              <a:rPr lang="en-US" dirty="0">
                <a:latin typeface="Malgun Gothic"/>
                <a:ea typeface="Malgun Gothic"/>
              </a:rPr>
              <a:t>Block RAM support a 64-bit ECC implementation.</a:t>
            </a:r>
          </a:p>
          <a:p>
            <a:pPr marL="586105" lvl="1" indent="-214630"/>
            <a:r>
              <a:rPr lang="en-US" dirty="0">
                <a:latin typeface="Malgun Gothic"/>
                <a:ea typeface="Malgun Gothic"/>
              </a:rPr>
              <a:t>Detects single- and double-bit errors in block RAM-read out.</a:t>
            </a:r>
          </a:p>
          <a:p>
            <a:pPr marL="586105" lvl="1" indent="-214630"/>
            <a:endParaRPr lang="en-US" dirty="0">
              <a:latin typeface="Malgun Gothic"/>
              <a:ea typeface="Malgun Gothic"/>
            </a:endParaRPr>
          </a:p>
          <a:p>
            <a:pPr marL="185420" indent="-185420">
              <a:buFont typeface="Arial" panose="020B0503020000020004" pitchFamily="50" charset="-127"/>
              <a:buChar char="•"/>
            </a:pPr>
            <a:r>
              <a:rPr lang="en-US" dirty="0">
                <a:latin typeface="Malgun Gothic"/>
                <a:ea typeface="Malgun Gothic"/>
              </a:rPr>
              <a:t>Power Gating of Unused Block RAMs</a:t>
            </a:r>
          </a:p>
          <a:p>
            <a:pPr marL="586105" lvl="1" indent="-214630"/>
            <a:r>
              <a:rPr lang="en-US" dirty="0">
                <a:latin typeface="Malgun Gothic"/>
                <a:ea typeface="Malgun Gothic"/>
              </a:rPr>
              <a:t>Power gating is enabled on every 18Kb block that is not instantiated in the design. </a:t>
            </a: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19</a:t>
            </a:fld>
            <a:endParaRPr lang="ko-KR" altLang="en-US"/>
          </a:p>
        </p:txBody>
      </p:sp>
      <p:pic>
        <p:nvPicPr>
          <p:cNvPr id="5" name="그림 5" descr="텍스트, 도표, 평면도, 기술 도면이(가) 표시된 사진&#10;&#10;자동 생성된 설명">
            <a:extLst>
              <a:ext uri="{FF2B5EF4-FFF2-40B4-BE49-F238E27FC236}">
                <a16:creationId xmlns:a16="http://schemas.microsoft.com/office/drawing/2014/main" id="{9B6167CC-4B70-91DE-9494-D233AB9053D3}"/>
              </a:ext>
            </a:extLst>
          </p:cNvPr>
          <p:cNvPicPr>
            <a:picLocks noChangeAspect="1"/>
          </p:cNvPicPr>
          <p:nvPr/>
        </p:nvPicPr>
        <p:blipFill>
          <a:blip r:embed="rId2"/>
          <a:stretch>
            <a:fillRect/>
          </a:stretch>
        </p:blipFill>
        <p:spPr>
          <a:xfrm>
            <a:off x="7178749" y="1779404"/>
            <a:ext cx="4426688" cy="2803004"/>
          </a:xfrm>
          <a:prstGeom prst="rect">
            <a:avLst/>
          </a:prstGeom>
        </p:spPr>
      </p:pic>
    </p:spTree>
    <p:extLst>
      <p:ext uri="{BB962C8B-B14F-4D97-AF65-F5344CB8AC3E}">
        <p14:creationId xmlns:p14="http://schemas.microsoft.com/office/powerpoint/2010/main" val="339635447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Block RAM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err="1"/>
              <a:t>UltraRAM</a:t>
            </a:r>
          </a:p>
          <a:p>
            <a:pPr marL="586105" lvl="1" indent="-214630"/>
            <a:r>
              <a:rPr lang="en-US" altLang="ko-KR" dirty="0"/>
              <a:t>Additional on chip memory supported on </a:t>
            </a:r>
            <a:r>
              <a:rPr lang="en-US" altLang="ko-KR" dirty="0" err="1"/>
              <a:t>UltraScale</a:t>
            </a:r>
            <a:r>
              <a:rPr lang="en-US" altLang="ko-KR" dirty="0"/>
              <a:t> Architecture</a:t>
            </a:r>
          </a:p>
          <a:p>
            <a:pPr marL="586105" lvl="1" indent="-214630"/>
            <a:r>
              <a:rPr lang="en-US" altLang="ko-KR" dirty="0"/>
              <a:t>288Kb, single-clock, synchronous memory block</a:t>
            </a:r>
          </a:p>
          <a:p>
            <a:pPr marL="586105" lvl="1" indent="-214630"/>
            <a:endParaRPr lang="en-US" altLang="ko-KR" dirty="0"/>
          </a:p>
          <a:p>
            <a:pPr marL="0" indent="0">
              <a:buNone/>
            </a:pPr>
            <a:endParaRPr lang="en-US" altLang="ko-KR" dirty="0">
              <a:latin typeface="맑은 고딕"/>
              <a:ea typeface="맑은 고딕"/>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20</a:t>
            </a:fld>
            <a:endParaRPr lang="ko-KR" altLang="en-US"/>
          </a:p>
        </p:txBody>
      </p:sp>
      <p:pic>
        <p:nvPicPr>
          <p:cNvPr id="5" name="그림 5" descr="텍스트, 스크린샷, 폰트, 번호이(가) 표시된 사진&#10;&#10;자동 생성된 설명">
            <a:extLst>
              <a:ext uri="{FF2B5EF4-FFF2-40B4-BE49-F238E27FC236}">
                <a16:creationId xmlns:a16="http://schemas.microsoft.com/office/drawing/2014/main" id="{4F5B6D15-A304-501A-9358-380039B08CDF}"/>
              </a:ext>
            </a:extLst>
          </p:cNvPr>
          <p:cNvPicPr>
            <a:picLocks noChangeAspect="1"/>
          </p:cNvPicPr>
          <p:nvPr/>
        </p:nvPicPr>
        <p:blipFill>
          <a:blip r:embed="rId2"/>
          <a:stretch>
            <a:fillRect/>
          </a:stretch>
        </p:blipFill>
        <p:spPr>
          <a:xfrm>
            <a:off x="1304260" y="2434631"/>
            <a:ext cx="5808920" cy="3450714"/>
          </a:xfrm>
          <a:prstGeom prst="rect">
            <a:avLst/>
          </a:prstGeom>
        </p:spPr>
      </p:pic>
    </p:spTree>
    <p:extLst>
      <p:ext uri="{BB962C8B-B14F-4D97-AF65-F5344CB8AC3E}">
        <p14:creationId xmlns:p14="http://schemas.microsoft.com/office/powerpoint/2010/main" val="10627296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DSP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r>
              <a:rPr lang="en-US" altLang="ko-KR" dirty="0"/>
              <a:t>DSP48E2</a:t>
            </a:r>
          </a:p>
          <a:p>
            <a:pPr marL="586105" lvl="1" indent="-214630"/>
            <a:r>
              <a:rPr lang="en-US" altLang="ko-KR" dirty="0">
                <a:latin typeface="맑은 고딕"/>
                <a:ea typeface="맑은 고딕"/>
              </a:rPr>
              <a:t>DSP slice in the </a:t>
            </a:r>
            <a:r>
              <a:rPr lang="en-US" altLang="ko-KR" dirty="0" err="1">
                <a:latin typeface="맑은 고딕"/>
                <a:ea typeface="맑은 고딕"/>
              </a:rPr>
              <a:t>UltraScale</a:t>
            </a:r>
            <a:r>
              <a:rPr lang="en-US" altLang="ko-KR" dirty="0">
                <a:latin typeface="맑은 고딕"/>
                <a:ea typeface="맑은 고딕"/>
              </a:rPr>
              <a:t> architecture is defined using DSP48E2 primitive</a:t>
            </a:r>
          </a:p>
          <a:p>
            <a:pPr marL="586105" lvl="1" indent="-214630"/>
            <a:endParaRPr lang="en-US" altLang="ko-KR" dirty="0">
              <a:latin typeface="맑은 고딕"/>
              <a:ea typeface="맑은 고딕"/>
            </a:endParaRPr>
          </a:p>
          <a:p>
            <a:pPr marL="0" indent="0">
              <a:buNone/>
            </a:pPr>
            <a:endParaRPr lang="en-US" dirty="0">
              <a:latin typeface="Malgun Gothic"/>
              <a:ea typeface="Malgun Gothic"/>
            </a:endParaRPr>
          </a:p>
          <a:p>
            <a:pPr marL="586105" lvl="1" indent="-214630"/>
            <a:endParaRPr lang="en-US" dirty="0">
              <a:latin typeface="Malgun Gothic"/>
              <a:ea typeface="Malgun Gothic"/>
            </a:endParaRPr>
          </a:p>
          <a:p>
            <a:pPr marL="0" indent="0">
              <a:buNone/>
            </a:pPr>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21</a:t>
            </a:fld>
            <a:endParaRPr lang="ko-KR" altLang="en-US"/>
          </a:p>
        </p:txBody>
      </p:sp>
      <p:pic>
        <p:nvPicPr>
          <p:cNvPr id="5" name="그림 5" descr="텍스트, 도표, 평면도, 개략도이(가) 표시된 사진&#10;&#10;자동 생성된 설명">
            <a:extLst>
              <a:ext uri="{FF2B5EF4-FFF2-40B4-BE49-F238E27FC236}">
                <a16:creationId xmlns:a16="http://schemas.microsoft.com/office/drawing/2014/main" id="{30BE1413-1395-7A8F-F47F-6D39D723D14B}"/>
              </a:ext>
            </a:extLst>
          </p:cNvPr>
          <p:cNvPicPr>
            <a:picLocks noChangeAspect="1"/>
          </p:cNvPicPr>
          <p:nvPr/>
        </p:nvPicPr>
        <p:blipFill>
          <a:blip r:embed="rId2"/>
          <a:stretch>
            <a:fillRect/>
          </a:stretch>
        </p:blipFill>
        <p:spPr>
          <a:xfrm>
            <a:off x="1038447" y="2062649"/>
            <a:ext cx="5489944" cy="3512423"/>
          </a:xfrm>
          <a:prstGeom prst="rect">
            <a:avLst/>
          </a:prstGeom>
        </p:spPr>
      </p:pic>
    </p:spTree>
    <p:extLst>
      <p:ext uri="{BB962C8B-B14F-4D97-AF65-F5344CB8AC3E}">
        <p14:creationId xmlns:p14="http://schemas.microsoft.com/office/powerpoint/2010/main" val="14156798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lIns="45719" tIns="45720" rIns="45719" bIns="45720" anchor="ctr">
            <a:normAutofit/>
          </a:bodyPr>
          <a:lstStyle/>
          <a:p>
            <a:r>
              <a:rPr lang="en-US" altLang="ko-KR" dirty="0"/>
              <a:t>DSP block in </a:t>
            </a:r>
            <a:r>
              <a:rPr lang="en-US" altLang="ko-KR" dirty="0" err="1"/>
              <a:t>UltraScale</a:t>
            </a:r>
            <a:r>
              <a:rPr lang="en-US" altLang="ko-KR" dirty="0"/>
              <a:t> Architecture</a:t>
            </a:r>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lIns="45719" tIns="45720" rIns="45719" bIns="45720" anchor="t">
            <a:normAutofit/>
          </a:bodyPr>
          <a:lstStyle/>
          <a:p>
            <a:pPr marL="185420" indent="-185420">
              <a:buFont typeface="Arial,Sans-Serif"/>
            </a:pPr>
            <a:r>
              <a:rPr lang="en-US" dirty="0">
                <a:ea typeface="+mj-lt"/>
                <a:cs typeface="+mj-lt"/>
              </a:rPr>
              <a:t>DSP48E2 Functionality</a:t>
            </a:r>
          </a:p>
          <a:p>
            <a:pPr marL="586105" lvl="1" indent="-214630">
              <a:buFont typeface="Arial,Sans-Serif"/>
            </a:pPr>
            <a:r>
              <a:rPr lang="en-US" dirty="0">
                <a:ea typeface="+mj-lt"/>
                <a:cs typeface="+mj-lt"/>
              </a:rPr>
              <a:t>27 x 18 two's complement multiplier with dynamic bypass</a:t>
            </a:r>
          </a:p>
          <a:p>
            <a:pPr marL="586105" lvl="1" indent="-214630">
              <a:buFont typeface="Arial,Sans-Serif"/>
            </a:pPr>
            <a:r>
              <a:rPr lang="en-US" dirty="0">
                <a:ea typeface="+mj-lt"/>
                <a:cs typeface="+mj-lt"/>
              </a:rPr>
              <a:t>27-bit pre-adder</a:t>
            </a:r>
          </a:p>
          <a:p>
            <a:pPr marL="586105" lvl="1" indent="-214630">
              <a:buFont typeface="Arial,Sans-Serif"/>
            </a:pPr>
            <a:r>
              <a:rPr lang="en-US" dirty="0">
                <a:ea typeface="+mj-lt"/>
                <a:cs typeface="+mj-lt"/>
              </a:rPr>
              <a:t>48-bit accumulator can be cascaded to build 96-bit and larger accumulators, adders and counters</a:t>
            </a:r>
          </a:p>
          <a:p>
            <a:pPr marL="586105" lvl="1" indent="-214630">
              <a:buFont typeface="Arial,Sans-Serif"/>
            </a:pPr>
            <a:r>
              <a:rPr lang="en-US" dirty="0">
                <a:ea typeface="+mj-lt"/>
                <a:cs typeface="+mj-lt"/>
              </a:rPr>
              <a:t>Single-instruction-multiple-data arithmetic unit / dual 24-bit or quad 12-bit</a:t>
            </a:r>
          </a:p>
          <a:p>
            <a:pPr marL="586105" lvl="1" indent="-214630">
              <a:buFont typeface="Arial,Sans-Serif"/>
            </a:pPr>
            <a:r>
              <a:rPr lang="en-US" dirty="0">
                <a:ea typeface="+mj-lt"/>
                <a:cs typeface="+mj-lt"/>
              </a:rPr>
              <a:t>48-bit logic unit for bitwise operation</a:t>
            </a:r>
            <a:endParaRPr lang="ko-KR" altLang="en-US" dirty="0">
              <a:ea typeface="+mj-lt"/>
              <a:cs typeface="+mj-lt"/>
            </a:endParaRPr>
          </a:p>
          <a:p>
            <a:pPr marL="586105" lvl="1" indent="-214630">
              <a:buFont typeface="Arial,Sans-Serif"/>
            </a:pPr>
            <a:r>
              <a:rPr lang="en-US" dirty="0">
                <a:ea typeface="+mj-lt"/>
                <a:cs typeface="+mj-lt"/>
              </a:rPr>
              <a:t>Pattern detector</a:t>
            </a:r>
          </a:p>
          <a:p>
            <a:pPr marL="586105" lvl="1" indent="-214630">
              <a:buFont typeface="Arial,Sans-Serif"/>
            </a:pPr>
            <a:r>
              <a:rPr lang="en-US" dirty="0">
                <a:ea typeface="+mj-lt"/>
                <a:cs typeface="+mj-lt"/>
              </a:rPr>
              <a:t>Optional pipeline registers </a:t>
            </a:r>
            <a:endParaRPr lang="en-US"/>
          </a:p>
          <a:p>
            <a:pPr marL="586105" lvl="1" indent="-214630"/>
            <a:endParaRPr lang="en-US" altLang="ko-KR" dirty="0">
              <a:latin typeface="맑은 고딕"/>
              <a:ea typeface="맑은 고딕"/>
            </a:endParaRPr>
          </a:p>
          <a:p>
            <a:pPr marL="586105" lvl="1" indent="-214630"/>
            <a:endParaRPr lang="en-US" altLang="ko-KR" dirty="0">
              <a:latin typeface="맑은 고딕"/>
              <a:ea typeface="맑은 고딕"/>
            </a:endParaRPr>
          </a:p>
          <a:p>
            <a:pPr marL="185420" indent="-185420">
              <a:buFont typeface="Arial" panose="020B0503020000020004" pitchFamily="50" charset="-127"/>
              <a:buChar char="•"/>
            </a:pPr>
            <a:endParaRPr lang="en-US" dirty="0">
              <a:latin typeface="Malgun Gothic"/>
              <a:ea typeface="Malgun Gothic"/>
            </a:endParaRPr>
          </a:p>
          <a:p>
            <a:pPr marL="586105" lvl="1" indent="-214630"/>
            <a:endParaRPr lang="en-US" dirty="0">
              <a:latin typeface="Malgun Gothic"/>
              <a:ea typeface="Malgun Gothic"/>
            </a:endParaRPr>
          </a:p>
          <a:p>
            <a:pPr marL="0" indent="0">
              <a:buNone/>
            </a:pPr>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dirty="0">
              <a:latin typeface="Malgun Gothic"/>
              <a:ea typeface="Malgun Gothic"/>
            </a:endParaRP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586105" lvl="1" indent="-214630"/>
            <a:endParaRPr lang="en-US" altLang="ko-KR"/>
          </a:p>
          <a:p>
            <a:pPr marL="185420" indent="-185420"/>
            <a:endParaRPr lang="en-US" altLang="ko-KR"/>
          </a:p>
          <a:p>
            <a:pPr marL="742315" lvl="2" indent="0">
              <a:buNone/>
            </a:pPr>
            <a:endParaRPr lang="ko-KR" altLang="en-US"/>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22</a:t>
            </a:fld>
            <a:endParaRPr lang="ko-KR" altLang="en-US"/>
          </a:p>
        </p:txBody>
      </p:sp>
    </p:spTree>
    <p:extLst>
      <p:ext uri="{BB962C8B-B14F-4D97-AF65-F5344CB8AC3E}">
        <p14:creationId xmlns:p14="http://schemas.microsoft.com/office/powerpoint/2010/main" val="309375069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4559301" y="3106917"/>
            <a:ext cx="3371850" cy="644166"/>
          </a:xfrm>
        </p:spPr>
        <p:txBody>
          <a:bodyPr>
            <a:normAutofit fontScale="90000"/>
          </a:bodyPr>
          <a:lstStyle/>
          <a:p>
            <a:r>
              <a:rPr lang="en-US" altLang="ko-KR" sz="4000" dirty="0"/>
              <a:t>DDR4/SDRAM</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23</a:t>
            </a:fld>
            <a:endParaRPr lang="ko-KR" altLang="en-US"/>
          </a:p>
        </p:txBody>
      </p:sp>
    </p:spTree>
    <p:extLst>
      <p:ext uri="{BB962C8B-B14F-4D97-AF65-F5344CB8AC3E}">
        <p14:creationId xmlns:p14="http://schemas.microsoft.com/office/powerpoint/2010/main" val="57494026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0D557C33-325A-3F16-9CFE-431A199CFA39}"/>
              </a:ext>
            </a:extLst>
          </p:cNvPr>
          <p:cNvPicPr>
            <a:picLocks noChangeAspect="1"/>
          </p:cNvPicPr>
          <p:nvPr/>
        </p:nvPicPr>
        <p:blipFill>
          <a:blip r:embed="rId3"/>
          <a:stretch>
            <a:fillRect/>
          </a:stretch>
        </p:blipFill>
        <p:spPr>
          <a:xfrm>
            <a:off x="1218519" y="1199839"/>
            <a:ext cx="9754961" cy="4458322"/>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Hierarchy</a:t>
            </a:r>
          </a:p>
          <a:p>
            <a:pPr marL="371465" lvl="1" indent="0">
              <a:buNone/>
            </a:pPr>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24</a:t>
            </a:fld>
            <a:endParaRPr lang="ko-KR" altLang="en-US"/>
          </a:p>
        </p:txBody>
      </p:sp>
    </p:spTree>
    <p:extLst>
      <p:ext uri="{BB962C8B-B14F-4D97-AF65-F5344CB8AC3E}">
        <p14:creationId xmlns:p14="http://schemas.microsoft.com/office/powerpoint/2010/main" val="375056120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091D5ABB-B392-CE32-E78B-EB57B8FE9DF3}"/>
              </a:ext>
            </a:extLst>
          </p:cNvPr>
          <p:cNvPicPr>
            <a:picLocks noChangeAspect="1"/>
          </p:cNvPicPr>
          <p:nvPr/>
        </p:nvPicPr>
        <p:blipFill>
          <a:blip r:embed="rId2"/>
          <a:stretch>
            <a:fillRect/>
          </a:stretch>
        </p:blipFill>
        <p:spPr>
          <a:xfrm>
            <a:off x="4308283" y="2212111"/>
            <a:ext cx="7155584" cy="3789475"/>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DDR4 Memory Organization</a:t>
            </a:r>
          </a:p>
          <a:p>
            <a:pPr lvl="1"/>
            <a:r>
              <a:rPr lang="en-US" altLang="ko-KR" dirty="0"/>
              <a:t>Top level: Memory Controller(Channel)</a:t>
            </a:r>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25</a:t>
            </a:fld>
            <a:endParaRPr lang="ko-KR" altLang="en-US"/>
          </a:p>
        </p:txBody>
      </p:sp>
      <p:pic>
        <p:nvPicPr>
          <p:cNvPr id="1026" name="Picture 2">
            <a:extLst>
              <a:ext uri="{FF2B5EF4-FFF2-40B4-BE49-F238E27FC236}">
                <a16:creationId xmlns:a16="http://schemas.microsoft.com/office/drawing/2014/main" id="{A2E47854-CF72-63D8-02C8-E9323ED9C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453" y="2774575"/>
            <a:ext cx="3190875" cy="2209800"/>
          </a:xfrm>
          <a:prstGeom prst="rect">
            <a:avLst/>
          </a:prstGeom>
          <a:noFill/>
          <a:extLst>
            <a:ext uri="{909E8E84-426E-40DD-AFC4-6F175D3DCCD1}">
              <a14:hiddenFill xmlns:a14="http://schemas.microsoft.com/office/drawing/2010/main">
                <a:solidFill>
                  <a:srgbClr val="FFFFFF"/>
                </a:solidFill>
              </a14:hiddenFill>
            </a:ext>
          </a:extLst>
        </p:spPr>
      </p:pic>
      <p:sp>
        <p:nvSpPr>
          <p:cNvPr id="5" name="직사각형 4">
            <a:extLst>
              <a:ext uri="{FF2B5EF4-FFF2-40B4-BE49-F238E27FC236}">
                <a16:creationId xmlns:a16="http://schemas.microsoft.com/office/drawing/2014/main" id="{132D4F81-76B9-97B5-8B49-663654EAB5A7}"/>
              </a:ext>
            </a:extLst>
          </p:cNvPr>
          <p:cNvSpPr/>
          <p:nvPr/>
        </p:nvSpPr>
        <p:spPr>
          <a:xfrm>
            <a:off x="4303328" y="2886075"/>
            <a:ext cx="1259272" cy="3810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6" name="직사각형 5">
            <a:extLst>
              <a:ext uri="{FF2B5EF4-FFF2-40B4-BE49-F238E27FC236}">
                <a16:creationId xmlns:a16="http://schemas.microsoft.com/office/drawing/2014/main" id="{6831E76A-51E9-B0A3-EDD9-7BF3014120FA}"/>
              </a:ext>
            </a:extLst>
          </p:cNvPr>
          <p:cNvSpPr/>
          <p:nvPr/>
        </p:nvSpPr>
        <p:spPr>
          <a:xfrm>
            <a:off x="4303328" y="4055339"/>
            <a:ext cx="1259272" cy="3810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7" name="직사각형 6">
            <a:extLst>
              <a:ext uri="{FF2B5EF4-FFF2-40B4-BE49-F238E27FC236}">
                <a16:creationId xmlns:a16="http://schemas.microsoft.com/office/drawing/2014/main" id="{03C50BA2-9D5E-5103-8542-E2D22FA7C1D2}"/>
              </a:ext>
            </a:extLst>
          </p:cNvPr>
          <p:cNvSpPr/>
          <p:nvPr/>
        </p:nvSpPr>
        <p:spPr>
          <a:xfrm>
            <a:off x="4303328" y="4519857"/>
            <a:ext cx="1259272" cy="3810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41521720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DDR4 Memory Organization</a:t>
            </a:r>
          </a:p>
          <a:p>
            <a:pPr lvl="1"/>
            <a:r>
              <a:rPr lang="en-US" altLang="ko-KR" dirty="0"/>
              <a:t>Rank (Depth Cascading)</a:t>
            </a:r>
          </a:p>
          <a:p>
            <a:pPr lvl="2"/>
            <a:r>
              <a:rPr lang="en-US" altLang="ko-KR" dirty="0"/>
              <a:t>Highest logical unit and is typically used to increase the memory capacity of your system</a:t>
            </a:r>
          </a:p>
          <a:p>
            <a:pPr lvl="2"/>
            <a:r>
              <a:rPr lang="en-US" altLang="ko-KR" dirty="0"/>
              <a:t>Single, Dual are divided according to the number of Chip Select signals (</a:t>
            </a:r>
            <a:r>
              <a:rPr lang="en-US" altLang="ko-KR" dirty="0" err="1"/>
              <a:t>CS_n</a:t>
            </a:r>
            <a:r>
              <a:rPr lang="en-US" altLang="ko-KR" dirty="0"/>
              <a:t>)</a:t>
            </a:r>
          </a:p>
          <a:p>
            <a:pPr lvl="1"/>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26</a:t>
            </a:fld>
            <a:endParaRPr lang="ko-KR" altLang="en-US"/>
          </a:p>
        </p:txBody>
      </p:sp>
      <p:sp>
        <p:nvSpPr>
          <p:cNvPr id="5" name="TextBox 4">
            <a:extLst>
              <a:ext uri="{FF2B5EF4-FFF2-40B4-BE49-F238E27FC236}">
                <a16:creationId xmlns:a16="http://schemas.microsoft.com/office/drawing/2014/main" id="{6127919F-E9E6-9834-2EE4-9856104DA95B}"/>
              </a:ext>
            </a:extLst>
          </p:cNvPr>
          <p:cNvSpPr txBox="1"/>
          <p:nvPr/>
        </p:nvSpPr>
        <p:spPr>
          <a:xfrm>
            <a:off x="5287563" y="2077375"/>
            <a:ext cx="667953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algn="l" defTabSz="914400" rtl="0" fontAlgn="auto" latinLnBrk="0" hangingPunct="0">
              <a:lnSpc>
                <a:spcPct val="100000"/>
              </a:lnSpc>
              <a:spcBef>
                <a:spcPts val="0"/>
              </a:spcBef>
              <a:spcAft>
                <a:spcPts val="0"/>
              </a:spcAft>
              <a:buClrTx/>
              <a:buSzTx/>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pic>
        <p:nvPicPr>
          <p:cNvPr id="2050" name="Picture 2" descr="Difference Between Dual Rank and Single Rank RAM | Memory4less Official Blog">
            <a:extLst>
              <a:ext uri="{FF2B5EF4-FFF2-40B4-BE49-F238E27FC236}">
                <a16:creationId xmlns:a16="http://schemas.microsoft.com/office/drawing/2014/main" id="{F66F1885-6384-11F2-BAF9-94D0704C64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4196" y="2615854"/>
            <a:ext cx="5163608" cy="3561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95737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normAutofit lnSpcReduction="10000"/>
          </a:bodyPr>
          <a:lstStyle/>
          <a:p>
            <a:r>
              <a:rPr lang="en-US" altLang="ko-KR" dirty="0"/>
              <a:t>DDR4 Memory Organization</a:t>
            </a:r>
          </a:p>
          <a:p>
            <a:pPr lvl="1"/>
            <a:r>
              <a:rPr lang="en-US" altLang="ko-KR" dirty="0"/>
              <a:t>When Read , it needs Address </a:t>
            </a:r>
            <a:r>
              <a:rPr lang="ko-KR" altLang="en-US" dirty="0"/>
              <a:t>→ </a:t>
            </a:r>
            <a:r>
              <a:rPr lang="en-US" altLang="ko-KR" dirty="0"/>
              <a:t>This</a:t>
            </a:r>
            <a:r>
              <a:rPr lang="ko-KR" altLang="en-US" dirty="0"/>
              <a:t> </a:t>
            </a:r>
            <a:r>
              <a:rPr lang="en-US" altLang="ko-KR" dirty="0"/>
              <a:t>Address</a:t>
            </a:r>
            <a:r>
              <a:rPr lang="ko-KR" altLang="en-US" dirty="0"/>
              <a:t> </a:t>
            </a:r>
            <a:r>
              <a:rPr lang="en-US" altLang="ko-KR" dirty="0"/>
              <a:t>is</a:t>
            </a:r>
            <a:r>
              <a:rPr lang="ko-KR" altLang="en-US" dirty="0"/>
              <a:t> </a:t>
            </a:r>
            <a:r>
              <a:rPr lang="en-US" altLang="ko-KR" dirty="0"/>
              <a:t>logical address </a:t>
            </a:r>
            <a:r>
              <a:rPr lang="ko-KR" altLang="en-US" dirty="0"/>
              <a:t>→ </a:t>
            </a:r>
            <a:r>
              <a:rPr lang="en-US" altLang="ko-KR" dirty="0"/>
              <a:t>Translate to Physical address </a:t>
            </a:r>
          </a:p>
          <a:p>
            <a:pPr lvl="1"/>
            <a:r>
              <a:rPr lang="en-US" altLang="ko-KR" dirty="0"/>
              <a:t>Bank Group: A collection of Banks</a:t>
            </a:r>
          </a:p>
          <a:p>
            <a:pPr lvl="1"/>
            <a:endParaRPr lang="en-US" altLang="ko-KR" dirty="0"/>
          </a:p>
          <a:p>
            <a:pPr lvl="1"/>
            <a:endParaRPr lang="en-US" altLang="ko-KR" dirty="0"/>
          </a:p>
          <a:p>
            <a:pPr lvl="1"/>
            <a:endParaRPr lang="en-US" altLang="ko-KR" dirty="0"/>
          </a:p>
          <a:p>
            <a:pPr lvl="1"/>
            <a:r>
              <a:rPr lang="en-US" altLang="ko-KR" dirty="0"/>
              <a:t>Bank: A collection of Memory Arrays</a:t>
            </a:r>
          </a:p>
          <a:p>
            <a:pPr lvl="1"/>
            <a:endParaRPr lang="en-US" altLang="ko-KR" dirty="0"/>
          </a:p>
          <a:p>
            <a:pPr lvl="1"/>
            <a:endParaRPr lang="en-US" altLang="ko-KR" dirty="0"/>
          </a:p>
          <a:p>
            <a:pPr lvl="1"/>
            <a:endParaRPr lang="en-US" altLang="ko-KR" dirty="0"/>
          </a:p>
          <a:p>
            <a:pPr lvl="1"/>
            <a:r>
              <a:rPr lang="en-US" altLang="ko-KR" dirty="0"/>
              <a:t>Memory</a:t>
            </a:r>
            <a:r>
              <a:rPr lang="ko-KR" altLang="en-US" dirty="0"/>
              <a:t> </a:t>
            </a:r>
            <a:r>
              <a:rPr lang="en-US" altLang="ko-KR" dirty="0"/>
              <a:t>Array:</a:t>
            </a:r>
            <a:r>
              <a:rPr lang="ko-KR" altLang="en-US" dirty="0"/>
              <a:t> </a:t>
            </a:r>
            <a:r>
              <a:rPr lang="en-US" altLang="ko-KR" dirty="0"/>
              <a:t>A collection of DRAM Cell</a:t>
            </a:r>
          </a:p>
          <a:p>
            <a:pPr lvl="1"/>
            <a:endParaRPr lang="en-US" altLang="ko-KR" dirty="0"/>
          </a:p>
          <a:p>
            <a:pPr lvl="1"/>
            <a:endParaRPr lang="en-US" altLang="ko-KR" dirty="0"/>
          </a:p>
          <a:p>
            <a:pPr lvl="1"/>
            <a:r>
              <a:rPr lang="en-US" altLang="ko-KR" dirty="0"/>
              <a:t> </a:t>
            </a:r>
          </a:p>
          <a:p>
            <a:pPr lvl="1"/>
            <a:endParaRPr lang="en-US" altLang="ko-KR" dirty="0"/>
          </a:p>
          <a:p>
            <a:pPr lvl="1"/>
            <a:endParaRPr lang="en-US" altLang="ko-KR" dirty="0"/>
          </a:p>
          <a:p>
            <a:endParaRPr lang="en-US" altLang="ko-KR" dirty="0"/>
          </a:p>
          <a:p>
            <a:pPr marL="742931" lvl="2" indent="0">
              <a:buNone/>
            </a:pPr>
            <a:endParaRPr lang="ko-KR" altLang="en-US" dirty="0"/>
          </a:p>
        </p:txBody>
      </p:sp>
      <p:pic>
        <p:nvPicPr>
          <p:cNvPr id="13" name="그림 12">
            <a:extLst>
              <a:ext uri="{FF2B5EF4-FFF2-40B4-BE49-F238E27FC236}">
                <a16:creationId xmlns:a16="http://schemas.microsoft.com/office/drawing/2014/main" id="{F0F8A280-4A3D-BBB2-1BA5-2A49D8A61832}"/>
              </a:ext>
            </a:extLst>
          </p:cNvPr>
          <p:cNvPicPr>
            <a:picLocks noChangeAspect="1"/>
          </p:cNvPicPr>
          <p:nvPr/>
        </p:nvPicPr>
        <p:blipFill>
          <a:blip r:embed="rId3"/>
          <a:stretch>
            <a:fillRect/>
          </a:stretch>
        </p:blipFill>
        <p:spPr>
          <a:xfrm>
            <a:off x="5904073" y="3208271"/>
            <a:ext cx="1965572" cy="1622270"/>
          </a:xfrm>
          <a:prstGeom prst="rect">
            <a:avLst/>
          </a:prstGeom>
        </p:spPr>
      </p:pic>
      <p:pic>
        <p:nvPicPr>
          <p:cNvPr id="9" name="그림 8">
            <a:extLst>
              <a:ext uri="{FF2B5EF4-FFF2-40B4-BE49-F238E27FC236}">
                <a16:creationId xmlns:a16="http://schemas.microsoft.com/office/drawing/2014/main" id="{53E1B750-B664-5E33-A702-1C81B742D55C}"/>
              </a:ext>
            </a:extLst>
          </p:cNvPr>
          <p:cNvPicPr>
            <a:picLocks noChangeAspect="1"/>
          </p:cNvPicPr>
          <p:nvPr/>
        </p:nvPicPr>
        <p:blipFill>
          <a:blip r:embed="rId4"/>
          <a:stretch>
            <a:fillRect/>
          </a:stretch>
        </p:blipFill>
        <p:spPr>
          <a:xfrm>
            <a:off x="5239264" y="1887076"/>
            <a:ext cx="4831523" cy="1174015"/>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27</a:t>
            </a:fld>
            <a:endParaRPr lang="ko-KR" altLang="en-US"/>
          </a:p>
        </p:txBody>
      </p:sp>
      <p:pic>
        <p:nvPicPr>
          <p:cNvPr id="15" name="그림 14">
            <a:extLst>
              <a:ext uri="{FF2B5EF4-FFF2-40B4-BE49-F238E27FC236}">
                <a16:creationId xmlns:a16="http://schemas.microsoft.com/office/drawing/2014/main" id="{2DA2FC08-4F59-18EE-53A8-A5B0D67A22DA}"/>
              </a:ext>
            </a:extLst>
          </p:cNvPr>
          <p:cNvPicPr>
            <a:picLocks noChangeAspect="1"/>
          </p:cNvPicPr>
          <p:nvPr/>
        </p:nvPicPr>
        <p:blipFill>
          <a:blip r:embed="rId5"/>
          <a:stretch>
            <a:fillRect/>
          </a:stretch>
        </p:blipFill>
        <p:spPr>
          <a:xfrm>
            <a:off x="5676841" y="4894324"/>
            <a:ext cx="838317" cy="752580"/>
          </a:xfrm>
          <a:prstGeom prst="rect">
            <a:avLst/>
          </a:prstGeom>
        </p:spPr>
      </p:pic>
      <p:sp>
        <p:nvSpPr>
          <p:cNvPr id="20" name="TextBox 19">
            <a:extLst>
              <a:ext uri="{FF2B5EF4-FFF2-40B4-BE49-F238E27FC236}">
                <a16:creationId xmlns:a16="http://schemas.microsoft.com/office/drawing/2014/main" id="{9B8F6372-23F3-CECA-DFF2-A22146D31AEE}"/>
              </a:ext>
            </a:extLst>
          </p:cNvPr>
          <p:cNvSpPr txBox="1"/>
          <p:nvPr/>
        </p:nvSpPr>
        <p:spPr>
          <a:xfrm>
            <a:off x="923420" y="5710687"/>
            <a:ext cx="64582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1"/>
            <a:r>
              <a:rPr lang="en-US" altLang="ko-KR" dirty="0"/>
              <a:t>Column width = DQ data bus, classified as x4, x8, x16</a:t>
            </a:r>
          </a:p>
        </p:txBody>
      </p:sp>
    </p:spTree>
    <p:extLst>
      <p:ext uri="{BB962C8B-B14F-4D97-AF65-F5344CB8AC3E}">
        <p14:creationId xmlns:p14="http://schemas.microsoft.com/office/powerpoint/2010/main" val="336726331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2DD9166-C8F4-18B7-C178-49F886180BCC}"/>
              </a:ext>
            </a:extLst>
          </p:cNvPr>
          <p:cNvPicPr>
            <a:picLocks noChangeAspect="1"/>
          </p:cNvPicPr>
          <p:nvPr/>
        </p:nvPicPr>
        <p:blipFill>
          <a:blip r:embed="rId3"/>
          <a:stretch>
            <a:fillRect/>
          </a:stretch>
        </p:blipFill>
        <p:spPr>
          <a:xfrm>
            <a:off x="838197" y="1766112"/>
            <a:ext cx="4449366" cy="4548873"/>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DRAM sizing &amp; Addressing</a:t>
            </a:r>
          </a:p>
          <a:p>
            <a:pPr lvl="1"/>
            <a:r>
              <a:rPr lang="en-US" altLang="ko-KR" dirty="0"/>
              <a:t>Specified in JEDEC spec, 2G, 4G, 8G, 16G are available</a:t>
            </a:r>
          </a:p>
          <a:p>
            <a:pPr lvl="1"/>
            <a:endParaRPr lang="en-US" altLang="ko-KR" dirty="0"/>
          </a:p>
          <a:p>
            <a:pPr lvl="1"/>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28</a:t>
            </a:fld>
            <a:endParaRPr lang="ko-KR" altLang="en-US"/>
          </a:p>
        </p:txBody>
      </p:sp>
      <p:sp>
        <p:nvSpPr>
          <p:cNvPr id="5" name="TextBox 4">
            <a:extLst>
              <a:ext uri="{FF2B5EF4-FFF2-40B4-BE49-F238E27FC236}">
                <a16:creationId xmlns:a16="http://schemas.microsoft.com/office/drawing/2014/main" id="{6127919F-E9E6-9834-2EE4-9856104DA95B}"/>
              </a:ext>
            </a:extLst>
          </p:cNvPr>
          <p:cNvSpPr txBox="1"/>
          <p:nvPr/>
        </p:nvSpPr>
        <p:spPr>
          <a:xfrm>
            <a:off x="5287563" y="2077375"/>
            <a:ext cx="667953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algn="l" defTabSz="914400" rtl="0" fontAlgn="auto" latinLnBrk="0" hangingPunct="0">
              <a:lnSpc>
                <a:spcPct val="100000"/>
              </a:lnSpc>
              <a:spcBef>
                <a:spcPts val="0"/>
              </a:spcBef>
              <a:spcAft>
                <a:spcPts val="0"/>
              </a:spcAft>
              <a:buClrTx/>
              <a:buSzTx/>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
        <p:nvSpPr>
          <p:cNvPr id="7" name="TextBox 6">
            <a:extLst>
              <a:ext uri="{FF2B5EF4-FFF2-40B4-BE49-F238E27FC236}">
                <a16:creationId xmlns:a16="http://schemas.microsoft.com/office/drawing/2014/main" id="{D7446FF7-99E4-122E-6BD1-831072BF2684}"/>
              </a:ext>
            </a:extLst>
          </p:cNvPr>
          <p:cNvSpPr txBox="1"/>
          <p:nvPr/>
        </p:nvSpPr>
        <p:spPr>
          <a:xfrm>
            <a:off x="5287562" y="2077375"/>
            <a:ext cx="6990255" cy="21698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914400" rtl="0" fontAlgn="auto" latinLnBrk="0" hangingPunct="0">
              <a:lnSpc>
                <a:spcPct val="150000"/>
              </a:lnSpc>
              <a:spcBef>
                <a:spcPts val="0"/>
              </a:spcBef>
              <a:spcAft>
                <a:spcPts val="0"/>
              </a:spcAft>
              <a:buClrTx/>
              <a:buSzTx/>
              <a:buFontTx/>
              <a:buChar char="-"/>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The difference between 2G, 4G, 8G, 16G is # of row addresses</a:t>
            </a:r>
          </a:p>
          <a:p>
            <a:pPr marL="285750" marR="0" indent="-285750" algn="l" defTabSz="914400" rtl="0" fontAlgn="auto" latinLnBrk="0" hangingPunct="0">
              <a:lnSpc>
                <a:spcPct val="150000"/>
              </a:lnSpc>
              <a:spcBef>
                <a:spcPts val="0"/>
              </a:spcBef>
              <a:spcAft>
                <a:spcPts val="0"/>
              </a:spcAft>
              <a:buClrTx/>
              <a:buSzTx/>
              <a:buFontTx/>
              <a:buChar char="-"/>
              <a:tabLst/>
            </a:pPr>
            <a:r>
              <a:rPr lang="en-US" altLang="ko-KR" dirty="0"/>
              <a:t>DDR4 DRAMs are available in 3 width (# of Data Pins)</a:t>
            </a:r>
          </a:p>
          <a:p>
            <a:pPr lvl="1" indent="0">
              <a:lnSpc>
                <a:spcPct val="150000"/>
              </a:lnSpc>
            </a:pPr>
            <a:r>
              <a:rPr lang="en-US" altLang="ko-KR" dirty="0"/>
              <a:t>	x4, x8, x16: DQ[3:0], DQ[7:0], DQ[15:0]</a:t>
            </a:r>
          </a:p>
          <a:p>
            <a:pPr marL="285750" lvl="1" indent="-285750">
              <a:lnSpc>
                <a:spcPct val="150000"/>
              </a:lnSpc>
              <a:buFontTx/>
              <a:buChar char="-"/>
            </a:pPr>
            <a:r>
              <a:rPr lang="en-US" altLang="ko-KR" dirty="0"/>
              <a:t>Read operation as burst 8 mode (Mode to increase/decrease addresses sequentially and read/write large amounts of data)</a:t>
            </a:r>
          </a:p>
        </p:txBody>
      </p:sp>
    </p:spTree>
    <p:extLst>
      <p:ext uri="{BB962C8B-B14F-4D97-AF65-F5344CB8AC3E}">
        <p14:creationId xmlns:p14="http://schemas.microsoft.com/office/powerpoint/2010/main" val="84357260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normAutofit fontScale="92500" lnSpcReduction="10000"/>
          </a:bodyPr>
          <a:lstStyle/>
          <a:p>
            <a:r>
              <a:rPr lang="en-US" altLang="ko-KR" b="1" dirty="0"/>
              <a:t>DDR4 Memory Accessing</a:t>
            </a:r>
          </a:p>
          <a:p>
            <a:pPr lvl="1"/>
            <a:r>
              <a:rPr lang="en-US" altLang="ko-KR" b="1" dirty="0"/>
              <a:t>Burst</a:t>
            </a:r>
            <a:r>
              <a:rPr lang="en-US" altLang="ko-KR" dirty="0"/>
              <a:t> oriented read/write operation, select location &amp; burst length of 8</a:t>
            </a:r>
          </a:p>
          <a:p>
            <a:pPr lvl="1"/>
            <a:r>
              <a:rPr lang="en-US" altLang="ko-KR" b="1" dirty="0"/>
              <a:t>Read/Write</a:t>
            </a:r>
            <a:r>
              <a:rPr lang="en-US" altLang="ko-KR" dirty="0"/>
              <a:t>: 2-step operation</a:t>
            </a:r>
          </a:p>
          <a:p>
            <a:pPr lvl="2"/>
            <a:r>
              <a:rPr lang="en-US" altLang="ko-KR" dirty="0"/>
              <a:t>Begins with ACTIVATE (</a:t>
            </a:r>
            <a:r>
              <a:rPr lang="en-US" altLang="ko-KR" dirty="0" err="1"/>
              <a:t>ACT_n</a:t>
            </a:r>
            <a:r>
              <a:rPr lang="en-US" altLang="ko-KR" dirty="0"/>
              <a:t> &amp; </a:t>
            </a:r>
            <a:r>
              <a:rPr lang="en-US" altLang="ko-KR" dirty="0" err="1"/>
              <a:t>CS_n</a:t>
            </a:r>
            <a:r>
              <a:rPr lang="en-US" altLang="ko-KR" dirty="0"/>
              <a:t> are low), following RD or WR command </a:t>
            </a:r>
          </a:p>
          <a:p>
            <a:pPr lvl="1">
              <a:lnSpc>
                <a:spcPct val="150000"/>
              </a:lnSpc>
            </a:pPr>
            <a:r>
              <a:rPr lang="en-US" altLang="ko-KR" b="1" dirty="0"/>
              <a:t>RAS</a:t>
            </a:r>
            <a:r>
              <a:rPr lang="en-US" altLang="ko-KR" dirty="0"/>
              <a:t> (Row Address Strobe (check signal)): Address bits registered ACTIVATE command are used to select </a:t>
            </a:r>
            <a:r>
              <a:rPr lang="en-US" altLang="ko-KR" dirty="0" err="1"/>
              <a:t>BankGroup</a:t>
            </a:r>
            <a:r>
              <a:rPr lang="en-US" altLang="ko-KR" dirty="0"/>
              <a:t> (BG0-BG1), Bank (BA0-BA1) and Row (A0-A17) to be activated</a:t>
            </a:r>
          </a:p>
          <a:p>
            <a:pPr lvl="1">
              <a:lnSpc>
                <a:spcPct val="150000"/>
              </a:lnSpc>
            </a:pPr>
            <a:r>
              <a:rPr lang="en-US" altLang="ko-KR" b="1" dirty="0"/>
              <a:t>CAS</a:t>
            </a:r>
            <a:r>
              <a:rPr lang="en-US" altLang="ko-KR" dirty="0"/>
              <a:t> (Column Address Strobe (check signal)): Address bits registered Read/Write command are used to select starting column location for the burst operation </a:t>
            </a:r>
          </a:p>
          <a:p>
            <a:pPr lvl="1">
              <a:lnSpc>
                <a:spcPct val="150000"/>
              </a:lnSpc>
            </a:pPr>
            <a:r>
              <a:rPr lang="en-US" altLang="ko-KR" sz="1800" dirty="0"/>
              <a:t>Each bank has only one set of Sense Amps. Before read/write to a different row in the same bank can be performed, current open row </a:t>
            </a:r>
            <a:r>
              <a:rPr lang="en-US" altLang="ko-KR" dirty="0"/>
              <a:t>must </a:t>
            </a:r>
            <a:r>
              <a:rPr lang="en-US" altLang="ko-KR" sz="1800" dirty="0"/>
              <a:t>de-activated using a PRECHARGE command, it causes the data in the Sense Amps to be written back into the row.</a:t>
            </a:r>
          </a:p>
          <a:p>
            <a:pPr lvl="1">
              <a:lnSpc>
                <a:spcPct val="150000"/>
              </a:lnSpc>
            </a:pPr>
            <a:r>
              <a:rPr lang="en-US" altLang="ko-KR" b="1" dirty="0"/>
              <a:t>RDA</a:t>
            </a:r>
            <a:r>
              <a:rPr lang="en-US" altLang="ko-KR" dirty="0"/>
              <a:t> (Read with Auto-</a:t>
            </a:r>
            <a:r>
              <a:rPr lang="en-US" altLang="ko-KR" dirty="0" err="1"/>
              <a:t>Precharge</a:t>
            </a:r>
            <a:r>
              <a:rPr lang="en-US" altLang="ko-KR" dirty="0"/>
              <a:t>), </a:t>
            </a:r>
            <a:r>
              <a:rPr lang="en-US" altLang="ko-KR" b="1" dirty="0"/>
              <a:t>WDA</a:t>
            </a:r>
            <a:r>
              <a:rPr lang="en-US" altLang="ko-KR" dirty="0"/>
              <a:t> (Write with Auto-</a:t>
            </a:r>
            <a:r>
              <a:rPr lang="en-US" altLang="ko-KR" dirty="0" err="1"/>
              <a:t>Precharge</a:t>
            </a:r>
            <a:r>
              <a:rPr lang="en-US" altLang="ko-KR" dirty="0"/>
              <a:t>): Auto </a:t>
            </a:r>
            <a:r>
              <a:rPr lang="en-US" altLang="ko-KR" dirty="0" err="1"/>
              <a:t>precharge</a:t>
            </a:r>
            <a:r>
              <a:rPr lang="en-US" altLang="ko-KR" dirty="0"/>
              <a:t> when read/write operation is over</a:t>
            </a:r>
            <a:endParaRPr lang="en-US" altLang="ko-KR" sz="1800"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29</a:t>
            </a:fld>
            <a:endParaRPr lang="ko-KR" altLang="en-US"/>
          </a:p>
        </p:txBody>
      </p:sp>
    </p:spTree>
    <p:extLst>
      <p:ext uri="{BB962C8B-B14F-4D97-AF65-F5344CB8AC3E}">
        <p14:creationId xmlns:p14="http://schemas.microsoft.com/office/powerpoint/2010/main" val="35836583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AEF4031F-A935-C653-C3EB-8CA752B57C0C}"/>
              </a:ext>
            </a:extLst>
          </p:cNvPr>
          <p:cNvPicPr>
            <a:picLocks noChangeAspect="1"/>
          </p:cNvPicPr>
          <p:nvPr/>
        </p:nvPicPr>
        <p:blipFill>
          <a:blip r:embed="rId2"/>
          <a:stretch>
            <a:fillRect/>
          </a:stretch>
        </p:blipFill>
        <p:spPr>
          <a:xfrm>
            <a:off x="2091266" y="1802145"/>
            <a:ext cx="7730067" cy="1526133"/>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normAutofit/>
          </a:bodyPr>
          <a:lstStyle/>
          <a:p>
            <a:r>
              <a:rPr lang="en-US" altLang="ko-KR" dirty="0"/>
              <a:t>Accessing Operation</a:t>
            </a:r>
          </a:p>
          <a:p>
            <a:pPr lvl="1"/>
            <a:r>
              <a:rPr lang="en-US" altLang="ko-KR" dirty="0"/>
              <a:t>Read</a:t>
            </a:r>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pPr marL="714365" lvl="1" indent="-342900">
              <a:lnSpc>
                <a:spcPct val="150000"/>
              </a:lnSpc>
              <a:buAutoNum type="arabicPeriod"/>
            </a:pPr>
            <a:r>
              <a:rPr lang="en-US" altLang="ko-KR" dirty="0"/>
              <a:t>ACT command, with value on the address bus currently indicates the row address</a:t>
            </a:r>
          </a:p>
          <a:p>
            <a:pPr marL="714365" lvl="1" indent="-342900">
              <a:lnSpc>
                <a:spcPct val="150000"/>
              </a:lnSpc>
              <a:buAutoNum type="arabicPeriod"/>
            </a:pPr>
            <a:r>
              <a:rPr lang="en-US" altLang="ko-KR" dirty="0"/>
              <a:t>RDA (Read with Auto-</a:t>
            </a:r>
            <a:r>
              <a:rPr lang="en-US" altLang="ko-KR" dirty="0" err="1"/>
              <a:t>Precharge</a:t>
            </a:r>
            <a:r>
              <a:rPr lang="en-US" altLang="ko-KR" dirty="0"/>
              <a:t>) issued, with value on the address bus during currently is the column address.</a:t>
            </a:r>
          </a:p>
          <a:p>
            <a:pPr marL="714365" lvl="1" indent="-342900">
              <a:lnSpc>
                <a:spcPct val="150000"/>
              </a:lnSpc>
              <a:buAutoNum type="arabicPeriod"/>
            </a:pPr>
            <a:r>
              <a:rPr lang="en-US" altLang="ko-KR" dirty="0"/>
              <a:t>RDA command tells the DRAM to automatically PRECHARGE the bank after the read is over</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30</a:t>
            </a:fld>
            <a:endParaRPr lang="ko-KR" altLang="en-US"/>
          </a:p>
        </p:txBody>
      </p:sp>
      <p:sp>
        <p:nvSpPr>
          <p:cNvPr id="8" name="직사각형 7">
            <a:extLst>
              <a:ext uri="{FF2B5EF4-FFF2-40B4-BE49-F238E27FC236}">
                <a16:creationId xmlns:a16="http://schemas.microsoft.com/office/drawing/2014/main" id="{FECF485C-A054-90C5-3027-D3F60937AEF3}"/>
              </a:ext>
            </a:extLst>
          </p:cNvPr>
          <p:cNvSpPr/>
          <p:nvPr/>
        </p:nvSpPr>
        <p:spPr>
          <a:xfrm>
            <a:off x="6096000" y="2954867"/>
            <a:ext cx="2929467" cy="3048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9" name="TextBox 8">
            <a:extLst>
              <a:ext uri="{FF2B5EF4-FFF2-40B4-BE49-F238E27FC236}">
                <a16:creationId xmlns:a16="http://schemas.microsoft.com/office/drawing/2014/main" id="{35339081-0A8A-B59D-042C-0EB8EA017B93}"/>
              </a:ext>
            </a:extLst>
          </p:cNvPr>
          <p:cNvSpPr txBox="1"/>
          <p:nvPr/>
        </p:nvSpPr>
        <p:spPr>
          <a:xfrm>
            <a:off x="6769099" y="3311345"/>
            <a:ext cx="158326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Burst length 8</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
        <p:nvSpPr>
          <p:cNvPr id="10" name="직사각형 9">
            <a:extLst>
              <a:ext uri="{FF2B5EF4-FFF2-40B4-BE49-F238E27FC236}">
                <a16:creationId xmlns:a16="http://schemas.microsoft.com/office/drawing/2014/main" id="{BC44FCF4-2F31-5188-B5BA-6DC307E3B559}"/>
              </a:ext>
            </a:extLst>
          </p:cNvPr>
          <p:cNvSpPr/>
          <p:nvPr/>
        </p:nvSpPr>
        <p:spPr>
          <a:xfrm>
            <a:off x="3107267" y="2175933"/>
            <a:ext cx="457200" cy="3048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cxnSp>
        <p:nvCxnSpPr>
          <p:cNvPr id="12" name="직선 화살표 연결선 11">
            <a:extLst>
              <a:ext uri="{FF2B5EF4-FFF2-40B4-BE49-F238E27FC236}">
                <a16:creationId xmlns:a16="http://schemas.microsoft.com/office/drawing/2014/main" id="{335E5878-FC84-08CF-47D7-1837119F48CA}"/>
              </a:ext>
            </a:extLst>
          </p:cNvPr>
          <p:cNvCxnSpPr>
            <a:stCxn id="10" idx="3"/>
            <a:endCxn id="8" idx="1"/>
          </p:cNvCxnSpPr>
          <p:nvPr/>
        </p:nvCxnSpPr>
        <p:spPr>
          <a:xfrm>
            <a:off x="3564467" y="2328333"/>
            <a:ext cx="2531533" cy="762000"/>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4" name="직사각형 13">
            <a:extLst>
              <a:ext uri="{FF2B5EF4-FFF2-40B4-BE49-F238E27FC236}">
                <a16:creationId xmlns:a16="http://schemas.microsoft.com/office/drawing/2014/main" id="{2396F9EF-B0A2-D795-F62C-140010EA5515}"/>
              </a:ext>
            </a:extLst>
          </p:cNvPr>
          <p:cNvSpPr/>
          <p:nvPr/>
        </p:nvSpPr>
        <p:spPr>
          <a:xfrm>
            <a:off x="4495800" y="2175933"/>
            <a:ext cx="457200" cy="3048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345772889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197" y="1009291"/>
            <a:ext cx="10896603" cy="5029650"/>
          </a:xfrm>
        </p:spPr>
        <p:txBody>
          <a:bodyPr>
            <a:normAutofit lnSpcReduction="10000"/>
          </a:bodyPr>
          <a:lstStyle/>
          <a:p>
            <a:r>
              <a:rPr lang="en-US" altLang="ko-KR" dirty="0"/>
              <a:t>Accessing Operation</a:t>
            </a:r>
          </a:p>
          <a:p>
            <a:pPr lvl="1"/>
            <a:r>
              <a:rPr lang="en-US" altLang="ko-KR" dirty="0"/>
              <a:t>Write</a:t>
            </a:r>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pPr marL="714365" lvl="1" indent="-342900">
              <a:lnSpc>
                <a:spcPct val="150000"/>
              </a:lnSpc>
              <a:buAutoNum type="arabicPeriod"/>
            </a:pPr>
            <a:r>
              <a:rPr lang="en-US" altLang="ko-KR" sz="1700" dirty="0"/>
              <a:t>Activates a ROW</a:t>
            </a:r>
          </a:p>
          <a:p>
            <a:pPr marL="714365" lvl="1" indent="-342900">
              <a:lnSpc>
                <a:spcPct val="150000"/>
              </a:lnSpc>
              <a:buAutoNum type="arabicPeriod"/>
            </a:pPr>
            <a:r>
              <a:rPr lang="en-US" altLang="ko-KR" sz="1700" dirty="0"/>
              <a:t>Two WRITE commands are issued, 1) To address COL 2) COL + 8 (The example has 2x8 burst length)</a:t>
            </a:r>
          </a:p>
          <a:p>
            <a:pPr marL="783254" lvl="2" indent="0">
              <a:lnSpc>
                <a:spcPct val="150000"/>
              </a:lnSpc>
              <a:buNone/>
            </a:pPr>
            <a:r>
              <a:rPr lang="en-US" altLang="ko-KR" sz="1500" dirty="0"/>
              <a:t>*Second write operation doesn’t need ACTIVATE before – Row we intend to write to is already active in </a:t>
            </a:r>
          </a:p>
          <a:p>
            <a:pPr marL="783254" lvl="2" indent="0">
              <a:lnSpc>
                <a:spcPct val="150000"/>
              </a:lnSpc>
              <a:buNone/>
            </a:pPr>
            <a:r>
              <a:rPr lang="en-US" altLang="ko-KR" sz="1500" dirty="0"/>
              <a:t>Sense Amps. First command WR leaves row active, Second command WRA de-activates row when write </a:t>
            </a:r>
          </a:p>
          <a:p>
            <a:pPr marL="783254" lvl="2" indent="0">
              <a:lnSpc>
                <a:spcPct val="150000"/>
              </a:lnSpc>
              <a:buNone/>
            </a:pPr>
            <a:r>
              <a:rPr lang="en-US" altLang="ko-KR" sz="1500" dirty="0"/>
              <a:t>completes</a:t>
            </a:r>
            <a:endParaRPr lang="ko-KR" altLang="en-US" sz="15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31</a:t>
            </a:fld>
            <a:endParaRPr lang="ko-KR" altLang="en-US"/>
          </a:p>
        </p:txBody>
      </p:sp>
      <p:pic>
        <p:nvPicPr>
          <p:cNvPr id="7" name="그림 6">
            <a:extLst>
              <a:ext uri="{FF2B5EF4-FFF2-40B4-BE49-F238E27FC236}">
                <a16:creationId xmlns:a16="http://schemas.microsoft.com/office/drawing/2014/main" id="{295ABB19-746A-35F2-F2F1-6369122330AE}"/>
              </a:ext>
            </a:extLst>
          </p:cNvPr>
          <p:cNvPicPr>
            <a:picLocks noChangeAspect="1"/>
          </p:cNvPicPr>
          <p:nvPr/>
        </p:nvPicPr>
        <p:blipFill>
          <a:blip r:embed="rId2"/>
          <a:stretch>
            <a:fillRect/>
          </a:stretch>
        </p:blipFill>
        <p:spPr>
          <a:xfrm>
            <a:off x="1198030" y="1873931"/>
            <a:ext cx="9795933" cy="1478500"/>
          </a:xfrm>
          <a:prstGeom prst="rect">
            <a:avLst/>
          </a:prstGeom>
        </p:spPr>
      </p:pic>
      <p:sp>
        <p:nvSpPr>
          <p:cNvPr id="12" name="직사각형 11">
            <a:extLst>
              <a:ext uri="{FF2B5EF4-FFF2-40B4-BE49-F238E27FC236}">
                <a16:creationId xmlns:a16="http://schemas.microsoft.com/office/drawing/2014/main" id="{D445BE1F-FE8E-843F-8560-B8D3C8533AD9}"/>
              </a:ext>
            </a:extLst>
          </p:cNvPr>
          <p:cNvSpPr/>
          <p:nvPr/>
        </p:nvSpPr>
        <p:spPr>
          <a:xfrm>
            <a:off x="3395133" y="2184400"/>
            <a:ext cx="448734" cy="2794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13" name="직사각형 12">
            <a:extLst>
              <a:ext uri="{FF2B5EF4-FFF2-40B4-BE49-F238E27FC236}">
                <a16:creationId xmlns:a16="http://schemas.microsoft.com/office/drawing/2014/main" id="{4E7A3923-B15C-FE9B-6719-F62BC2036F28}"/>
              </a:ext>
            </a:extLst>
          </p:cNvPr>
          <p:cNvSpPr/>
          <p:nvPr/>
        </p:nvSpPr>
        <p:spPr>
          <a:xfrm>
            <a:off x="5037666" y="2212846"/>
            <a:ext cx="448734" cy="279400"/>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cxnSp>
        <p:nvCxnSpPr>
          <p:cNvPr id="15" name="직선 화살표 연결선 14">
            <a:extLst>
              <a:ext uri="{FF2B5EF4-FFF2-40B4-BE49-F238E27FC236}">
                <a16:creationId xmlns:a16="http://schemas.microsoft.com/office/drawing/2014/main" id="{AD7F3E07-214F-15D3-049D-31626A2D1EE1}"/>
              </a:ext>
            </a:extLst>
          </p:cNvPr>
          <p:cNvCxnSpPr/>
          <p:nvPr/>
        </p:nvCxnSpPr>
        <p:spPr>
          <a:xfrm>
            <a:off x="3843867" y="2324100"/>
            <a:ext cx="1032933" cy="774700"/>
          </a:xfrm>
          <a:prstGeom prst="straightConnector1">
            <a:avLst/>
          </a:prstGeom>
          <a:noFill/>
          <a:ln w="19050"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6" name="직선 화살표 연결선 15">
            <a:extLst>
              <a:ext uri="{FF2B5EF4-FFF2-40B4-BE49-F238E27FC236}">
                <a16:creationId xmlns:a16="http://schemas.microsoft.com/office/drawing/2014/main" id="{3DC79ABF-B650-4879-912C-1D38CB14C9CE}"/>
              </a:ext>
            </a:extLst>
          </p:cNvPr>
          <p:cNvCxnSpPr>
            <a:cxnSpLocks/>
          </p:cNvCxnSpPr>
          <p:nvPr/>
        </p:nvCxnSpPr>
        <p:spPr>
          <a:xfrm>
            <a:off x="5486400" y="2324100"/>
            <a:ext cx="3666067" cy="812312"/>
          </a:xfrm>
          <a:prstGeom prst="straightConnector1">
            <a:avLst/>
          </a:prstGeom>
          <a:noFill/>
          <a:ln w="19050"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0462468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A06960B3-83F2-4DA3-144A-62D3E5AA27D5}"/>
              </a:ext>
            </a:extLst>
          </p:cNvPr>
          <p:cNvPicPr>
            <a:picLocks noChangeAspect="1"/>
          </p:cNvPicPr>
          <p:nvPr/>
        </p:nvPicPr>
        <p:blipFill>
          <a:blip r:embed="rId2"/>
          <a:stretch>
            <a:fillRect/>
          </a:stretch>
        </p:blipFill>
        <p:spPr>
          <a:xfrm>
            <a:off x="532991" y="798561"/>
            <a:ext cx="11126017" cy="5526885"/>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DDR4</a:t>
            </a:r>
            <a:r>
              <a:rPr lang="ko-KR" altLang="en-US" dirty="0"/>
              <a:t> </a:t>
            </a:r>
            <a:r>
              <a:rPr lang="en-US" altLang="ko-KR" dirty="0"/>
              <a:t>SDRAM – Micron DDR4 SDRAM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32</a:t>
            </a:fld>
            <a:endParaRPr lang="ko-KR" altLang="en-US"/>
          </a:p>
        </p:txBody>
      </p:sp>
      <p:sp>
        <p:nvSpPr>
          <p:cNvPr id="8" name="직사각형 7">
            <a:extLst>
              <a:ext uri="{FF2B5EF4-FFF2-40B4-BE49-F238E27FC236}">
                <a16:creationId xmlns:a16="http://schemas.microsoft.com/office/drawing/2014/main" id="{524A8221-A43A-8D05-A8B1-159CB14AB6BB}"/>
              </a:ext>
            </a:extLst>
          </p:cNvPr>
          <p:cNvSpPr/>
          <p:nvPr/>
        </p:nvSpPr>
        <p:spPr>
          <a:xfrm>
            <a:off x="4181302" y="1496291"/>
            <a:ext cx="3524596" cy="2576945"/>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
        <p:nvSpPr>
          <p:cNvPr id="11" name="직사각형 10">
            <a:extLst>
              <a:ext uri="{FF2B5EF4-FFF2-40B4-BE49-F238E27FC236}">
                <a16:creationId xmlns:a16="http://schemas.microsoft.com/office/drawing/2014/main" id="{E8A59AC2-25CA-6E80-5788-8D5D7B46FCD9}"/>
              </a:ext>
            </a:extLst>
          </p:cNvPr>
          <p:cNvSpPr/>
          <p:nvPr/>
        </p:nvSpPr>
        <p:spPr>
          <a:xfrm>
            <a:off x="706581" y="1442727"/>
            <a:ext cx="1911927" cy="1986274"/>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
        <p:nvSpPr>
          <p:cNvPr id="12" name="TextBox 11">
            <a:extLst>
              <a:ext uri="{FF2B5EF4-FFF2-40B4-BE49-F238E27FC236}">
                <a16:creationId xmlns:a16="http://schemas.microsoft.com/office/drawing/2014/main" id="{6758BF0B-9918-6170-FF2D-3A0975F57B83}"/>
              </a:ext>
            </a:extLst>
          </p:cNvPr>
          <p:cNvSpPr txBox="1"/>
          <p:nvPr/>
        </p:nvSpPr>
        <p:spPr>
          <a:xfrm>
            <a:off x="1277733" y="3477473"/>
            <a:ext cx="76962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ko-KR" sz="1800" b="0" i="0" u="none" strike="noStrike" cap="none" spc="0" normalizeH="0" baseline="0" dirty="0">
                <a:ln>
                  <a:noFill/>
                </a:ln>
                <a:solidFill>
                  <a:srgbClr val="FF0000"/>
                </a:solidFill>
                <a:effectLst/>
                <a:uFillTx/>
                <a:latin typeface="+mj-lt"/>
                <a:ea typeface="+mj-ea"/>
                <a:cs typeface="+mj-cs"/>
                <a:sym typeface="맑은 고딕"/>
              </a:rPr>
              <a:t>Inputs</a:t>
            </a:r>
            <a:endParaRPr kumimoji="0" lang="ko-KR" altLang="en-US" sz="1800" b="0" i="0" u="none" strike="noStrike" cap="none" spc="0" normalizeH="0" baseline="0" dirty="0">
              <a:ln>
                <a:noFill/>
              </a:ln>
              <a:solidFill>
                <a:srgbClr val="FF0000"/>
              </a:solidFill>
              <a:effectLst/>
              <a:uFillTx/>
              <a:latin typeface="+mj-lt"/>
              <a:ea typeface="+mj-ea"/>
              <a:cs typeface="+mj-cs"/>
              <a:sym typeface="맑은 고딕"/>
            </a:endParaRPr>
          </a:p>
        </p:txBody>
      </p:sp>
      <p:sp>
        <p:nvSpPr>
          <p:cNvPr id="13" name="TextBox 12">
            <a:extLst>
              <a:ext uri="{FF2B5EF4-FFF2-40B4-BE49-F238E27FC236}">
                <a16:creationId xmlns:a16="http://schemas.microsoft.com/office/drawing/2014/main" id="{BE239961-CA5A-8F46-EF0E-CA10D75D0D9D}"/>
              </a:ext>
            </a:extLst>
          </p:cNvPr>
          <p:cNvSpPr txBox="1"/>
          <p:nvPr/>
        </p:nvSpPr>
        <p:spPr>
          <a:xfrm>
            <a:off x="5083233" y="1032980"/>
            <a:ext cx="172073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ko-KR" dirty="0">
                <a:solidFill>
                  <a:srgbClr val="FF0000"/>
                </a:solidFill>
              </a:rPr>
              <a:t>Bank Addresses</a:t>
            </a:r>
            <a:endParaRPr kumimoji="0" lang="ko-KR" altLang="en-US" sz="1800" b="0" i="0" u="none" strike="noStrike" cap="none" spc="0" normalizeH="0" baseline="0" dirty="0">
              <a:ln>
                <a:noFill/>
              </a:ln>
              <a:solidFill>
                <a:srgbClr val="FF0000"/>
              </a:solidFill>
              <a:effectLst/>
              <a:uFillTx/>
              <a:latin typeface="+mj-lt"/>
              <a:ea typeface="+mj-ea"/>
              <a:cs typeface="+mj-cs"/>
              <a:sym typeface="맑은 고딕"/>
            </a:endParaRPr>
          </a:p>
        </p:txBody>
      </p:sp>
    </p:spTree>
    <p:extLst>
      <p:ext uri="{BB962C8B-B14F-4D97-AF65-F5344CB8AC3E}">
        <p14:creationId xmlns:p14="http://schemas.microsoft.com/office/powerpoint/2010/main" val="109943605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5327277" y="3106917"/>
            <a:ext cx="1537445" cy="644166"/>
          </a:xfrm>
        </p:spPr>
        <p:txBody>
          <a:bodyPr>
            <a:normAutofit/>
          </a:bodyPr>
          <a:lstStyle/>
          <a:p>
            <a:r>
              <a:rPr lang="en-US" altLang="ko-KR" sz="4000" dirty="0"/>
              <a:t>HBM</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33</a:t>
            </a:fld>
            <a:endParaRPr lang="ko-KR" altLang="en-US"/>
          </a:p>
        </p:txBody>
      </p:sp>
    </p:spTree>
    <p:extLst>
      <p:ext uri="{BB962C8B-B14F-4D97-AF65-F5344CB8AC3E}">
        <p14:creationId xmlns:p14="http://schemas.microsoft.com/office/powerpoint/2010/main" val="352159302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HBM (High Bandwidth Memory)</a:t>
            </a:r>
          </a:p>
          <a:p>
            <a:pPr lvl="1"/>
            <a:r>
              <a:rPr lang="en-US" altLang="ko-KR" dirty="0"/>
              <a:t>Standardized stacked memory, providing wide channels for data, both within the stack and between the memory and logic</a:t>
            </a:r>
          </a:p>
          <a:p>
            <a:pPr lvl="1"/>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34</a:t>
            </a:fld>
            <a:endParaRPr lang="ko-KR" altLang="en-US"/>
          </a:p>
        </p:txBody>
      </p:sp>
      <p:pic>
        <p:nvPicPr>
          <p:cNvPr id="6" name="그림 5">
            <a:extLst>
              <a:ext uri="{FF2B5EF4-FFF2-40B4-BE49-F238E27FC236}">
                <a16:creationId xmlns:a16="http://schemas.microsoft.com/office/drawing/2014/main" id="{FC58B853-687D-9AF2-E6B7-D68EAF5836FF}"/>
              </a:ext>
            </a:extLst>
          </p:cNvPr>
          <p:cNvPicPr>
            <a:picLocks noChangeAspect="1"/>
          </p:cNvPicPr>
          <p:nvPr/>
        </p:nvPicPr>
        <p:blipFill>
          <a:blip r:embed="rId3"/>
          <a:stretch>
            <a:fillRect/>
          </a:stretch>
        </p:blipFill>
        <p:spPr>
          <a:xfrm>
            <a:off x="1370269" y="2073646"/>
            <a:ext cx="9451461" cy="4103317"/>
          </a:xfrm>
          <a:prstGeom prst="rect">
            <a:avLst/>
          </a:prstGeom>
        </p:spPr>
      </p:pic>
    </p:spTree>
    <p:extLst>
      <p:ext uri="{BB962C8B-B14F-4D97-AF65-F5344CB8AC3E}">
        <p14:creationId xmlns:p14="http://schemas.microsoft.com/office/powerpoint/2010/main" val="2066592043"/>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Stacked with multiple layers</a:t>
            </a:r>
          </a:p>
          <a:p>
            <a:pPr lvl="1"/>
            <a:r>
              <a:rPr lang="en-US" altLang="ko-KR" dirty="0"/>
              <a:t>Higher transmit bandwidth</a:t>
            </a:r>
          </a:p>
          <a:p>
            <a:pPr lvl="1"/>
            <a:r>
              <a:rPr lang="en-US" altLang="ko-KR" dirty="0"/>
              <a:t>Smaller size of DRAM</a:t>
            </a:r>
          </a:p>
          <a:p>
            <a:pPr lvl="1"/>
            <a:r>
              <a:rPr lang="en-US" altLang="ko-KR" dirty="0"/>
              <a:t>Higher efficiency</a:t>
            </a:r>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35</a:t>
            </a:fld>
            <a:endParaRPr lang="ko-KR" altLang="en-US"/>
          </a:p>
        </p:txBody>
      </p:sp>
      <p:pic>
        <p:nvPicPr>
          <p:cNvPr id="7" name="그림 6">
            <a:extLst>
              <a:ext uri="{FF2B5EF4-FFF2-40B4-BE49-F238E27FC236}">
                <a16:creationId xmlns:a16="http://schemas.microsoft.com/office/drawing/2014/main" id="{809B8249-A2E8-3A1A-83CA-F3F04FFA0B59}"/>
              </a:ext>
            </a:extLst>
          </p:cNvPr>
          <p:cNvPicPr>
            <a:picLocks noChangeAspect="1"/>
          </p:cNvPicPr>
          <p:nvPr/>
        </p:nvPicPr>
        <p:blipFill rotWithShape="1">
          <a:blip r:embed="rId3"/>
          <a:srcRect l="1618" t="3726" r="2852"/>
          <a:stretch/>
        </p:blipFill>
        <p:spPr>
          <a:xfrm>
            <a:off x="838197" y="2937933"/>
            <a:ext cx="5105403" cy="2219486"/>
          </a:xfrm>
          <a:prstGeom prst="rect">
            <a:avLst/>
          </a:prstGeom>
        </p:spPr>
      </p:pic>
      <p:cxnSp>
        <p:nvCxnSpPr>
          <p:cNvPr id="9" name="직선 화살표 연결선 8">
            <a:extLst>
              <a:ext uri="{FF2B5EF4-FFF2-40B4-BE49-F238E27FC236}">
                <a16:creationId xmlns:a16="http://schemas.microsoft.com/office/drawing/2014/main" id="{DB258CB6-CE06-8143-6C03-CE6E9BE1FDD3}"/>
              </a:ext>
            </a:extLst>
          </p:cNvPr>
          <p:cNvCxnSpPr>
            <a:cxnSpLocks/>
          </p:cNvCxnSpPr>
          <p:nvPr/>
        </p:nvCxnSpPr>
        <p:spPr>
          <a:xfrm>
            <a:off x="5943600" y="4047676"/>
            <a:ext cx="643467" cy="0"/>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477769C8-D308-C71E-EF6B-866A490BDEE4}"/>
              </a:ext>
            </a:extLst>
          </p:cNvPr>
          <p:cNvSpPr txBox="1"/>
          <p:nvPr/>
        </p:nvSpPr>
        <p:spPr>
          <a:xfrm>
            <a:off x="6654799" y="2937933"/>
            <a:ext cx="5376333" cy="1754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914400" rtl="0" fontAlgn="auto" latinLnBrk="0" hangingPunct="0">
              <a:lnSpc>
                <a:spcPct val="150000"/>
              </a:lnSpc>
              <a:spcBef>
                <a:spcPts val="0"/>
              </a:spcBef>
              <a:spcAft>
                <a:spcPts val="0"/>
              </a:spcAft>
              <a:buClrTx/>
              <a:buSzTx/>
              <a:buFontTx/>
              <a:buChar char="-"/>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Each DRAM die: 2 x 128bits Channels</a:t>
            </a:r>
          </a:p>
          <a:p>
            <a:pPr marL="285750" marR="0" indent="-285750" algn="l" defTabSz="914400" rtl="0" fontAlgn="auto" latinLnBrk="0" hangingPunct="0">
              <a:lnSpc>
                <a:spcPct val="150000"/>
              </a:lnSpc>
              <a:spcBef>
                <a:spcPts val="0"/>
              </a:spcBef>
              <a:spcAft>
                <a:spcPts val="0"/>
              </a:spcAft>
              <a:buClrTx/>
              <a:buSzTx/>
              <a:buFontTx/>
              <a:buChar char="-"/>
              <a:tabLst/>
            </a:pPr>
            <a:r>
              <a:rPr lang="en-US" altLang="ko-KR" dirty="0"/>
              <a:t>Total HBM Memory bit width: 2 x 128bits x 4 layers = 1024bits (DDR4 has 64bit width)</a:t>
            </a:r>
          </a:p>
          <a:p>
            <a:pPr marL="285750" marR="0" indent="-285750" algn="l" defTabSz="914400" rtl="0" fontAlgn="auto" latinLnBrk="0" hangingPunct="0">
              <a:lnSpc>
                <a:spcPct val="150000"/>
              </a:lnSpc>
              <a:spcBef>
                <a:spcPts val="0"/>
              </a:spcBef>
              <a:spcAft>
                <a:spcPts val="0"/>
              </a:spcAft>
              <a:buClrTx/>
              <a:buSzTx/>
              <a:buFontTx/>
              <a:buChar char="-"/>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CPU/GPU has 4 HBM </a:t>
            </a:r>
            <a:r>
              <a:rPr lang="en-US" altLang="ko-KR" dirty="0"/>
              <a:t>Memories: total 4096bits</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
        <p:nvSpPr>
          <p:cNvPr id="12" name="직사각형 11">
            <a:extLst>
              <a:ext uri="{FF2B5EF4-FFF2-40B4-BE49-F238E27FC236}">
                <a16:creationId xmlns:a16="http://schemas.microsoft.com/office/drawing/2014/main" id="{855C2D53-6236-BC12-6A52-B9583EAF223D}"/>
              </a:ext>
            </a:extLst>
          </p:cNvPr>
          <p:cNvSpPr/>
          <p:nvPr/>
        </p:nvSpPr>
        <p:spPr>
          <a:xfrm>
            <a:off x="4241799" y="2937933"/>
            <a:ext cx="330201" cy="228600"/>
          </a:xfrm>
          <a:prstGeom prst="rect">
            <a:avLst/>
          </a:prstGeom>
          <a:noFill/>
          <a:ln w="28575"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cxnSp>
        <p:nvCxnSpPr>
          <p:cNvPr id="14" name="직선 화살표 연결선 13">
            <a:extLst>
              <a:ext uri="{FF2B5EF4-FFF2-40B4-BE49-F238E27FC236}">
                <a16:creationId xmlns:a16="http://schemas.microsoft.com/office/drawing/2014/main" id="{E4FBE108-1E30-85DF-A598-EDC2C643F8D9}"/>
              </a:ext>
            </a:extLst>
          </p:cNvPr>
          <p:cNvCxnSpPr>
            <a:stCxn id="12" idx="3"/>
          </p:cNvCxnSpPr>
          <p:nvPr/>
        </p:nvCxnSpPr>
        <p:spPr>
          <a:xfrm flipV="1">
            <a:off x="4572000" y="1515533"/>
            <a:ext cx="1701800" cy="15367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3E885C10-C669-CA97-5580-539DABFFDD86}"/>
              </a:ext>
            </a:extLst>
          </p:cNvPr>
          <p:cNvSpPr txBox="1"/>
          <p:nvPr/>
        </p:nvSpPr>
        <p:spPr>
          <a:xfrm>
            <a:off x="6443133" y="1147313"/>
            <a:ext cx="551180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TSV: Through Silicon Via, Connection of DRAM die</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101941460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dirty="0"/>
              <a:t>Difference between HBM and other memories</a:t>
            </a:r>
          </a:p>
          <a:p>
            <a:pPr lvl="2"/>
            <a:r>
              <a:rPr lang="en-US" altLang="ko-KR" dirty="0"/>
              <a:t>Very large bandwidth of interface</a:t>
            </a:r>
          </a:p>
          <a:p>
            <a:pPr lvl="2"/>
            <a:r>
              <a:rPr lang="en-US" altLang="ko-KR" dirty="0"/>
              <a:t>Since Main Chip and HBM are so close </a:t>
            </a:r>
            <a:r>
              <a:rPr lang="ko-KR" altLang="en-US" dirty="0"/>
              <a:t>→ </a:t>
            </a:r>
            <a:r>
              <a:rPr lang="en-US" altLang="ko-KR" dirty="0"/>
              <a:t>Can get higher transmission efficiency</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36</a:t>
            </a:fld>
            <a:endParaRPr lang="ko-KR" altLang="en-US"/>
          </a:p>
        </p:txBody>
      </p:sp>
      <p:pic>
        <p:nvPicPr>
          <p:cNvPr id="4098" name="Picture 2">
            <a:extLst>
              <a:ext uri="{FF2B5EF4-FFF2-40B4-BE49-F238E27FC236}">
                <a16:creationId xmlns:a16="http://schemas.microsoft.com/office/drawing/2014/main" id="{404DF0B1-2C98-D5C4-1B7A-57F9E696B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729" y="2122968"/>
            <a:ext cx="10022076" cy="3883555"/>
          </a:xfrm>
          <a:prstGeom prst="rect">
            <a:avLst/>
          </a:prstGeom>
          <a:noFill/>
          <a:extLst>
            <a:ext uri="{909E8E84-426E-40DD-AFC4-6F175D3DCCD1}">
              <a14:hiddenFill xmlns:a14="http://schemas.microsoft.com/office/drawing/2010/main">
                <a:solidFill>
                  <a:srgbClr val="FFFFFF"/>
                </a:solidFill>
              </a14:hiddenFill>
            </a:ext>
          </a:extLst>
        </p:spPr>
      </p:pic>
      <p:sp>
        <p:nvSpPr>
          <p:cNvPr id="5" name="직사각형 4">
            <a:extLst>
              <a:ext uri="{FF2B5EF4-FFF2-40B4-BE49-F238E27FC236}">
                <a16:creationId xmlns:a16="http://schemas.microsoft.com/office/drawing/2014/main" id="{6C287CA4-8F10-D478-297B-525AE152D6A3}"/>
              </a:ext>
            </a:extLst>
          </p:cNvPr>
          <p:cNvSpPr/>
          <p:nvPr/>
        </p:nvSpPr>
        <p:spPr>
          <a:xfrm>
            <a:off x="5367867" y="4461435"/>
            <a:ext cx="1447800" cy="270933"/>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137447797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11353798" cy="5029650"/>
          </a:xfrm>
        </p:spPr>
        <p:txBody>
          <a:bodyPr>
            <a:normAutofit/>
          </a:bodyPr>
          <a:lstStyle/>
          <a:p>
            <a:r>
              <a:rPr lang="en-US" altLang="ko-KR" dirty="0"/>
              <a:t>Disadvantages of HBM</a:t>
            </a:r>
          </a:p>
          <a:p>
            <a:pPr lvl="2">
              <a:lnSpc>
                <a:spcPct val="150000"/>
              </a:lnSpc>
            </a:pPr>
            <a:r>
              <a:rPr lang="en-US" altLang="ko-KR" dirty="0"/>
              <a:t>Poor Flexibility: Lack of flexibility in system collocation, fixed specification with DDR, hard to change</a:t>
            </a:r>
          </a:p>
          <a:p>
            <a:pPr marL="742931" lvl="2" indent="0">
              <a:lnSpc>
                <a:spcPct val="150000"/>
              </a:lnSpc>
              <a:buNone/>
            </a:pPr>
            <a:r>
              <a:rPr lang="en-US" altLang="ko-KR" dirty="0"/>
              <a:t>    If HBM is configurative </a:t>
            </a:r>
            <a:r>
              <a:rPr lang="ko-KR" altLang="en-US" dirty="0"/>
              <a:t>→ </a:t>
            </a:r>
            <a:r>
              <a:rPr lang="en-US" altLang="ko-KR" dirty="0"/>
              <a:t>Cost issue</a:t>
            </a:r>
          </a:p>
          <a:p>
            <a:pPr lvl="2">
              <a:lnSpc>
                <a:spcPct val="150000"/>
              </a:lnSpc>
            </a:pPr>
            <a:r>
              <a:rPr lang="en-US" altLang="ko-KR" dirty="0"/>
              <a:t>Small Capacity:</a:t>
            </a:r>
          </a:p>
          <a:p>
            <a:pPr lvl="3">
              <a:lnSpc>
                <a:spcPct val="150000"/>
              </a:lnSpc>
            </a:pPr>
            <a:r>
              <a:rPr lang="en-US" altLang="ko-KR" dirty="0"/>
              <a:t>Memory capacity more limited than DDR (HBM package has 8layers of DRAM die x 8Gbit = 8GB, even supercomputer have 4 HBM packages, 32GB)</a:t>
            </a:r>
          </a:p>
          <a:p>
            <a:pPr lvl="3">
              <a:lnSpc>
                <a:spcPct val="150000"/>
              </a:lnSpc>
            </a:pPr>
            <a:r>
              <a:rPr lang="en-US" altLang="ko-KR" dirty="0">
                <a:highlight>
                  <a:srgbClr val="FFFF00"/>
                </a:highlight>
              </a:rPr>
              <a:t>Ridiculously low capacity compared to DDR </a:t>
            </a:r>
            <a:r>
              <a:rPr lang="en-US" altLang="ko-KR" dirty="0"/>
              <a:t>(For a supercomputer, can also have a capacity of 12TB)</a:t>
            </a:r>
          </a:p>
          <a:p>
            <a:pPr lvl="3">
              <a:lnSpc>
                <a:spcPct val="150000"/>
              </a:lnSpc>
            </a:pPr>
            <a:r>
              <a:rPr lang="en-US" altLang="ko-KR" dirty="0"/>
              <a:t>Can use HBM &amp; DDR together, HBM for high-bandwidth/small capacity, DDR for low-bandwidth/large capacity</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37</a:t>
            </a:fld>
            <a:endParaRPr lang="ko-KR" altLang="en-US"/>
          </a:p>
        </p:txBody>
      </p:sp>
    </p:spTree>
    <p:extLst>
      <p:ext uri="{BB962C8B-B14F-4D97-AF65-F5344CB8AC3E}">
        <p14:creationId xmlns:p14="http://schemas.microsoft.com/office/powerpoint/2010/main" val="2557465358"/>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65296A2-99B4-7F74-2B5F-6BF59846826B}"/>
              </a:ext>
            </a:extLst>
          </p:cNvPr>
          <p:cNvPicPr>
            <a:picLocks noChangeAspect="1"/>
          </p:cNvPicPr>
          <p:nvPr/>
        </p:nvPicPr>
        <p:blipFill>
          <a:blip r:embed="rId3"/>
          <a:stretch>
            <a:fillRect/>
          </a:stretch>
        </p:blipFill>
        <p:spPr>
          <a:xfrm>
            <a:off x="3338205" y="3162189"/>
            <a:ext cx="5515590" cy="2686520"/>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11353798" cy="5029650"/>
          </a:xfrm>
        </p:spPr>
        <p:txBody>
          <a:bodyPr>
            <a:normAutofit/>
          </a:bodyPr>
          <a:lstStyle/>
          <a:p>
            <a:r>
              <a:rPr lang="en-US" altLang="ko-KR" dirty="0"/>
              <a:t>Disadvantages of HBM</a:t>
            </a:r>
          </a:p>
          <a:p>
            <a:pPr marL="992198" lvl="2" indent="-285750"/>
            <a:r>
              <a:rPr lang="en-US" altLang="ko-KR" dirty="0"/>
              <a:t>High Access Latency (Why is it not applied to CPU main memory PC)</a:t>
            </a:r>
          </a:p>
          <a:p>
            <a:pPr marL="1400148" lvl="3" indent="-285750"/>
            <a:r>
              <a:rPr lang="en-US" altLang="ko-KR" dirty="0"/>
              <a:t>Similar</a:t>
            </a:r>
            <a:r>
              <a:rPr lang="ko-KR" altLang="en-US" dirty="0"/>
              <a:t> </a:t>
            </a:r>
            <a:r>
              <a:rPr lang="en-US" altLang="ko-KR" dirty="0"/>
              <a:t>to DDR for FPGA equipped with HBM</a:t>
            </a:r>
          </a:p>
          <a:p>
            <a:pPr marL="1400148" lvl="3" indent="-285750"/>
            <a:r>
              <a:rPr lang="en-US" altLang="ko-KR" dirty="0"/>
              <a:t>DDR: CL (CAS latency) for memory latency	</a:t>
            </a:r>
          </a:p>
          <a:p>
            <a:pPr marL="1114398" lvl="3" indent="0">
              <a:buNone/>
            </a:pPr>
            <a:r>
              <a:rPr lang="en-US" altLang="ko-KR" dirty="0"/>
              <a:t>(</a:t>
            </a:r>
            <a:r>
              <a:rPr lang="en-US" altLang="ko-KR" dirty="0">
                <a:solidFill>
                  <a:srgbClr val="280AFF"/>
                </a:solidFill>
              </a:rPr>
              <a:t>Waiting time between when read command issued and data is read)</a:t>
            </a:r>
            <a:r>
              <a:rPr lang="en-US" altLang="ko-KR" dirty="0"/>
              <a:t> </a:t>
            </a:r>
          </a:p>
          <a:p>
            <a:pPr marL="1114398" lvl="3" indent="0">
              <a:buNone/>
            </a:pPr>
            <a:r>
              <a:rPr lang="en-US" altLang="ko-KR" dirty="0"/>
              <a:t>- With ultra wide interconnection width, transmission frequency of HBM cannot be too high</a:t>
            </a:r>
          </a:p>
          <a:p>
            <a:pPr lvl="2">
              <a:lnSpc>
                <a:spcPct val="150000"/>
              </a:lnSpc>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38</a:t>
            </a:fld>
            <a:endParaRPr lang="ko-KR" altLang="en-US"/>
          </a:p>
        </p:txBody>
      </p:sp>
      <p:sp>
        <p:nvSpPr>
          <p:cNvPr id="7" name="직사각형 6">
            <a:extLst>
              <a:ext uri="{FF2B5EF4-FFF2-40B4-BE49-F238E27FC236}">
                <a16:creationId xmlns:a16="http://schemas.microsoft.com/office/drawing/2014/main" id="{C615DD67-3230-D1D1-6A17-C6C39AF4E228}"/>
              </a:ext>
            </a:extLst>
          </p:cNvPr>
          <p:cNvSpPr/>
          <p:nvPr/>
        </p:nvSpPr>
        <p:spPr>
          <a:xfrm>
            <a:off x="3338205" y="5217459"/>
            <a:ext cx="5515590" cy="224118"/>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8" name="TextBox 7">
            <a:extLst>
              <a:ext uri="{FF2B5EF4-FFF2-40B4-BE49-F238E27FC236}">
                <a16:creationId xmlns:a16="http://schemas.microsoft.com/office/drawing/2014/main" id="{AEED7E4A-961F-ACA1-C840-2D1C2195371D}"/>
              </a:ext>
            </a:extLst>
          </p:cNvPr>
          <p:cNvSpPr txBox="1"/>
          <p:nvPr/>
        </p:nvSpPr>
        <p:spPr>
          <a:xfrm>
            <a:off x="9039757" y="5144853"/>
            <a:ext cx="212463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Lower than DDR</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85456155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11353798" cy="5029650"/>
          </a:xfrm>
        </p:spPr>
        <p:txBody>
          <a:bodyPr>
            <a:normAutofit/>
          </a:bodyPr>
          <a:lstStyle/>
          <a:p>
            <a:r>
              <a:rPr lang="en-US" altLang="ko-KR" dirty="0" err="1"/>
              <a:t>Virtex</a:t>
            </a:r>
            <a:r>
              <a:rPr lang="en-US" altLang="ko-KR" dirty="0"/>
              <a:t> </a:t>
            </a:r>
            <a:r>
              <a:rPr lang="en-US" altLang="ko-KR" dirty="0" err="1"/>
              <a:t>Ultrascale</a:t>
            </a:r>
            <a:r>
              <a:rPr lang="en-US" altLang="ko-KR" dirty="0"/>
              <a:t>+ HBM</a:t>
            </a:r>
          </a:p>
          <a:p>
            <a:pPr lvl="1"/>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39</a:t>
            </a:fld>
            <a:endParaRPr lang="ko-KR" altLang="en-US"/>
          </a:p>
        </p:txBody>
      </p:sp>
      <p:pic>
        <p:nvPicPr>
          <p:cNvPr id="10" name="그림 9" descr="텍스트, 스크린샷, 번호, 폰트이(가) 표시된 사진&#10;&#10;자동 생성된 설명">
            <a:extLst>
              <a:ext uri="{FF2B5EF4-FFF2-40B4-BE49-F238E27FC236}">
                <a16:creationId xmlns:a16="http://schemas.microsoft.com/office/drawing/2014/main" id="{BE073D3B-A992-6D57-027D-BD426B2C6146}"/>
              </a:ext>
            </a:extLst>
          </p:cNvPr>
          <p:cNvPicPr>
            <a:picLocks noChangeAspect="1"/>
          </p:cNvPicPr>
          <p:nvPr/>
        </p:nvPicPr>
        <p:blipFill>
          <a:blip r:embed="rId3"/>
          <a:stretch>
            <a:fillRect/>
          </a:stretch>
        </p:blipFill>
        <p:spPr>
          <a:xfrm>
            <a:off x="4882478" y="2988763"/>
            <a:ext cx="6630932" cy="2368505"/>
          </a:xfrm>
          <a:prstGeom prst="rect">
            <a:avLst/>
          </a:prstGeom>
        </p:spPr>
      </p:pic>
      <p:sp>
        <p:nvSpPr>
          <p:cNvPr id="11" name="직사각형 10">
            <a:extLst>
              <a:ext uri="{FF2B5EF4-FFF2-40B4-BE49-F238E27FC236}">
                <a16:creationId xmlns:a16="http://schemas.microsoft.com/office/drawing/2014/main" id="{94C67309-8F70-C223-1070-BD614F80CA6E}"/>
              </a:ext>
            </a:extLst>
          </p:cNvPr>
          <p:cNvSpPr/>
          <p:nvPr/>
        </p:nvSpPr>
        <p:spPr>
          <a:xfrm>
            <a:off x="4921624" y="4634752"/>
            <a:ext cx="6517341" cy="197223"/>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13" name="TextBox 12">
            <a:extLst>
              <a:ext uri="{FF2B5EF4-FFF2-40B4-BE49-F238E27FC236}">
                <a16:creationId xmlns:a16="http://schemas.microsoft.com/office/drawing/2014/main" id="{134F4AF5-2172-83A2-49E5-24B44E3A1B7A}"/>
              </a:ext>
            </a:extLst>
          </p:cNvPr>
          <p:cNvSpPr txBox="1"/>
          <p:nvPr/>
        </p:nvSpPr>
        <p:spPr>
          <a:xfrm>
            <a:off x="5117864" y="5526021"/>
            <a:ext cx="616015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ko-KR" dirty="0">
                <a:highlight>
                  <a:srgbClr val="FFFF00"/>
                </a:highlight>
                <a:ea typeface="맑은 고딕" panose="020B0503020000020004" pitchFamily="50" charset="-127"/>
              </a:rPr>
              <a:t>Problem solving </a:t>
            </a:r>
            <a:r>
              <a:rPr lang="en-US" altLang="ko-KR" sz="1800" dirty="0">
                <a:effectLst/>
                <a:highlight>
                  <a:srgbClr val="FFFF00"/>
                </a:highlight>
                <a:ea typeface="맑은 고딕" panose="020B0503020000020004" pitchFamily="50" charset="-127"/>
              </a:rPr>
              <a:t>by removing the PCB from the equation</a:t>
            </a:r>
            <a:endParaRPr lang="ko-KR" altLang="en-US" dirty="0"/>
          </a:p>
        </p:txBody>
      </p:sp>
      <p:sp>
        <p:nvSpPr>
          <p:cNvPr id="16" name="TextBox 15">
            <a:extLst>
              <a:ext uri="{FF2B5EF4-FFF2-40B4-BE49-F238E27FC236}">
                <a16:creationId xmlns:a16="http://schemas.microsoft.com/office/drawing/2014/main" id="{335150CB-6306-FFC3-1414-E7E29ABE7F15}"/>
              </a:ext>
            </a:extLst>
          </p:cNvPr>
          <p:cNvSpPr txBox="1"/>
          <p:nvPr/>
        </p:nvSpPr>
        <p:spPr>
          <a:xfrm>
            <a:off x="3919545" y="1864610"/>
            <a:ext cx="8272455"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lvl="8" indent="-285750">
              <a:lnSpc>
                <a:spcPct val="150000"/>
              </a:lnSpc>
              <a:buFont typeface="Arial" panose="020B0604020202020204" pitchFamily="34" charset="0"/>
              <a:buChar char="•"/>
            </a:pPr>
            <a:r>
              <a:rPr kumimoji="0" lang="en-US" altLang="ko-KR" b="0" i="0" u="none" strike="noStrike" cap="none" spc="0" normalizeH="0" baseline="0" dirty="0">
                <a:ln>
                  <a:noFill/>
                </a:ln>
                <a:solidFill>
                  <a:srgbClr val="000000"/>
                </a:solidFill>
                <a:effectLst/>
                <a:uFillTx/>
                <a:latin typeface="+mj-lt"/>
                <a:ea typeface="+mj-ea"/>
                <a:cs typeface="+mj-cs"/>
                <a:sym typeface="맑은 고딕"/>
              </a:rPr>
              <a:t>Providing the required transfer bandwidth between the FPGA and memory</a:t>
            </a:r>
          </a:p>
          <a:p>
            <a:pPr marL="285750" lvl="8" indent="-285750">
              <a:lnSpc>
                <a:spcPct val="150000"/>
              </a:lnSpc>
              <a:buFont typeface="Arial" panose="020B0604020202020204" pitchFamily="34" charset="0"/>
              <a:buChar char="•"/>
            </a:pPr>
            <a:r>
              <a:rPr lang="en-US" altLang="ko-KR" dirty="0"/>
              <a:t>Bandwidth-critical applications, a new approach to DRAM storage required</a:t>
            </a:r>
          </a:p>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pic>
        <p:nvPicPr>
          <p:cNvPr id="5" name="그림 4" descr="텍스트, 스크린샷, 도표, 라인이(가) 표시된 사진&#10;&#10;자동 생성된 설명">
            <a:extLst>
              <a:ext uri="{FF2B5EF4-FFF2-40B4-BE49-F238E27FC236}">
                <a16:creationId xmlns:a16="http://schemas.microsoft.com/office/drawing/2014/main" id="{7533A1A9-3631-E544-5D84-1A45EC7C4EFD}"/>
              </a:ext>
            </a:extLst>
          </p:cNvPr>
          <p:cNvPicPr>
            <a:picLocks noChangeAspect="1"/>
          </p:cNvPicPr>
          <p:nvPr/>
        </p:nvPicPr>
        <p:blipFill>
          <a:blip r:embed="rId4"/>
          <a:stretch>
            <a:fillRect/>
          </a:stretch>
        </p:blipFill>
        <p:spPr>
          <a:xfrm>
            <a:off x="327214" y="2033363"/>
            <a:ext cx="3876675" cy="3257550"/>
          </a:xfrm>
          <a:prstGeom prst="rect">
            <a:avLst/>
          </a:prstGeom>
        </p:spPr>
      </p:pic>
    </p:spTree>
    <p:extLst>
      <p:ext uri="{BB962C8B-B14F-4D97-AF65-F5344CB8AC3E}">
        <p14:creationId xmlns:p14="http://schemas.microsoft.com/office/powerpoint/2010/main" val="1926785538"/>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47313"/>
            <a:ext cx="11353798" cy="5029650"/>
          </a:xfrm>
        </p:spPr>
        <p:txBody>
          <a:bodyPr>
            <a:normAutofit/>
          </a:bodyPr>
          <a:lstStyle/>
          <a:p>
            <a:r>
              <a:rPr lang="en-US" altLang="ko-KR" dirty="0"/>
              <a:t>Technology</a:t>
            </a:r>
          </a:p>
          <a:p>
            <a:pPr lvl="1">
              <a:lnSpc>
                <a:spcPct val="160000"/>
              </a:lnSpc>
            </a:pPr>
            <a:r>
              <a:rPr lang="en-US" altLang="ko-KR" dirty="0"/>
              <a:t>Key technology: Silicon stacking – improving in bandwidth</a:t>
            </a:r>
          </a:p>
          <a:p>
            <a:pPr lvl="1"/>
            <a:endParaRPr lang="en-US" altLang="ko-KR" kern="100" dirty="0">
              <a:ea typeface="맑은 고딕" panose="020B0503020000020004" pitchFamily="50" charset="-127"/>
              <a:cs typeface="Times New Roman" panose="02020603050405020304" pitchFamily="18" charset="0"/>
            </a:endParaRPr>
          </a:p>
          <a:p>
            <a:pPr lvl="1"/>
            <a:endParaRPr lang="en-US" altLang="ko-KR" sz="1800" kern="100" dirty="0">
              <a:effectLst/>
              <a:ea typeface="맑은 고딕" panose="020B0503020000020004" pitchFamily="50" charset="-127"/>
              <a:cs typeface="Times New Roman" panose="02020603050405020304" pitchFamily="18" charset="0"/>
            </a:endParaRPr>
          </a:p>
          <a:p>
            <a:pPr marL="371465" lvl="1" indent="0">
              <a:buNone/>
            </a:pPr>
            <a:endParaRPr lang="en-US" altLang="ko-KR" kern="100" dirty="0">
              <a:ea typeface="맑은 고딕" panose="020B0503020000020004" pitchFamily="50" charset="-127"/>
              <a:cs typeface="Times New Roman" panose="02020603050405020304" pitchFamily="18" charset="0"/>
            </a:endParaRPr>
          </a:p>
          <a:p>
            <a:pPr lvl="1">
              <a:lnSpc>
                <a:spcPct val="150000"/>
              </a:lnSpc>
            </a:pPr>
            <a:r>
              <a:rPr lang="en-US" altLang="ko-KR" sz="1800" kern="100" dirty="0">
                <a:effectLst/>
                <a:ea typeface="맑은 고딕" panose="020B0503020000020004" pitchFamily="50" charset="-127"/>
                <a:cs typeface="Times New Roman" panose="02020603050405020304" pitchFamily="18" charset="0"/>
              </a:rPr>
              <a:t>HBM-enabled FPGA: External DDR4 used is a function of capacity requirements, not bandwidth</a:t>
            </a:r>
          </a:p>
          <a:p>
            <a:pPr lvl="2">
              <a:lnSpc>
                <a:spcPct val="150000"/>
              </a:lnSpc>
            </a:pPr>
            <a:r>
              <a:rPr lang="en-US" altLang="ko-KR" kern="100" dirty="0">
                <a:ea typeface="맑은 고딕" panose="020B0503020000020004" pitchFamily="50" charset="-127"/>
                <a:cs typeface="Times New Roman" panose="02020603050405020304" pitchFamily="18" charset="0"/>
              </a:rPr>
              <a:t>Using fewer DDR4 components, saving PCB space &amp; power</a:t>
            </a:r>
          </a:p>
          <a:p>
            <a:pPr lvl="2">
              <a:lnSpc>
                <a:spcPct val="150000"/>
              </a:lnSpc>
            </a:pPr>
            <a:r>
              <a:rPr lang="en-US" altLang="ko-KR" kern="100" dirty="0">
                <a:effectLst/>
                <a:ea typeface="맑은 고딕" panose="020B0503020000020004" pitchFamily="50" charset="-127"/>
                <a:cs typeface="Times New Roman" panose="02020603050405020304" pitchFamily="18" charset="0"/>
              </a:rPr>
              <a:t>No external memory is needed</a:t>
            </a:r>
            <a:endParaRPr lang="ko-KR" altLang="ko-KR" kern="100" dirty="0">
              <a:effectLst/>
              <a:ea typeface="맑은 고딕" panose="020B0503020000020004" pitchFamily="50" charset="-127"/>
              <a:cs typeface="Times New Roman" panose="02020603050405020304" pitchFamily="18" charset="0"/>
            </a:endParaRPr>
          </a:p>
          <a:p>
            <a:pPr lvl="1"/>
            <a:endParaRPr lang="en-US" altLang="ko-KR" dirty="0"/>
          </a:p>
          <a:p>
            <a:pPr marL="0" indent="0">
              <a:buNone/>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40</a:t>
            </a:fld>
            <a:endParaRPr lang="ko-KR" altLang="en-US"/>
          </a:p>
        </p:txBody>
      </p:sp>
    </p:spTree>
    <p:extLst>
      <p:ext uri="{BB962C8B-B14F-4D97-AF65-F5344CB8AC3E}">
        <p14:creationId xmlns:p14="http://schemas.microsoft.com/office/powerpoint/2010/main" val="5641899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2" y="1147313"/>
            <a:ext cx="11353798" cy="5029650"/>
          </a:xfrm>
        </p:spPr>
        <p:txBody>
          <a:bodyPr>
            <a:normAutofit/>
          </a:bodyPr>
          <a:lstStyle/>
          <a:p>
            <a:pPr marL="313573" indent="-342900">
              <a:lnSpc>
                <a:spcPct val="160000"/>
              </a:lnSpc>
            </a:pPr>
            <a:r>
              <a:rPr lang="en-US" altLang="ko-KR" dirty="0"/>
              <a:t>Difference between SSI technology FPGA and HBM-Enabled FPGA</a:t>
            </a:r>
          </a:p>
          <a:p>
            <a:pPr marL="0" indent="0">
              <a:buNone/>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41</a:t>
            </a:fld>
            <a:endParaRPr lang="ko-KR" altLang="en-US"/>
          </a:p>
        </p:txBody>
      </p:sp>
      <p:pic>
        <p:nvPicPr>
          <p:cNvPr id="7" name="그림 6">
            <a:extLst>
              <a:ext uri="{FF2B5EF4-FFF2-40B4-BE49-F238E27FC236}">
                <a16:creationId xmlns:a16="http://schemas.microsoft.com/office/drawing/2014/main" id="{17EF9C23-8E42-CED6-9442-B8147189AD28}"/>
              </a:ext>
            </a:extLst>
          </p:cNvPr>
          <p:cNvPicPr>
            <a:picLocks noChangeAspect="1"/>
          </p:cNvPicPr>
          <p:nvPr/>
        </p:nvPicPr>
        <p:blipFill>
          <a:blip r:embed="rId3"/>
          <a:stretch>
            <a:fillRect/>
          </a:stretch>
        </p:blipFill>
        <p:spPr>
          <a:xfrm>
            <a:off x="957240" y="2042750"/>
            <a:ext cx="5075464" cy="2772500"/>
          </a:xfrm>
          <a:prstGeom prst="rect">
            <a:avLst/>
          </a:prstGeom>
        </p:spPr>
      </p:pic>
      <p:sp>
        <p:nvSpPr>
          <p:cNvPr id="8" name="직사각형 7">
            <a:extLst>
              <a:ext uri="{FF2B5EF4-FFF2-40B4-BE49-F238E27FC236}">
                <a16:creationId xmlns:a16="http://schemas.microsoft.com/office/drawing/2014/main" id="{2F5D2D48-A0CC-0164-0A4E-F1C1D965D99D}"/>
              </a:ext>
            </a:extLst>
          </p:cNvPr>
          <p:cNvSpPr/>
          <p:nvPr/>
        </p:nvSpPr>
        <p:spPr>
          <a:xfrm>
            <a:off x="4195210" y="3714982"/>
            <a:ext cx="1452283" cy="591671"/>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
        <p:nvSpPr>
          <p:cNvPr id="9" name="TextBox 8">
            <a:extLst>
              <a:ext uri="{FF2B5EF4-FFF2-40B4-BE49-F238E27FC236}">
                <a16:creationId xmlns:a16="http://schemas.microsoft.com/office/drawing/2014/main" id="{3923935D-0216-CEBC-5B23-BDA866792915}"/>
              </a:ext>
            </a:extLst>
          </p:cNvPr>
          <p:cNvSpPr txBox="1"/>
          <p:nvPr/>
        </p:nvSpPr>
        <p:spPr>
          <a:xfrm>
            <a:off x="6532317" y="3244335"/>
            <a:ext cx="516007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ko-KR" sz="1800" b="0" i="0" u="none" strike="noStrike" cap="none" spc="0" normalizeH="0" baseline="0" dirty="0">
                <a:ln>
                  <a:noFill/>
                </a:ln>
                <a:solidFill>
                  <a:srgbClr val="000000"/>
                </a:solidFill>
                <a:effectLst/>
                <a:uFillTx/>
                <a:latin typeface="+mj-lt"/>
                <a:ea typeface="+mj-ea"/>
                <a:cs typeface="+mj-cs"/>
                <a:sym typeface="맑은 고딕"/>
              </a:rPr>
              <a:t>Differenc</a:t>
            </a:r>
            <a:r>
              <a:rPr lang="en-US" altLang="ko-KR" dirty="0"/>
              <a:t>es are HBM controller and HBM</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375429256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a:t>Optimizing HBM memory controller</a:t>
            </a:r>
          </a:p>
          <a:p>
            <a:pPr lvl="1">
              <a:lnSpc>
                <a:spcPct val="160000"/>
              </a:lnSpc>
            </a:pPr>
            <a:r>
              <a:rPr lang="en-US" altLang="ko-KR" dirty="0"/>
              <a:t>Extended AIX interface (User</a:t>
            </a:r>
            <a:r>
              <a:rPr lang="ko-KR" altLang="en-US" dirty="0"/>
              <a:t> </a:t>
            </a:r>
            <a:r>
              <a:rPr lang="en-US" altLang="ko-KR" dirty="0"/>
              <a:t>connect to memory controller)</a:t>
            </a:r>
          </a:p>
          <a:p>
            <a:pPr lvl="2">
              <a:lnSpc>
                <a:spcPct val="160000"/>
              </a:lnSpc>
            </a:pPr>
            <a:r>
              <a:rPr lang="en-US" altLang="ko-KR" dirty="0"/>
              <a:t>For existing IP interfaces, the total bandwidth is sufficient to transmit and receive data </a:t>
            </a:r>
          </a:p>
          <a:p>
            <a:pPr lvl="2">
              <a:lnSpc>
                <a:spcPct val="160000"/>
              </a:lnSpc>
            </a:pPr>
            <a:r>
              <a:rPr lang="en-US" altLang="ko-KR" dirty="0"/>
              <a:t>However, in the case of HBM, the bandwidth is large, so a new type of interface needs to be structured.</a:t>
            </a:r>
          </a:p>
          <a:p>
            <a:pPr marL="0" indent="0">
              <a:buNone/>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42</a:t>
            </a:fld>
            <a:endParaRPr lang="ko-KR" altLang="en-US"/>
          </a:p>
        </p:txBody>
      </p:sp>
      <p:pic>
        <p:nvPicPr>
          <p:cNvPr id="6" name="그림 5">
            <a:extLst>
              <a:ext uri="{FF2B5EF4-FFF2-40B4-BE49-F238E27FC236}">
                <a16:creationId xmlns:a16="http://schemas.microsoft.com/office/drawing/2014/main" id="{116ADB59-1EB3-307C-107B-E07259CAB31B}"/>
              </a:ext>
            </a:extLst>
          </p:cNvPr>
          <p:cNvPicPr>
            <a:picLocks noChangeAspect="1"/>
          </p:cNvPicPr>
          <p:nvPr/>
        </p:nvPicPr>
        <p:blipFill>
          <a:blip r:embed="rId3"/>
          <a:stretch>
            <a:fillRect/>
          </a:stretch>
        </p:blipFill>
        <p:spPr>
          <a:xfrm>
            <a:off x="963461" y="3156227"/>
            <a:ext cx="3505689" cy="2715004"/>
          </a:xfrm>
          <a:prstGeom prst="rect">
            <a:avLst/>
          </a:prstGeom>
        </p:spPr>
      </p:pic>
      <p:sp>
        <p:nvSpPr>
          <p:cNvPr id="10" name="TextBox 9">
            <a:extLst>
              <a:ext uri="{FF2B5EF4-FFF2-40B4-BE49-F238E27FC236}">
                <a16:creationId xmlns:a16="http://schemas.microsoft.com/office/drawing/2014/main" id="{B9EB4E51-E78C-1656-0E99-462946B11481}"/>
              </a:ext>
            </a:extLst>
          </p:cNvPr>
          <p:cNvSpPr txBox="1"/>
          <p:nvPr/>
        </p:nvSpPr>
        <p:spPr>
          <a:xfrm>
            <a:off x="4739999" y="3984812"/>
            <a:ext cx="7306155"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a:lnSpc>
                <a:spcPct val="150000"/>
              </a:lnSpc>
            </a:pPr>
            <a:r>
              <a:rPr lang="en-US" altLang="ko-KR" dirty="0">
                <a:latin typeface="SegoeUI"/>
              </a:rPr>
              <a:t>I</a:t>
            </a:r>
            <a:r>
              <a:rPr lang="en-US" altLang="ko-KR" sz="1800" b="0" i="0" u="none" strike="noStrike" baseline="0" dirty="0">
                <a:latin typeface="SegoeUI"/>
              </a:rPr>
              <a:t>ncreases the surface area of the interface </a:t>
            </a:r>
          </a:p>
          <a:p>
            <a:pPr algn="l">
              <a:lnSpc>
                <a:spcPct val="150000"/>
              </a:lnSpc>
            </a:pPr>
            <a:r>
              <a:rPr lang="en-US" altLang="ko-KR" dirty="0">
                <a:latin typeface="SegoeUI"/>
              </a:rPr>
              <a:t>G</a:t>
            </a:r>
            <a:r>
              <a:rPr lang="en-US" altLang="ko-KR" sz="1800" b="0" i="0" u="none" strike="noStrike" baseline="0" dirty="0">
                <a:latin typeface="SegoeUI"/>
              </a:rPr>
              <a:t>reatly increasing the available interconnect for the user’s AXI interface</a:t>
            </a: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1002076684"/>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81BD86BD-6298-18F0-00EE-E23C059031B8}"/>
              </a:ext>
            </a:extLst>
          </p:cNvPr>
          <p:cNvPicPr>
            <a:picLocks noChangeAspect="1"/>
          </p:cNvPicPr>
          <p:nvPr/>
        </p:nvPicPr>
        <p:blipFill>
          <a:blip r:embed="rId3"/>
          <a:stretch>
            <a:fillRect/>
          </a:stretch>
        </p:blipFill>
        <p:spPr>
          <a:xfrm>
            <a:off x="4340102" y="4159624"/>
            <a:ext cx="3715268" cy="2263873"/>
          </a:xfrm>
          <a:prstGeom prst="rect">
            <a:avLst/>
          </a:prstGeom>
        </p:spPr>
      </p:pic>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pPr>
              <a:lnSpc>
                <a:spcPct val="150000"/>
              </a:lnSpc>
            </a:pPr>
            <a:r>
              <a:rPr lang="en-US" altLang="ko-KR" sz="1900" dirty="0"/>
              <a:t>Optimizing HBM memory controller</a:t>
            </a:r>
          </a:p>
          <a:p>
            <a:pPr lvl="1">
              <a:lnSpc>
                <a:spcPct val="150000"/>
              </a:lnSpc>
            </a:pPr>
            <a:r>
              <a:rPr lang="en-US" altLang="ko-KR" sz="1700" dirty="0"/>
              <a:t>Flexible Addressing</a:t>
            </a:r>
          </a:p>
          <a:p>
            <a:pPr lvl="2">
              <a:lnSpc>
                <a:spcPct val="150000"/>
              </a:lnSpc>
            </a:pPr>
            <a:r>
              <a:rPr lang="en-US" altLang="ko-KR" sz="1400" dirty="0"/>
              <a:t>HBM stack architecture segments the memory address space into pseudo channels, meaning that any given set of HBM DQ bits are allocated to a specific address region of the memory</a:t>
            </a:r>
          </a:p>
          <a:p>
            <a:pPr lvl="2">
              <a:lnSpc>
                <a:spcPct val="150000"/>
              </a:lnSpc>
            </a:pPr>
            <a:r>
              <a:rPr lang="en-US" altLang="ko-KR" sz="1400" dirty="0"/>
              <a:t>There are limitations that HBM stacks as a single contiguous memory, or partition them across pseudo channel boundaries</a:t>
            </a:r>
          </a:p>
          <a:p>
            <a:pPr lvl="2">
              <a:lnSpc>
                <a:spcPct val="150000"/>
              </a:lnSpc>
            </a:pPr>
            <a:r>
              <a:rPr lang="en-US" altLang="ko-KR" sz="1400" dirty="0"/>
              <a:t>To overcome, including AIX switch network, which routes memory reads and writes from any source AXI interface to any HBM pseudo channel based on address: Flexible Addressing</a:t>
            </a:r>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43</a:t>
            </a:fld>
            <a:endParaRPr lang="ko-KR" altLang="en-US"/>
          </a:p>
        </p:txBody>
      </p:sp>
      <p:sp>
        <p:nvSpPr>
          <p:cNvPr id="11" name="직사각형 10">
            <a:extLst>
              <a:ext uri="{FF2B5EF4-FFF2-40B4-BE49-F238E27FC236}">
                <a16:creationId xmlns:a16="http://schemas.microsoft.com/office/drawing/2014/main" id="{E94CF99C-0731-473B-3BB9-970E75FDC86A}"/>
              </a:ext>
            </a:extLst>
          </p:cNvPr>
          <p:cNvSpPr/>
          <p:nvPr/>
        </p:nvSpPr>
        <p:spPr>
          <a:xfrm>
            <a:off x="5522259" y="5074024"/>
            <a:ext cx="1165412" cy="412376"/>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2496678119"/>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 HBM DRAM</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a:t>Benefits of Flexible Addressing</a:t>
            </a:r>
          </a:p>
          <a:p>
            <a:pPr lvl="1">
              <a:lnSpc>
                <a:spcPct val="150000"/>
              </a:lnSpc>
            </a:pPr>
            <a:r>
              <a:rPr lang="en-US" altLang="ko-KR" dirty="0"/>
              <a:t>Gives users full control over how the HBM stacks are addressed</a:t>
            </a:r>
          </a:p>
          <a:p>
            <a:pPr lvl="1">
              <a:lnSpc>
                <a:spcPct val="150000"/>
              </a:lnSpc>
            </a:pPr>
            <a:r>
              <a:rPr lang="en-US" altLang="ko-KR" dirty="0"/>
              <a:t>Allows designers to connect using the most convenient AXI interface based on timing closure for the design</a:t>
            </a:r>
          </a:p>
          <a:p>
            <a:pPr lvl="1">
              <a:lnSpc>
                <a:spcPct val="150000"/>
              </a:lnSpc>
            </a:pPr>
            <a:r>
              <a:rPr lang="en-US" altLang="ko-KR" dirty="0"/>
              <a:t>Provides a massive reduction in programmable routing resources</a:t>
            </a:r>
          </a:p>
          <a:p>
            <a:pPr lvl="1">
              <a:lnSpc>
                <a:spcPct val="150000"/>
              </a:lnSpc>
            </a:pPr>
            <a:r>
              <a:rPr lang="en-US" altLang="ko-KR" dirty="0"/>
              <a:t>Allows designers to use AXI interfaces more efficiently than the pseudo channels would otherwise allow</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44</a:t>
            </a:fld>
            <a:endParaRPr lang="ko-KR" altLang="en-US"/>
          </a:p>
        </p:txBody>
      </p:sp>
    </p:spTree>
    <p:extLst>
      <p:ext uri="{BB962C8B-B14F-4D97-AF65-F5344CB8AC3E}">
        <p14:creationId xmlns:p14="http://schemas.microsoft.com/office/powerpoint/2010/main" val="166694336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4038600" y="3106917"/>
            <a:ext cx="4095749" cy="644166"/>
          </a:xfrm>
        </p:spPr>
        <p:txBody>
          <a:bodyPr>
            <a:normAutofit fontScale="90000"/>
          </a:bodyPr>
          <a:lstStyle/>
          <a:p>
            <a:r>
              <a:rPr lang="en-US" altLang="ko-KR" sz="4000" dirty="0"/>
              <a:t>Xilinx </a:t>
            </a:r>
            <a:r>
              <a:rPr lang="en-US" altLang="ko-KR" sz="4000" dirty="0" err="1"/>
              <a:t>Alveo</a:t>
            </a:r>
            <a:r>
              <a:rPr lang="en-US" altLang="ko-KR" sz="4000" dirty="0"/>
              <a:t> Card</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45</a:t>
            </a:fld>
            <a:endParaRPr lang="ko-KR" altLang="en-US"/>
          </a:p>
        </p:txBody>
      </p:sp>
    </p:spTree>
    <p:extLst>
      <p:ext uri="{BB962C8B-B14F-4D97-AF65-F5344CB8AC3E}">
        <p14:creationId xmlns:p14="http://schemas.microsoft.com/office/powerpoint/2010/main" val="3321718379"/>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fontScale="92500" lnSpcReduction="10000"/>
          </a:bodyPr>
          <a:lstStyle/>
          <a:p>
            <a:pPr>
              <a:lnSpc>
                <a:spcPct val="100000"/>
              </a:lnSpc>
            </a:pPr>
            <a:r>
              <a:rPr lang="en-US" altLang="ko-KR" sz="1800" dirty="0"/>
              <a:t>Overview (U250)</a:t>
            </a:r>
          </a:p>
          <a:p>
            <a:pPr lvl="1">
              <a:lnSpc>
                <a:spcPct val="100000"/>
              </a:lnSpc>
            </a:pPr>
            <a:r>
              <a:rPr lang="en-US" altLang="ko-KR" sz="1600" dirty="0"/>
              <a:t>Designed to meet changing needs of the modern Data Center, providing up to 90X performance increase over CPUs for common workloads</a:t>
            </a:r>
          </a:p>
          <a:p>
            <a:pPr lvl="1">
              <a:lnSpc>
                <a:spcPct val="100000"/>
              </a:lnSpc>
            </a:pPr>
            <a:r>
              <a:rPr lang="en-US" altLang="ko-KR" sz="1600" dirty="0"/>
              <a:t>Provide reconfigurable acceleration that can adapt to algorithm optimizations, supporting any workload type while reducing overall cost of ownership</a:t>
            </a:r>
          </a:p>
          <a:p>
            <a:pPr>
              <a:lnSpc>
                <a:spcPct val="100000"/>
              </a:lnSpc>
            </a:pPr>
            <a:r>
              <a:rPr lang="en-US" altLang="ko-KR" sz="1800" dirty="0"/>
              <a:t>Highlights</a:t>
            </a:r>
          </a:p>
          <a:p>
            <a:pPr lvl="1">
              <a:lnSpc>
                <a:spcPct val="100000"/>
              </a:lnSpc>
            </a:pPr>
            <a:r>
              <a:rPr lang="en-US" altLang="ko-KR" sz="1600" dirty="0"/>
              <a:t>Fast</a:t>
            </a:r>
          </a:p>
          <a:p>
            <a:pPr lvl="2">
              <a:lnSpc>
                <a:spcPct val="100000"/>
              </a:lnSpc>
            </a:pPr>
            <a:r>
              <a:rPr lang="en-US" altLang="ko-KR" sz="1400" dirty="0"/>
              <a:t>Up to 90X higher performance than CPU</a:t>
            </a:r>
          </a:p>
          <a:p>
            <a:pPr lvl="2">
              <a:lnSpc>
                <a:spcPct val="100000"/>
              </a:lnSpc>
            </a:pPr>
            <a:r>
              <a:rPr lang="en-US" altLang="ko-KR" sz="1400" dirty="0"/>
              <a:t>Over 4X higher inference throughput and 3X latency advantage over GPU-based solution</a:t>
            </a:r>
          </a:p>
          <a:p>
            <a:pPr lvl="1">
              <a:lnSpc>
                <a:spcPct val="100000"/>
              </a:lnSpc>
            </a:pPr>
            <a:r>
              <a:rPr lang="en-US" altLang="ko-KR" sz="1600" dirty="0"/>
              <a:t>Adaptable</a:t>
            </a:r>
          </a:p>
          <a:p>
            <a:pPr lvl="2">
              <a:lnSpc>
                <a:spcPct val="150000"/>
              </a:lnSpc>
            </a:pPr>
            <a:r>
              <a:rPr lang="en-US" altLang="ko-KR" sz="1400" dirty="0"/>
              <a:t>Machine learning inference, video process, </a:t>
            </a:r>
            <a:r>
              <a:rPr lang="en-US" altLang="ko-KR" sz="1400" dirty="0" err="1"/>
              <a:t>etc</a:t>
            </a:r>
            <a:endParaRPr lang="en-US" altLang="ko-KR" sz="1400" dirty="0"/>
          </a:p>
          <a:p>
            <a:pPr lvl="2">
              <a:lnSpc>
                <a:spcPct val="150000"/>
              </a:lnSpc>
            </a:pPr>
            <a:r>
              <a:rPr lang="en-US" altLang="ko-KR" sz="1400" dirty="0"/>
              <a:t>Using reconfigurable hardware to adapt faster than fixed-function accelerator card product cycles</a:t>
            </a:r>
          </a:p>
          <a:p>
            <a:pPr lvl="1">
              <a:lnSpc>
                <a:spcPct val="150000"/>
              </a:lnSpc>
            </a:pPr>
            <a:r>
              <a:rPr lang="en-US" altLang="ko-KR" sz="1600" dirty="0"/>
              <a:t>Accessible – Cloud </a:t>
            </a:r>
            <a:r>
              <a:rPr lang="ko-KR" altLang="en-US" sz="1600" dirty="0"/>
              <a:t>↔</a:t>
            </a:r>
            <a:r>
              <a:rPr lang="en-US" altLang="ko-KR" sz="1600" dirty="0"/>
              <a:t> On-Premises Mobility</a:t>
            </a:r>
          </a:p>
          <a:p>
            <a:pPr lvl="2">
              <a:lnSpc>
                <a:spcPct val="150000"/>
              </a:lnSpc>
            </a:pPr>
            <a:r>
              <a:rPr lang="en-US" altLang="ko-KR" sz="1400" dirty="0"/>
              <a:t>Deploy solutions in the cloud or on-premises interchangeably, scalable to application requirements</a:t>
            </a:r>
          </a:p>
          <a:p>
            <a:pPr lvl="2">
              <a:lnSpc>
                <a:spcPct val="150000"/>
              </a:lnSpc>
            </a:pPr>
            <a:r>
              <a:rPr lang="en-US" altLang="ko-KR" sz="1400" dirty="0"/>
              <a:t>Applications available for common workloads, or build your own with the application developer tool</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46</a:t>
            </a:fld>
            <a:endParaRPr lang="ko-KR" altLang="en-US"/>
          </a:p>
        </p:txBody>
      </p:sp>
      <p:pic>
        <p:nvPicPr>
          <p:cNvPr id="27" name="그림 26">
            <a:extLst>
              <a:ext uri="{FF2B5EF4-FFF2-40B4-BE49-F238E27FC236}">
                <a16:creationId xmlns:a16="http://schemas.microsoft.com/office/drawing/2014/main" id="{26498C8A-ACAE-AD8B-8E5D-3C4D494868D3}"/>
              </a:ext>
            </a:extLst>
          </p:cNvPr>
          <p:cNvPicPr>
            <a:picLocks noChangeAspect="1"/>
          </p:cNvPicPr>
          <p:nvPr/>
        </p:nvPicPr>
        <p:blipFill>
          <a:blip r:embed="rId3"/>
          <a:stretch>
            <a:fillRect/>
          </a:stretch>
        </p:blipFill>
        <p:spPr>
          <a:xfrm>
            <a:off x="9150105" y="3080612"/>
            <a:ext cx="2724530" cy="2143424"/>
          </a:xfrm>
          <a:prstGeom prst="rect">
            <a:avLst/>
          </a:prstGeom>
        </p:spPr>
      </p:pic>
    </p:spTree>
    <p:extLst>
      <p:ext uri="{BB962C8B-B14F-4D97-AF65-F5344CB8AC3E}">
        <p14:creationId xmlns:p14="http://schemas.microsoft.com/office/powerpoint/2010/main" val="32186387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overview</a:t>
            </a:r>
          </a:p>
          <a:p>
            <a:pPr lvl="1">
              <a:lnSpc>
                <a:spcPct val="150000"/>
              </a:lnSpc>
            </a:pPr>
            <a:r>
              <a:rPr lang="en-US" altLang="ko-KR" dirty="0"/>
              <a:t>Divide into 3 parts</a:t>
            </a:r>
          </a:p>
          <a:p>
            <a:pPr lvl="2">
              <a:lnSpc>
                <a:spcPct val="150000"/>
              </a:lnSpc>
            </a:pPr>
            <a:r>
              <a:rPr lang="en-US" altLang="ko-KR" dirty="0"/>
              <a:t>Strong FPGA or ACAP to accelerate</a:t>
            </a:r>
          </a:p>
          <a:p>
            <a:pPr lvl="2">
              <a:lnSpc>
                <a:spcPct val="150000"/>
              </a:lnSpc>
            </a:pPr>
            <a:r>
              <a:rPr lang="en-US" altLang="ko-KR" dirty="0"/>
              <a:t>High bandwidth DDR4 memory bank</a:t>
            </a:r>
          </a:p>
          <a:p>
            <a:pPr lvl="2">
              <a:lnSpc>
                <a:spcPct val="150000"/>
              </a:lnSpc>
            </a:pPr>
            <a:r>
              <a:rPr lang="en-US" altLang="ko-KR" dirty="0"/>
              <a:t>High bandwidth PCIe Gen3 x16 link connectivity</a:t>
            </a:r>
          </a:p>
          <a:p>
            <a:pPr marL="616892" lvl="1" indent="-285750">
              <a:lnSpc>
                <a:spcPct val="150000"/>
              </a:lnSpc>
            </a:pPr>
            <a:r>
              <a:rPr lang="en-US" altLang="ko-KR" dirty="0" err="1"/>
              <a:t>Alveo</a:t>
            </a:r>
            <a:r>
              <a:rPr lang="en-US" altLang="ko-KR" dirty="0"/>
              <a:t> design can be sperate by shell &amp; role</a:t>
            </a:r>
          </a:p>
          <a:p>
            <a:pPr marL="1028681" lvl="2" indent="-285750">
              <a:lnSpc>
                <a:spcPct val="150000"/>
              </a:lnSpc>
            </a:pPr>
            <a:r>
              <a:rPr lang="en-US" altLang="ko-KR" dirty="0"/>
              <a:t>Shell: Contain external link, configuration, and all static functions</a:t>
            </a:r>
          </a:p>
          <a:p>
            <a:pPr marL="1028681" lvl="2" indent="-285750">
              <a:lnSpc>
                <a:spcPct val="150000"/>
              </a:lnSpc>
            </a:pPr>
            <a:r>
              <a:rPr lang="en-US" altLang="ko-KR" dirty="0"/>
              <a:t>Role: Filled with custom logic to implement specific Algorithm</a:t>
            </a:r>
          </a:p>
          <a:p>
            <a:pPr marL="616892" lvl="1" indent="-285750">
              <a:buFontTx/>
              <a:buChar char="-"/>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47</a:t>
            </a:fld>
            <a:endParaRPr lang="ko-KR" altLang="en-US"/>
          </a:p>
        </p:txBody>
      </p:sp>
      <p:pic>
        <p:nvPicPr>
          <p:cNvPr id="6" name="그림 5">
            <a:extLst>
              <a:ext uri="{FF2B5EF4-FFF2-40B4-BE49-F238E27FC236}">
                <a16:creationId xmlns:a16="http://schemas.microsoft.com/office/drawing/2014/main" id="{7ECA4442-37F1-0024-3FC4-CE8D0B96EF3D}"/>
              </a:ext>
            </a:extLst>
          </p:cNvPr>
          <p:cNvPicPr>
            <a:picLocks noChangeAspect="1"/>
          </p:cNvPicPr>
          <p:nvPr/>
        </p:nvPicPr>
        <p:blipFill>
          <a:blip r:embed="rId3"/>
          <a:stretch>
            <a:fillRect/>
          </a:stretch>
        </p:blipFill>
        <p:spPr>
          <a:xfrm>
            <a:off x="7681242" y="2356475"/>
            <a:ext cx="4429994" cy="2145050"/>
          </a:xfrm>
          <a:prstGeom prst="rect">
            <a:avLst/>
          </a:prstGeom>
        </p:spPr>
      </p:pic>
    </p:spTree>
    <p:extLst>
      <p:ext uri="{BB962C8B-B14F-4D97-AF65-F5344CB8AC3E}">
        <p14:creationId xmlns:p14="http://schemas.microsoft.com/office/powerpoint/2010/main" val="3660012019"/>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a:extLst>
              <a:ext uri="{FF2B5EF4-FFF2-40B4-BE49-F238E27FC236}">
                <a16:creationId xmlns:a16="http://schemas.microsoft.com/office/drawing/2014/main" id="{4F797005-625B-2EA9-C0EC-8D9B0F978937}"/>
              </a:ext>
            </a:extLst>
          </p:cNvPr>
          <p:cNvPicPr>
            <a:picLocks noChangeAspect="1"/>
          </p:cNvPicPr>
          <p:nvPr/>
        </p:nvPicPr>
        <p:blipFill>
          <a:blip r:embed="rId3"/>
          <a:stretch>
            <a:fillRect/>
          </a:stretch>
        </p:blipFill>
        <p:spPr>
          <a:xfrm>
            <a:off x="3693352" y="569174"/>
            <a:ext cx="8498648" cy="5719652"/>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0764" y="1134233"/>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(U250)</a:t>
            </a:r>
          </a:p>
          <a:p>
            <a:pPr lvl="1"/>
            <a:endParaRPr lang="en-US" altLang="ko-KR" dirty="0"/>
          </a:p>
          <a:p>
            <a:pPr lvl="1"/>
            <a:endParaRPr lang="en-US" altLang="ko-KR" dirty="0"/>
          </a:p>
          <a:p>
            <a:pPr lvl="1"/>
            <a:endParaRPr lang="en-US" altLang="ko-KR" dirty="0"/>
          </a:p>
          <a:p>
            <a:pPr lvl="1"/>
            <a:endParaRPr lang="en-US" altLang="ko-KR" dirty="0"/>
          </a:p>
          <a:p>
            <a:pPr lvl="1"/>
            <a:r>
              <a:rPr lang="en-US" altLang="ko-KR" dirty="0" err="1"/>
              <a:t>Virtex</a:t>
            </a:r>
            <a:r>
              <a:rPr lang="en-US" altLang="ko-KR" dirty="0"/>
              <a:t> </a:t>
            </a:r>
            <a:r>
              <a:rPr lang="en-US" altLang="ko-KR" dirty="0" err="1"/>
              <a:t>UltraScale</a:t>
            </a:r>
            <a:r>
              <a:rPr lang="en-US" altLang="ko-KR" dirty="0"/>
              <a:t>+ XCU250 </a:t>
            </a:r>
          </a:p>
          <a:p>
            <a:pPr marL="371465" lvl="1" indent="0">
              <a:buNone/>
            </a:pPr>
            <a:r>
              <a:rPr lang="en-US" altLang="ko-KR" dirty="0"/>
              <a:t>FPGA	</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48</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6095999" y="1869869"/>
            <a:ext cx="1914525" cy="1902031"/>
          </a:xfrm>
          <a:prstGeom prst="rect">
            <a:avLst/>
          </a:prstGeom>
          <a:noFill/>
          <a:ln w="28575"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2" name="직선 화살표 연결선 11">
            <a:extLst>
              <a:ext uri="{FF2B5EF4-FFF2-40B4-BE49-F238E27FC236}">
                <a16:creationId xmlns:a16="http://schemas.microsoft.com/office/drawing/2014/main" id="{6775E82C-54B9-4951-2323-85208BA37157}"/>
              </a:ext>
            </a:extLst>
          </p:cNvPr>
          <p:cNvCxnSpPr>
            <a:cxnSpLocks/>
            <a:stCxn id="10" idx="1"/>
          </p:cNvCxnSpPr>
          <p:nvPr/>
        </p:nvCxnSpPr>
        <p:spPr>
          <a:xfrm flipH="1">
            <a:off x="3693352" y="2820885"/>
            <a:ext cx="2402647" cy="360465"/>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47985409"/>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4E08944E-DFCA-24D9-2C43-C06F800FDD82}"/>
              </a:ext>
            </a:extLst>
          </p:cNvPr>
          <p:cNvPicPr>
            <a:picLocks noChangeAspect="1"/>
          </p:cNvPicPr>
          <p:nvPr/>
        </p:nvPicPr>
        <p:blipFill>
          <a:blip r:embed="rId3"/>
          <a:stretch>
            <a:fillRect/>
          </a:stretch>
        </p:blipFill>
        <p:spPr>
          <a:xfrm>
            <a:off x="3693352" y="569174"/>
            <a:ext cx="8498648" cy="5719652"/>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(U250)</a:t>
            </a:r>
          </a:p>
          <a:p>
            <a:pPr lvl="1"/>
            <a:endParaRPr lang="en-US" altLang="ko-KR" dirty="0"/>
          </a:p>
          <a:p>
            <a:pPr lvl="1"/>
            <a:endParaRPr lang="en-US" altLang="ko-KR" dirty="0"/>
          </a:p>
          <a:p>
            <a:pPr lvl="1"/>
            <a:endParaRPr lang="en-US" altLang="ko-KR" dirty="0"/>
          </a:p>
          <a:p>
            <a:pPr lvl="1"/>
            <a:r>
              <a:rPr lang="en-US" altLang="ko-KR" dirty="0"/>
              <a:t>DDR4 Memory</a:t>
            </a:r>
          </a:p>
          <a:p>
            <a:pPr lvl="2"/>
            <a:r>
              <a:rPr lang="en-US" altLang="ko-KR" dirty="0"/>
              <a:t>64GB DDR4 memory</a:t>
            </a:r>
          </a:p>
          <a:p>
            <a:pPr lvl="2"/>
            <a:r>
              <a:rPr lang="en-US" altLang="ko-KR" dirty="0"/>
              <a:t>4x DDR4 16GB, 2400MT/s</a:t>
            </a:r>
          </a:p>
          <a:p>
            <a:pPr lvl="2"/>
            <a:r>
              <a:rPr lang="en-US" altLang="ko-KR" dirty="0"/>
              <a:t>64bit with ECC DIMM	</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49</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4305300" y="2071578"/>
            <a:ext cx="942975" cy="1176448"/>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1086162761"/>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B6531670-9552-8606-05F8-467D87E7EC3F}"/>
              </a:ext>
            </a:extLst>
          </p:cNvPr>
          <p:cNvPicPr>
            <a:picLocks noChangeAspect="1"/>
          </p:cNvPicPr>
          <p:nvPr/>
        </p:nvPicPr>
        <p:blipFill>
          <a:blip r:embed="rId3"/>
          <a:stretch>
            <a:fillRect/>
          </a:stretch>
        </p:blipFill>
        <p:spPr>
          <a:xfrm>
            <a:off x="4107242" y="847724"/>
            <a:ext cx="8084758" cy="5441101"/>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49362" y="1053449"/>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(U250)</a:t>
            </a:r>
          </a:p>
          <a:p>
            <a:pPr lvl="1"/>
            <a:endParaRPr lang="en-US" altLang="ko-KR" dirty="0"/>
          </a:p>
          <a:p>
            <a:pPr lvl="1"/>
            <a:endParaRPr lang="en-US" altLang="ko-KR" dirty="0"/>
          </a:p>
          <a:p>
            <a:pPr lvl="1"/>
            <a:endParaRPr lang="en-US" altLang="ko-KR" dirty="0"/>
          </a:p>
          <a:p>
            <a:pPr lvl="1"/>
            <a:r>
              <a:rPr lang="en-US" altLang="ko-KR" dirty="0"/>
              <a:t>Configuration options</a:t>
            </a:r>
          </a:p>
          <a:p>
            <a:pPr lvl="2"/>
            <a:r>
              <a:rPr lang="en-US" altLang="ko-KR" dirty="0"/>
              <a:t>1GB QSPI Flash memory</a:t>
            </a:r>
          </a:p>
          <a:p>
            <a:pPr marL="742931" lvl="2" indent="0">
              <a:buNone/>
            </a:pPr>
            <a:r>
              <a:rPr lang="en-US" altLang="ko-KR" dirty="0"/>
              <a:t>(Quad Serial Peripheral Interface)</a:t>
            </a:r>
          </a:p>
          <a:p>
            <a:pPr lvl="2"/>
            <a:r>
              <a:rPr lang="en-US" altLang="ko-KR" dirty="0"/>
              <a:t>Micro-AB USB JTAG </a:t>
            </a:r>
          </a:p>
          <a:p>
            <a:pPr marL="742931" lvl="2" indent="0">
              <a:buNone/>
            </a:pPr>
            <a:r>
              <a:rPr lang="en-US" altLang="ko-KR" dirty="0"/>
              <a:t>configuration port</a:t>
            </a:r>
          </a:p>
          <a:p>
            <a:pPr marL="742931" lvl="2" indent="0">
              <a:buNone/>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50</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8808897" y="2090898"/>
            <a:ext cx="1182827" cy="1471452"/>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2" name="직선 화살표 연결선 11">
            <a:extLst>
              <a:ext uri="{FF2B5EF4-FFF2-40B4-BE49-F238E27FC236}">
                <a16:creationId xmlns:a16="http://schemas.microsoft.com/office/drawing/2014/main" id="{6775E82C-54B9-4951-2323-85208BA37157}"/>
              </a:ext>
            </a:extLst>
          </p:cNvPr>
          <p:cNvCxnSpPr>
            <a:cxnSpLocks/>
            <a:stCxn id="10" idx="1"/>
          </p:cNvCxnSpPr>
          <p:nvPr/>
        </p:nvCxnSpPr>
        <p:spPr>
          <a:xfrm flipH="1">
            <a:off x="3790950" y="2826624"/>
            <a:ext cx="5017947" cy="64213"/>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7" name="직사각형 16">
            <a:extLst>
              <a:ext uri="{FF2B5EF4-FFF2-40B4-BE49-F238E27FC236}">
                <a16:creationId xmlns:a16="http://schemas.microsoft.com/office/drawing/2014/main" id="{CDB66AAF-89BD-56AF-6014-4D2DDE5B97F0}"/>
              </a:ext>
            </a:extLst>
          </p:cNvPr>
          <p:cNvSpPr/>
          <p:nvPr/>
        </p:nvSpPr>
        <p:spPr>
          <a:xfrm>
            <a:off x="4276725" y="5153024"/>
            <a:ext cx="428626" cy="571501"/>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8" name="직선 화살표 연결선 17">
            <a:extLst>
              <a:ext uri="{FF2B5EF4-FFF2-40B4-BE49-F238E27FC236}">
                <a16:creationId xmlns:a16="http://schemas.microsoft.com/office/drawing/2014/main" id="{04C5A4D1-8DD2-7C02-5C89-44C81401B2EC}"/>
              </a:ext>
            </a:extLst>
          </p:cNvPr>
          <p:cNvCxnSpPr>
            <a:cxnSpLocks/>
            <a:stCxn id="17" idx="1"/>
          </p:cNvCxnSpPr>
          <p:nvPr/>
        </p:nvCxnSpPr>
        <p:spPr>
          <a:xfrm flipH="1" flipV="1">
            <a:off x="3009900" y="3824287"/>
            <a:ext cx="1266825" cy="1614488"/>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285329609"/>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48DE396A-A116-1B3D-C66F-23B8C1DDB9DE}"/>
              </a:ext>
            </a:extLst>
          </p:cNvPr>
          <p:cNvPicPr>
            <a:picLocks noChangeAspect="1"/>
          </p:cNvPicPr>
          <p:nvPr/>
        </p:nvPicPr>
        <p:blipFill>
          <a:blip r:embed="rId3"/>
          <a:stretch>
            <a:fillRect/>
          </a:stretch>
        </p:blipFill>
        <p:spPr>
          <a:xfrm>
            <a:off x="4107242" y="847724"/>
            <a:ext cx="8084758" cy="5441101"/>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(U250)</a:t>
            </a:r>
          </a:p>
          <a:p>
            <a:pPr lvl="1"/>
            <a:endParaRPr lang="en-US" altLang="ko-KR" dirty="0"/>
          </a:p>
          <a:p>
            <a:pPr lvl="1"/>
            <a:endParaRPr lang="en-US" altLang="ko-KR" dirty="0"/>
          </a:p>
          <a:p>
            <a:pPr lvl="1"/>
            <a:endParaRPr lang="en-US" altLang="ko-KR" dirty="0"/>
          </a:p>
          <a:p>
            <a:pPr lvl="1"/>
            <a:r>
              <a:rPr lang="en-US" altLang="ko-KR" dirty="0"/>
              <a:t>PCIe</a:t>
            </a:r>
          </a:p>
          <a:p>
            <a:pPr lvl="2"/>
            <a:r>
              <a:rPr lang="en-US" altLang="ko-KR" dirty="0"/>
              <a:t>16-lane (x16) Gen 1, 2, 3</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51</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7113447" y="6086473"/>
            <a:ext cx="3183078" cy="202352"/>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2" name="직선 화살표 연결선 11">
            <a:extLst>
              <a:ext uri="{FF2B5EF4-FFF2-40B4-BE49-F238E27FC236}">
                <a16:creationId xmlns:a16="http://schemas.microsoft.com/office/drawing/2014/main" id="{6775E82C-54B9-4951-2323-85208BA37157}"/>
              </a:ext>
            </a:extLst>
          </p:cNvPr>
          <p:cNvCxnSpPr>
            <a:cxnSpLocks/>
            <a:stCxn id="10" idx="0"/>
          </p:cNvCxnSpPr>
          <p:nvPr/>
        </p:nvCxnSpPr>
        <p:spPr>
          <a:xfrm flipH="1" flipV="1">
            <a:off x="3990975" y="3028950"/>
            <a:ext cx="4714011" cy="3057523"/>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574720190"/>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48DE396A-A116-1B3D-C66F-23B8C1DDB9DE}"/>
              </a:ext>
            </a:extLst>
          </p:cNvPr>
          <p:cNvPicPr>
            <a:picLocks noChangeAspect="1"/>
          </p:cNvPicPr>
          <p:nvPr/>
        </p:nvPicPr>
        <p:blipFill>
          <a:blip r:embed="rId3"/>
          <a:stretch>
            <a:fillRect/>
          </a:stretch>
        </p:blipFill>
        <p:spPr>
          <a:xfrm>
            <a:off x="5404855" y="1266825"/>
            <a:ext cx="6787145" cy="4567798"/>
          </a:xfrm>
          <a:prstGeom prst="rect">
            <a:avLst/>
          </a:prstGeom>
        </p:spPr>
      </p:pic>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79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(U250)</a:t>
            </a:r>
          </a:p>
          <a:p>
            <a:pPr lvl="1"/>
            <a:endParaRPr lang="en-US" altLang="ko-KR" dirty="0"/>
          </a:p>
          <a:p>
            <a:pPr lvl="1"/>
            <a:endParaRPr lang="en-US" altLang="ko-KR" dirty="0"/>
          </a:p>
          <a:p>
            <a:pPr lvl="1"/>
            <a:endParaRPr lang="en-US" altLang="ko-KR" dirty="0"/>
          </a:p>
          <a:p>
            <a:pPr lvl="1"/>
            <a:r>
              <a:rPr lang="en-US" altLang="ko-KR" dirty="0"/>
              <a:t>Satellite</a:t>
            </a:r>
            <a:r>
              <a:rPr lang="ko-KR" altLang="en-US" dirty="0"/>
              <a:t> </a:t>
            </a:r>
            <a:r>
              <a:rPr lang="en-US" altLang="ko-KR" dirty="0"/>
              <a:t>Controller</a:t>
            </a:r>
          </a:p>
          <a:p>
            <a:pPr lvl="2"/>
            <a:r>
              <a:rPr lang="en-US" altLang="ko-KR" dirty="0"/>
              <a:t>Providing independent supervisory,</a:t>
            </a:r>
          </a:p>
          <a:p>
            <a:pPr marL="742931" lvl="2" indent="0">
              <a:buNone/>
            </a:pPr>
            <a:r>
              <a:rPr lang="en-US" altLang="ko-KR" dirty="0"/>
              <a:t>card management functions </a:t>
            </a:r>
          </a:p>
          <a:p>
            <a:pPr marL="742931" lvl="2" indent="0">
              <a:buNone/>
            </a:pPr>
            <a:r>
              <a:rPr lang="en-US" altLang="ko-KR" dirty="0"/>
              <a:t>including power, temperature monitoring.</a:t>
            </a:r>
          </a:p>
          <a:p>
            <a:pPr lvl="2"/>
            <a:r>
              <a:rPr lang="en-US" altLang="ko-KR" dirty="0"/>
              <a:t>Host server board management controller (BMC)</a:t>
            </a:r>
          </a:p>
          <a:p>
            <a:pPr marL="742931" lvl="2" indent="0">
              <a:buNone/>
            </a:pPr>
            <a:r>
              <a:rPr lang="en-US" altLang="ko-KR" dirty="0"/>
              <a:t>interact with the satellite controller</a:t>
            </a:r>
          </a:p>
          <a:p>
            <a:pPr marL="742931" lvl="2" indent="0">
              <a:buNone/>
            </a:pPr>
            <a:r>
              <a:rPr lang="en-US" altLang="ko-KR" dirty="0"/>
              <a:t>to monitor and control the card </a:t>
            </a:r>
          </a:p>
          <a:p>
            <a:pPr marL="742931" lvl="2" indent="0">
              <a:buNone/>
            </a:pPr>
            <a:r>
              <a:rPr lang="en-US" altLang="ko-KR" dirty="0"/>
              <a:t>through out-of-band communication</a:t>
            </a:r>
          </a:p>
          <a:p>
            <a:pPr marL="371465" lvl="1" indent="0">
              <a:buNone/>
            </a:pPr>
            <a:endParaRPr lang="en-US" altLang="ko-KR" dirty="0"/>
          </a:p>
          <a:p>
            <a:pPr marL="371465" lvl="1" indent="0">
              <a:buNone/>
            </a:pPr>
            <a:endParaRPr lang="en-US" altLang="ko-KR"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52</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10725150" y="2314575"/>
            <a:ext cx="946013" cy="1000125"/>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2" name="직선 화살표 연결선 11">
            <a:extLst>
              <a:ext uri="{FF2B5EF4-FFF2-40B4-BE49-F238E27FC236}">
                <a16:creationId xmlns:a16="http://schemas.microsoft.com/office/drawing/2014/main" id="{6775E82C-54B9-4951-2323-85208BA37157}"/>
              </a:ext>
            </a:extLst>
          </p:cNvPr>
          <p:cNvCxnSpPr>
            <a:cxnSpLocks/>
            <a:stCxn id="10" idx="1"/>
          </p:cNvCxnSpPr>
          <p:nvPr/>
        </p:nvCxnSpPr>
        <p:spPr>
          <a:xfrm flipH="1">
            <a:off x="5086350" y="2814638"/>
            <a:ext cx="5638800" cy="667218"/>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420924605"/>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50804C3E-0132-F269-3470-96B01669F7EE}"/>
              </a:ext>
            </a:extLst>
          </p:cNvPr>
          <p:cNvPicPr>
            <a:picLocks noChangeAspect="1"/>
          </p:cNvPicPr>
          <p:nvPr/>
        </p:nvPicPr>
        <p:blipFill>
          <a:blip r:embed="rId3"/>
          <a:stretch>
            <a:fillRect/>
          </a:stretch>
        </p:blipFill>
        <p:spPr>
          <a:xfrm>
            <a:off x="7210003" y="785344"/>
            <a:ext cx="4901233" cy="5029650"/>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a:t>Inside the FPGA (XCU250)</a:t>
            </a:r>
          </a:p>
          <a:p>
            <a:pPr lvl="1"/>
            <a:r>
              <a:rPr lang="en-US" altLang="ko-KR" dirty="0">
                <a:highlight>
                  <a:srgbClr val="FFFF00"/>
                </a:highlight>
              </a:rPr>
              <a:t>Dynamic Region</a:t>
            </a:r>
          </a:p>
          <a:p>
            <a:pPr lvl="2"/>
            <a:r>
              <a:rPr lang="en-US" altLang="ko-KR" dirty="0"/>
              <a:t>Available for creating custom Accelerators</a:t>
            </a:r>
          </a:p>
          <a:p>
            <a:pPr lvl="1"/>
            <a:r>
              <a:rPr lang="en-US" altLang="ko-KR" dirty="0"/>
              <a:t>SLR (Super Logic Region)</a:t>
            </a:r>
          </a:p>
          <a:p>
            <a:pPr lvl="2"/>
            <a:r>
              <a:rPr lang="en-US" altLang="ko-KR" dirty="0"/>
              <a:t>Single device die slice contained in an </a:t>
            </a:r>
            <a:r>
              <a:rPr lang="en-US" altLang="ko-KR" b="1" dirty="0"/>
              <a:t>SSI technology device</a:t>
            </a:r>
          </a:p>
          <a:p>
            <a:pPr lvl="2"/>
            <a:r>
              <a:rPr lang="en-US" altLang="ko-KR" dirty="0"/>
              <a:t>Each SLR contains subset of device resources (CLB, BRAM, DSP)</a:t>
            </a:r>
          </a:p>
          <a:p>
            <a:pPr lvl="2"/>
            <a:endParaRPr lang="en-US" altLang="ko-KR" dirty="0"/>
          </a:p>
          <a:p>
            <a:pPr lvl="2"/>
            <a:r>
              <a:rPr lang="en-US" altLang="ko-KR" dirty="0"/>
              <a:t>Multiple SLR components stacked vertically</a:t>
            </a:r>
          </a:p>
          <a:p>
            <a:pPr marL="742931" lvl="2" indent="0">
              <a:buNone/>
            </a:pPr>
            <a:r>
              <a:rPr lang="en-US" altLang="ko-KR" dirty="0"/>
              <a:t>connected through interposer to create an SSI technology device</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53</a:t>
            </a:fld>
            <a:endParaRPr lang="ko-KR" altLang="en-US"/>
          </a:p>
        </p:txBody>
      </p:sp>
    </p:spTree>
    <p:extLst>
      <p:ext uri="{BB962C8B-B14F-4D97-AF65-F5344CB8AC3E}">
        <p14:creationId xmlns:p14="http://schemas.microsoft.com/office/powerpoint/2010/main" val="3303363330"/>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lnSpcReduction="10000"/>
          </a:bodyPr>
          <a:lstStyle/>
          <a:p>
            <a:pPr>
              <a:lnSpc>
                <a:spcPct val="100000"/>
              </a:lnSpc>
            </a:pPr>
            <a:r>
              <a:rPr lang="en-US" altLang="ko-KR" sz="1800" dirty="0"/>
              <a:t>Overview (U280) – Difference from U250</a:t>
            </a:r>
          </a:p>
          <a:p>
            <a:pPr lvl="1">
              <a:lnSpc>
                <a:spcPct val="100000"/>
              </a:lnSpc>
            </a:pPr>
            <a:r>
              <a:rPr lang="en-US" altLang="ko-KR" sz="1600" dirty="0"/>
              <a:t>Offering 8GB of HBM2 up to 460 GB/s bandwidth to provide high-performance</a:t>
            </a:r>
          </a:p>
          <a:p>
            <a:pPr lvl="1">
              <a:lnSpc>
                <a:spcPct val="100000"/>
              </a:lnSpc>
            </a:pPr>
            <a:r>
              <a:rPr lang="en-US" altLang="ko-KR" sz="1600" dirty="0"/>
              <a:t>Including PCI Express 4.0 with CCIX support to leverage the latest server interconnect infrastructure for high-bandwidth, low latency</a:t>
            </a:r>
          </a:p>
          <a:p>
            <a:pPr>
              <a:lnSpc>
                <a:spcPct val="100000"/>
              </a:lnSpc>
            </a:pPr>
            <a:r>
              <a:rPr lang="en-US" altLang="ko-KR" dirty="0"/>
              <a:t>Highlights</a:t>
            </a:r>
          </a:p>
          <a:p>
            <a:pPr lvl="1">
              <a:lnSpc>
                <a:spcPct val="100000"/>
              </a:lnSpc>
            </a:pPr>
            <a:r>
              <a:rPr lang="en-US" altLang="ko-KR" dirty="0"/>
              <a:t>Fast</a:t>
            </a:r>
          </a:p>
          <a:p>
            <a:pPr lvl="2">
              <a:lnSpc>
                <a:spcPct val="100000"/>
              </a:lnSpc>
            </a:pPr>
            <a:r>
              <a:rPr lang="en-US" altLang="ko-KR" sz="1600" dirty="0"/>
              <a:t>Up to 3000X higher throughput than CPU</a:t>
            </a:r>
          </a:p>
          <a:p>
            <a:pPr lvl="2">
              <a:lnSpc>
                <a:spcPct val="100000"/>
              </a:lnSpc>
            </a:pPr>
            <a:r>
              <a:rPr lang="en-US" altLang="ko-KR" sz="1600" dirty="0"/>
              <a:t>Over 8X faster response time for database SQL TPC-H Query 5</a:t>
            </a:r>
          </a:p>
          <a:p>
            <a:pPr marL="616892" lvl="1" indent="-285750">
              <a:lnSpc>
                <a:spcPct val="100000"/>
              </a:lnSpc>
            </a:pPr>
            <a:r>
              <a:rPr lang="en-US" altLang="ko-KR" dirty="0"/>
              <a:t>Adaptable</a:t>
            </a:r>
          </a:p>
          <a:p>
            <a:pPr lvl="2">
              <a:lnSpc>
                <a:spcPct val="150000"/>
              </a:lnSpc>
            </a:pPr>
            <a:r>
              <a:rPr lang="en-US" altLang="ko-KR" sz="1600" dirty="0"/>
              <a:t>natural language processing to any workload using the same accelerator card</a:t>
            </a:r>
          </a:p>
          <a:p>
            <a:pPr lvl="2">
              <a:lnSpc>
                <a:spcPct val="150000"/>
              </a:lnSpc>
            </a:pPr>
            <a:r>
              <a:rPr lang="en-US" altLang="ko-KR" sz="1400" dirty="0"/>
              <a:t>Using reconfigurable hardware to adapt faster than fixed-function accelerator card product cycles</a:t>
            </a:r>
          </a:p>
          <a:p>
            <a:pPr lvl="1">
              <a:lnSpc>
                <a:spcPct val="150000"/>
              </a:lnSpc>
            </a:pPr>
            <a:r>
              <a:rPr lang="en-US" altLang="ko-KR" sz="1600" dirty="0"/>
              <a:t>Accessible – Cloud </a:t>
            </a:r>
            <a:r>
              <a:rPr lang="ko-KR" altLang="en-US" sz="1600" dirty="0"/>
              <a:t>↔</a:t>
            </a:r>
            <a:r>
              <a:rPr lang="en-US" altLang="ko-KR" sz="1600" dirty="0"/>
              <a:t> On-Premises Mobility</a:t>
            </a:r>
          </a:p>
          <a:p>
            <a:pPr lvl="2">
              <a:lnSpc>
                <a:spcPct val="150000"/>
              </a:lnSpc>
            </a:pPr>
            <a:r>
              <a:rPr lang="en-US" altLang="ko-KR" sz="1400" dirty="0"/>
              <a:t>Deploy solutions in the cloud or on-premises interchangeably, scalable to application requirements</a:t>
            </a:r>
          </a:p>
          <a:p>
            <a:pPr lvl="2">
              <a:lnSpc>
                <a:spcPct val="150000"/>
              </a:lnSpc>
            </a:pPr>
            <a:r>
              <a:rPr lang="en-US" altLang="ko-KR" sz="1400" dirty="0"/>
              <a:t>Applications available for common workloads, or build your own with the application developer tool</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54</a:t>
            </a:fld>
            <a:endParaRPr lang="ko-KR" altLang="en-US"/>
          </a:p>
        </p:txBody>
      </p:sp>
      <p:pic>
        <p:nvPicPr>
          <p:cNvPr id="6" name="그림 5">
            <a:extLst>
              <a:ext uri="{FF2B5EF4-FFF2-40B4-BE49-F238E27FC236}">
                <a16:creationId xmlns:a16="http://schemas.microsoft.com/office/drawing/2014/main" id="{C88D50AA-6EE3-1D86-08E4-7B6482D03370}"/>
              </a:ext>
            </a:extLst>
          </p:cNvPr>
          <p:cNvPicPr>
            <a:picLocks noChangeAspect="1"/>
          </p:cNvPicPr>
          <p:nvPr/>
        </p:nvPicPr>
        <p:blipFill>
          <a:blip r:embed="rId3"/>
          <a:stretch>
            <a:fillRect/>
          </a:stretch>
        </p:blipFill>
        <p:spPr>
          <a:xfrm>
            <a:off x="8979504" y="2085119"/>
            <a:ext cx="3212496" cy="2511116"/>
          </a:xfrm>
          <a:prstGeom prst="rect">
            <a:avLst/>
          </a:prstGeom>
        </p:spPr>
      </p:pic>
    </p:spTree>
    <p:extLst>
      <p:ext uri="{BB962C8B-B14F-4D97-AF65-F5344CB8AC3E}">
        <p14:creationId xmlns:p14="http://schemas.microsoft.com/office/powerpoint/2010/main" val="25707578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8300E9FD-71CE-5747-0666-963E9B148C3F}"/>
              </a:ext>
            </a:extLst>
          </p:cNvPr>
          <p:cNvPicPr>
            <a:picLocks noChangeAspect="1"/>
          </p:cNvPicPr>
          <p:nvPr/>
        </p:nvPicPr>
        <p:blipFill>
          <a:blip r:embed="rId3"/>
          <a:stretch>
            <a:fillRect/>
          </a:stretch>
        </p:blipFill>
        <p:spPr>
          <a:xfrm>
            <a:off x="5103398" y="895022"/>
            <a:ext cx="6916115" cy="4706007"/>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(U280)</a:t>
            </a:r>
          </a:p>
          <a:p>
            <a:pPr lvl="1"/>
            <a:endParaRPr lang="en-US" altLang="ko-KR" dirty="0"/>
          </a:p>
          <a:p>
            <a:pPr lvl="1"/>
            <a:endParaRPr lang="en-US" altLang="ko-KR" dirty="0"/>
          </a:p>
          <a:p>
            <a:pPr lvl="1"/>
            <a:endParaRPr lang="en-US" altLang="ko-KR" dirty="0"/>
          </a:p>
          <a:p>
            <a:pPr lvl="1"/>
            <a:r>
              <a:rPr lang="en-US" altLang="ko-KR" dirty="0" err="1"/>
              <a:t>Virtex</a:t>
            </a:r>
            <a:r>
              <a:rPr lang="en-US" altLang="ko-KR" dirty="0"/>
              <a:t> </a:t>
            </a:r>
            <a:r>
              <a:rPr lang="en-US" altLang="ko-KR" dirty="0" err="1"/>
              <a:t>UltraScale</a:t>
            </a:r>
            <a:r>
              <a:rPr lang="en-US" altLang="ko-KR" dirty="0"/>
              <a:t>+ XCU280 </a:t>
            </a:r>
          </a:p>
          <a:p>
            <a:pPr marL="371465" lvl="1" indent="0">
              <a:buNone/>
            </a:pPr>
            <a:r>
              <a:rPr lang="en-US" altLang="ko-KR" dirty="0"/>
              <a:t>FPGA 	</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55</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7315200" y="2071576"/>
            <a:ext cx="2381250" cy="2367073"/>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8" name="직선 화살표 연결선 7">
            <a:extLst>
              <a:ext uri="{FF2B5EF4-FFF2-40B4-BE49-F238E27FC236}">
                <a16:creationId xmlns:a16="http://schemas.microsoft.com/office/drawing/2014/main" id="{2EBAE609-AED6-AF21-F268-3F4A143ADC2B}"/>
              </a:ext>
            </a:extLst>
          </p:cNvPr>
          <p:cNvCxnSpPr>
            <a:stCxn id="10" idx="1"/>
          </p:cNvCxnSpPr>
          <p:nvPr/>
        </p:nvCxnSpPr>
        <p:spPr>
          <a:xfrm flipH="1" flipV="1">
            <a:off x="4686300" y="3238500"/>
            <a:ext cx="2628900" cy="16613"/>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52506013"/>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8300E9FD-71CE-5747-0666-963E9B148C3F}"/>
              </a:ext>
            </a:extLst>
          </p:cNvPr>
          <p:cNvPicPr>
            <a:picLocks noChangeAspect="1"/>
          </p:cNvPicPr>
          <p:nvPr/>
        </p:nvPicPr>
        <p:blipFill>
          <a:blip r:embed="rId3"/>
          <a:stretch>
            <a:fillRect/>
          </a:stretch>
        </p:blipFill>
        <p:spPr>
          <a:xfrm>
            <a:off x="5103398" y="895022"/>
            <a:ext cx="6916115" cy="4706007"/>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(U280)</a:t>
            </a:r>
          </a:p>
          <a:p>
            <a:pPr lvl="1"/>
            <a:endParaRPr lang="en-US" altLang="ko-KR" dirty="0"/>
          </a:p>
          <a:p>
            <a:pPr lvl="1"/>
            <a:endParaRPr lang="en-US" altLang="ko-KR" dirty="0"/>
          </a:p>
          <a:p>
            <a:pPr lvl="1"/>
            <a:endParaRPr lang="en-US" altLang="ko-KR" dirty="0"/>
          </a:p>
          <a:p>
            <a:pPr lvl="1"/>
            <a:r>
              <a:rPr lang="en-US" altLang="ko-KR" dirty="0"/>
              <a:t>DDR4 Memory</a:t>
            </a:r>
          </a:p>
          <a:p>
            <a:pPr lvl="2"/>
            <a:r>
              <a:rPr lang="en-US" altLang="ko-KR" dirty="0"/>
              <a:t>32GB DDR4 memory</a:t>
            </a:r>
          </a:p>
          <a:p>
            <a:pPr lvl="2"/>
            <a:r>
              <a:rPr lang="en-US" altLang="ko-KR" dirty="0"/>
              <a:t>2x DDR4 16GB, 2400MT/s</a:t>
            </a:r>
          </a:p>
          <a:p>
            <a:pPr lvl="2"/>
            <a:r>
              <a:rPr lang="en-US" altLang="ko-KR" dirty="0"/>
              <a:t>64bit with ECC DIMM </a:t>
            </a:r>
          </a:p>
          <a:p>
            <a:pPr lvl="2"/>
            <a:endParaRPr lang="en-US" altLang="ko-KR" dirty="0"/>
          </a:p>
          <a:p>
            <a:pPr lvl="2"/>
            <a:endParaRPr lang="en-US" altLang="ko-KR" dirty="0"/>
          </a:p>
          <a:p>
            <a:pPr lvl="2"/>
            <a:endParaRPr lang="en-US" altLang="ko-KR" dirty="0"/>
          </a:p>
          <a:p>
            <a:pPr lvl="1"/>
            <a:r>
              <a:rPr lang="en-US" altLang="ko-KR" dirty="0"/>
              <a:t>HBM</a:t>
            </a:r>
            <a:r>
              <a:rPr lang="ko-KR" altLang="en-US" dirty="0"/>
              <a:t> </a:t>
            </a:r>
            <a:r>
              <a:rPr lang="en-US" altLang="ko-KR" dirty="0"/>
              <a:t>DRAM</a:t>
            </a:r>
            <a:r>
              <a:rPr lang="ko-KR" altLang="en-US" dirty="0"/>
              <a:t> </a:t>
            </a:r>
            <a:r>
              <a:rPr lang="en-US" altLang="ko-KR" dirty="0"/>
              <a:t>Memory</a:t>
            </a:r>
          </a:p>
          <a:p>
            <a:pPr lvl="2"/>
            <a:r>
              <a:rPr lang="en-US" altLang="ko-KR" dirty="0"/>
              <a:t>Two HBM Memories in FPGA	</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56</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7305675" y="3638550"/>
            <a:ext cx="2390775" cy="800099"/>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8" name="직선 화살표 연결선 7">
            <a:extLst>
              <a:ext uri="{FF2B5EF4-FFF2-40B4-BE49-F238E27FC236}">
                <a16:creationId xmlns:a16="http://schemas.microsoft.com/office/drawing/2014/main" id="{2EBAE609-AED6-AF21-F268-3F4A143ADC2B}"/>
              </a:ext>
            </a:extLst>
          </p:cNvPr>
          <p:cNvCxnSpPr>
            <a:cxnSpLocks/>
          </p:cNvCxnSpPr>
          <p:nvPr/>
        </p:nvCxnSpPr>
        <p:spPr>
          <a:xfrm flipH="1">
            <a:off x="4619625" y="4324350"/>
            <a:ext cx="2686050" cy="723900"/>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9" name="직사각형 8">
            <a:extLst>
              <a:ext uri="{FF2B5EF4-FFF2-40B4-BE49-F238E27FC236}">
                <a16:creationId xmlns:a16="http://schemas.microsoft.com/office/drawing/2014/main" id="{7D400EA0-895E-0F06-14AE-39AE13F3E7CC}"/>
              </a:ext>
            </a:extLst>
          </p:cNvPr>
          <p:cNvSpPr/>
          <p:nvPr/>
        </p:nvSpPr>
        <p:spPr>
          <a:xfrm>
            <a:off x="5381625" y="3664358"/>
            <a:ext cx="1438276" cy="659992"/>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13" name="직선 화살표 연결선 12">
            <a:extLst>
              <a:ext uri="{FF2B5EF4-FFF2-40B4-BE49-F238E27FC236}">
                <a16:creationId xmlns:a16="http://schemas.microsoft.com/office/drawing/2014/main" id="{7A04EFE8-72E1-D6D3-322D-4E227F2D299D}"/>
              </a:ext>
            </a:extLst>
          </p:cNvPr>
          <p:cNvCxnSpPr>
            <a:cxnSpLocks/>
          </p:cNvCxnSpPr>
          <p:nvPr/>
        </p:nvCxnSpPr>
        <p:spPr>
          <a:xfrm flipH="1" flipV="1">
            <a:off x="4143375" y="3277747"/>
            <a:ext cx="1238250" cy="693232"/>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1467307"/>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8300E9FD-71CE-5747-0666-963E9B148C3F}"/>
              </a:ext>
            </a:extLst>
          </p:cNvPr>
          <p:cNvPicPr>
            <a:picLocks noChangeAspect="1"/>
          </p:cNvPicPr>
          <p:nvPr/>
        </p:nvPicPr>
        <p:blipFill>
          <a:blip r:embed="rId3"/>
          <a:stretch>
            <a:fillRect/>
          </a:stretch>
        </p:blipFill>
        <p:spPr>
          <a:xfrm>
            <a:off x="5103398" y="895022"/>
            <a:ext cx="6916115" cy="4706007"/>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err="1"/>
              <a:t>Alveo</a:t>
            </a:r>
            <a:r>
              <a:rPr lang="en-US" altLang="ko-KR" dirty="0"/>
              <a:t> </a:t>
            </a:r>
            <a:r>
              <a:rPr lang="en-US" altLang="ko-KR" dirty="0" err="1"/>
              <a:t>Architecuture</a:t>
            </a:r>
            <a:r>
              <a:rPr lang="en-US" altLang="ko-KR" dirty="0"/>
              <a:t> (U280)</a:t>
            </a:r>
          </a:p>
          <a:p>
            <a:pPr lvl="1"/>
            <a:endParaRPr lang="en-US" altLang="ko-KR" dirty="0"/>
          </a:p>
          <a:p>
            <a:pPr lvl="1"/>
            <a:endParaRPr lang="en-US" altLang="ko-KR" dirty="0"/>
          </a:p>
          <a:p>
            <a:pPr lvl="1"/>
            <a:endParaRPr lang="en-US" altLang="ko-KR" dirty="0"/>
          </a:p>
          <a:p>
            <a:pPr lvl="1"/>
            <a:r>
              <a:rPr lang="en-US" altLang="ko-KR" dirty="0"/>
              <a:t>PCIe bus</a:t>
            </a:r>
          </a:p>
          <a:p>
            <a:pPr lvl="2"/>
            <a:r>
              <a:rPr lang="en-US" altLang="ko-KR" dirty="0"/>
              <a:t>CCIX and PCIe Gen 4 can be supported	</a:t>
            </a:r>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57</a:t>
            </a:fld>
            <a:endParaRPr lang="ko-KR" altLang="en-US"/>
          </a:p>
        </p:txBody>
      </p:sp>
      <p:sp>
        <p:nvSpPr>
          <p:cNvPr id="10" name="직사각형 9">
            <a:extLst>
              <a:ext uri="{FF2B5EF4-FFF2-40B4-BE49-F238E27FC236}">
                <a16:creationId xmlns:a16="http://schemas.microsoft.com/office/drawing/2014/main" id="{F79FC853-A918-4C96-79DF-756AA3B9A8FD}"/>
              </a:ext>
            </a:extLst>
          </p:cNvPr>
          <p:cNvSpPr/>
          <p:nvPr/>
        </p:nvSpPr>
        <p:spPr>
          <a:xfrm>
            <a:off x="6096000" y="4989329"/>
            <a:ext cx="4619625" cy="535171"/>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dirty="0">
              <a:ln>
                <a:noFill/>
              </a:ln>
              <a:solidFill>
                <a:srgbClr val="000000"/>
              </a:solidFill>
              <a:effectLst/>
              <a:uFillTx/>
              <a:latin typeface="+mj-lt"/>
              <a:ea typeface="+mj-ea"/>
              <a:cs typeface="+mj-cs"/>
              <a:sym typeface="맑은 고딕"/>
            </a:endParaRPr>
          </a:p>
        </p:txBody>
      </p:sp>
      <p:cxnSp>
        <p:nvCxnSpPr>
          <p:cNvPr id="8" name="직선 화살표 연결선 7">
            <a:extLst>
              <a:ext uri="{FF2B5EF4-FFF2-40B4-BE49-F238E27FC236}">
                <a16:creationId xmlns:a16="http://schemas.microsoft.com/office/drawing/2014/main" id="{2EBAE609-AED6-AF21-F268-3F4A143ADC2B}"/>
              </a:ext>
            </a:extLst>
          </p:cNvPr>
          <p:cNvCxnSpPr>
            <a:cxnSpLocks/>
            <a:stCxn id="10" idx="1"/>
          </p:cNvCxnSpPr>
          <p:nvPr/>
        </p:nvCxnSpPr>
        <p:spPr>
          <a:xfrm flipH="1" flipV="1">
            <a:off x="4257675" y="3429000"/>
            <a:ext cx="1838325" cy="1827915"/>
          </a:xfrm>
          <a:prstGeom prst="straightConnector1">
            <a:avLst/>
          </a:prstGeom>
          <a:noFill/>
          <a:ln w="28575" cap="flat">
            <a:solidFill>
              <a:srgbClr val="FF0000"/>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85641170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2E2B174-C2D5-FA8B-2CF0-80DCDFC15B9C}"/>
              </a:ext>
            </a:extLst>
          </p:cNvPr>
          <p:cNvPicPr>
            <a:picLocks noChangeAspect="1"/>
          </p:cNvPicPr>
          <p:nvPr/>
        </p:nvPicPr>
        <p:blipFill>
          <a:blip r:embed="rId3"/>
          <a:stretch>
            <a:fillRect/>
          </a:stretch>
        </p:blipFill>
        <p:spPr>
          <a:xfrm>
            <a:off x="6295202" y="552064"/>
            <a:ext cx="5896798" cy="5525271"/>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a:t>Inside the FPGA (XCU250)</a:t>
            </a:r>
          </a:p>
          <a:p>
            <a:pPr lvl="1"/>
            <a:r>
              <a:rPr lang="en-US" altLang="ko-KR" dirty="0">
                <a:highlight>
                  <a:srgbClr val="FFFF00"/>
                </a:highlight>
              </a:rPr>
              <a:t>Integrating HBM controller to interface</a:t>
            </a:r>
          </a:p>
          <a:p>
            <a:pPr lvl="2"/>
            <a:r>
              <a:rPr lang="en-US" altLang="ko-KR" dirty="0"/>
              <a:t>Two adjacent 8GB HBM2 memory</a:t>
            </a:r>
          </a:p>
          <a:p>
            <a:pPr lvl="2"/>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58</a:t>
            </a:fld>
            <a:endParaRPr lang="ko-KR" altLang="en-US"/>
          </a:p>
        </p:txBody>
      </p:sp>
      <p:sp>
        <p:nvSpPr>
          <p:cNvPr id="7" name="직사각형 6">
            <a:extLst>
              <a:ext uri="{FF2B5EF4-FFF2-40B4-BE49-F238E27FC236}">
                <a16:creationId xmlns:a16="http://schemas.microsoft.com/office/drawing/2014/main" id="{F6F86B87-9B7D-DCB3-2AE4-62EDF4FDFAF8}"/>
              </a:ext>
            </a:extLst>
          </p:cNvPr>
          <p:cNvSpPr/>
          <p:nvPr/>
        </p:nvSpPr>
        <p:spPr>
          <a:xfrm>
            <a:off x="8210550" y="5610225"/>
            <a:ext cx="3295650" cy="400050"/>
          </a:xfrm>
          <a:prstGeom prst="rect">
            <a:avLst/>
          </a:prstGeom>
          <a:noFill/>
          <a:ln w="381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ko-KR" altLang="en-US" sz="1800" b="0" i="0" u="none" strike="noStrike" cap="none" spc="0" normalizeH="0" baseline="0">
              <a:ln>
                <a:noFill/>
              </a:ln>
              <a:solidFill>
                <a:srgbClr val="000000"/>
              </a:solidFill>
              <a:effectLst/>
              <a:uFillTx/>
              <a:latin typeface="+mj-lt"/>
              <a:ea typeface="+mj-ea"/>
              <a:cs typeface="+mj-cs"/>
              <a:sym typeface="맑은 고딕"/>
            </a:endParaRPr>
          </a:p>
        </p:txBody>
      </p:sp>
    </p:spTree>
    <p:extLst>
      <p:ext uri="{BB962C8B-B14F-4D97-AF65-F5344CB8AC3E}">
        <p14:creationId xmlns:p14="http://schemas.microsoft.com/office/powerpoint/2010/main" val="214733583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264BA174-2FD4-8B09-E0A4-8A85FD4CEB32}"/>
              </a:ext>
            </a:extLst>
          </p:cNvPr>
          <p:cNvPicPr>
            <a:picLocks noChangeAspect="1"/>
          </p:cNvPicPr>
          <p:nvPr/>
        </p:nvPicPr>
        <p:blipFill>
          <a:blip r:embed="rId3"/>
          <a:stretch>
            <a:fillRect/>
          </a:stretch>
        </p:blipFill>
        <p:spPr>
          <a:xfrm>
            <a:off x="8091589" y="127908"/>
            <a:ext cx="4100411" cy="2020879"/>
          </a:xfrm>
          <a:prstGeom prst="rect">
            <a:avLst/>
          </a:prstGeom>
        </p:spPr>
      </p:pic>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Xilinx</a:t>
            </a:r>
            <a:r>
              <a:rPr lang="ko-KR" altLang="en-US" dirty="0"/>
              <a:t> </a:t>
            </a:r>
            <a:r>
              <a:rPr lang="en-US" altLang="ko-KR" dirty="0" err="1"/>
              <a:t>Alveo</a:t>
            </a:r>
            <a:r>
              <a:rPr lang="ko-KR" altLang="en-US" dirty="0"/>
              <a:t> </a:t>
            </a:r>
            <a:r>
              <a:rPr lang="en-US" altLang="ko-KR" dirty="0"/>
              <a:t>Card</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520837" y="1138348"/>
            <a:ext cx="11353798" cy="5029650"/>
          </a:xfrm>
        </p:spPr>
        <p:txBody>
          <a:bodyPr>
            <a:normAutofit/>
          </a:bodyPr>
          <a:lstStyle/>
          <a:p>
            <a:r>
              <a:rPr lang="en-US" altLang="ko-KR" dirty="0"/>
              <a:t>Understanding FPGA Components</a:t>
            </a:r>
          </a:p>
          <a:p>
            <a:pPr lvl="1"/>
            <a:r>
              <a:rPr lang="en-US" altLang="ko-KR" dirty="0"/>
              <a:t>SSI (Stacked Silicon Interconnect): Die connecting Technology</a:t>
            </a:r>
          </a:p>
          <a:p>
            <a:pPr lvl="2"/>
            <a:r>
              <a:rPr lang="en-US" altLang="ko-KR" dirty="0"/>
              <a:t>Enable high bandwidth between SLRs, minimizes delays in data transmission </a:t>
            </a:r>
          </a:p>
          <a:p>
            <a:pPr marL="616892" lvl="1" indent="-285750"/>
            <a:r>
              <a:rPr lang="en-US" altLang="ko-KR" dirty="0"/>
              <a:t>SLR: Single Die in FPGA</a:t>
            </a:r>
          </a:p>
          <a:p>
            <a:pPr marL="1028681" lvl="2" indent="-285750"/>
            <a:r>
              <a:rPr lang="en-US" altLang="ko-KR" dirty="0"/>
              <a:t>Vertically integrated in FPGA</a:t>
            </a:r>
          </a:p>
          <a:p>
            <a:pPr marL="1028681" lvl="2" indent="-285750"/>
            <a:r>
              <a:rPr lang="en-US" altLang="ko-KR" dirty="0"/>
              <a:t>6-input LUTs, Registers, I/O components, Gigabit Transceivers (GT) </a:t>
            </a:r>
          </a:p>
          <a:p>
            <a:pPr marL="1028681" lvl="2" indent="-285750"/>
            <a:r>
              <a:rPr lang="en-US" altLang="ko-KR" dirty="0"/>
              <a:t>Block memory, DSP blocks, Other blocks</a:t>
            </a:r>
          </a:p>
          <a:p>
            <a:pPr marL="616892" lvl="1" indent="-285750"/>
            <a:r>
              <a:rPr lang="en-US" altLang="ko-KR" dirty="0"/>
              <a:t>Clock Region</a:t>
            </a:r>
          </a:p>
          <a:p>
            <a:pPr marL="1028681" lvl="2" indent="-285750"/>
            <a:r>
              <a:rPr lang="en-US" altLang="ko-KR" dirty="0"/>
              <a:t>By growing size of FPGA, clock </a:t>
            </a:r>
            <a:r>
              <a:rPr lang="en-US" altLang="ko-KR" b="1" dirty="0"/>
              <a:t>skew control</a:t>
            </a:r>
            <a:r>
              <a:rPr lang="en-US" altLang="ko-KR" dirty="0"/>
              <a:t> is important</a:t>
            </a:r>
          </a:p>
          <a:p>
            <a:pPr marL="1028681" lvl="2" indent="-285750"/>
            <a:r>
              <a:rPr lang="en-US" altLang="ko-KR" dirty="0"/>
              <a:t>SLR can be split into boxes which contain CLBs</a:t>
            </a:r>
          </a:p>
          <a:p>
            <a:pPr marL="331142" lvl="1" indent="0">
              <a:buNone/>
            </a:pPr>
            <a:endParaRPr lang="en-US" altLang="ko-KR"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59</a:t>
            </a:fld>
            <a:endParaRPr lang="ko-KR" altLang="en-US"/>
          </a:p>
        </p:txBody>
      </p:sp>
      <p:pic>
        <p:nvPicPr>
          <p:cNvPr id="6" name="그림 5">
            <a:extLst>
              <a:ext uri="{FF2B5EF4-FFF2-40B4-BE49-F238E27FC236}">
                <a16:creationId xmlns:a16="http://schemas.microsoft.com/office/drawing/2014/main" id="{663D5346-3536-ED52-8373-758DF1DB0F29}"/>
              </a:ext>
            </a:extLst>
          </p:cNvPr>
          <p:cNvPicPr>
            <a:picLocks noChangeAspect="1"/>
          </p:cNvPicPr>
          <p:nvPr/>
        </p:nvPicPr>
        <p:blipFill>
          <a:blip r:embed="rId4"/>
          <a:stretch>
            <a:fillRect/>
          </a:stretch>
        </p:blipFill>
        <p:spPr>
          <a:xfrm>
            <a:off x="8567566" y="2544779"/>
            <a:ext cx="2448267" cy="1228896"/>
          </a:xfrm>
          <a:prstGeom prst="rect">
            <a:avLst/>
          </a:prstGeom>
        </p:spPr>
      </p:pic>
    </p:spTree>
    <p:extLst>
      <p:ext uri="{BB962C8B-B14F-4D97-AF65-F5344CB8AC3E}">
        <p14:creationId xmlns:p14="http://schemas.microsoft.com/office/powerpoint/2010/main" val="1189299559"/>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5327277" y="3106917"/>
            <a:ext cx="1537445" cy="644166"/>
          </a:xfrm>
        </p:spPr>
        <p:txBody>
          <a:bodyPr>
            <a:normAutofit/>
          </a:bodyPr>
          <a:lstStyle/>
          <a:p>
            <a:r>
              <a:rPr lang="en-US" altLang="ko-KR" sz="4000" dirty="0"/>
              <a:t>PCI-e</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60</a:t>
            </a:fld>
            <a:endParaRPr lang="ko-KR" altLang="en-US"/>
          </a:p>
        </p:txBody>
      </p:sp>
    </p:spTree>
    <p:extLst>
      <p:ext uri="{BB962C8B-B14F-4D97-AF65-F5344CB8AC3E}">
        <p14:creationId xmlns:p14="http://schemas.microsoft.com/office/powerpoint/2010/main" val="3106809913"/>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PCI-e</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normAutofit lnSpcReduction="10000"/>
          </a:bodyPr>
          <a:lstStyle/>
          <a:p>
            <a:r>
              <a:rPr lang="en-US" altLang="ko-KR" dirty="0"/>
              <a:t>High-speed serial computer expansion bus standard</a:t>
            </a:r>
          </a:p>
          <a:p>
            <a:pPr lvl="1"/>
            <a:r>
              <a:rPr lang="en-US" altLang="ko-KR" dirty="0"/>
              <a:t>In the case of parallel communication, there is an issue (EMI) that is difficult to implement high clock frequency</a:t>
            </a:r>
          </a:p>
          <a:p>
            <a:pPr lvl="1"/>
            <a:endParaRPr lang="en-US" altLang="ko-KR" dirty="0"/>
          </a:p>
          <a:p>
            <a:r>
              <a:rPr lang="en-US" altLang="ko-KR" dirty="0"/>
              <a:t>Full duplex communication between end-points</a:t>
            </a:r>
          </a:p>
          <a:p>
            <a:pPr lvl="1"/>
            <a:r>
              <a:rPr lang="en-US" altLang="ko-KR" dirty="0"/>
              <a:t>Bandwidth increase</a:t>
            </a:r>
          </a:p>
          <a:p>
            <a:pPr lvl="1"/>
            <a:endParaRPr lang="en-US" altLang="ko-KR" dirty="0"/>
          </a:p>
          <a:p>
            <a:r>
              <a:rPr lang="en-US" altLang="ko-KR" dirty="0"/>
              <a:t>Compatible for Previous versions of PCI-e and Legacy PCI</a:t>
            </a:r>
          </a:p>
          <a:p>
            <a:endParaRPr lang="en-US" altLang="ko-KR" dirty="0"/>
          </a:p>
          <a:p>
            <a:r>
              <a:rPr lang="en-US" altLang="ko-KR" b="0" i="0" dirty="0">
                <a:solidFill>
                  <a:srgbClr val="000000"/>
                </a:solidFill>
                <a:effectLst/>
                <a:latin typeface="noto"/>
              </a:rPr>
              <a:t>Multiple lanes (x1, x2, x4, x8, x12, x16, x32) exist.</a:t>
            </a:r>
          </a:p>
          <a:p>
            <a:pPr lvl="1"/>
            <a:r>
              <a:rPr lang="en-US" altLang="ko-KR" b="0" i="0" dirty="0">
                <a:solidFill>
                  <a:srgbClr val="000000"/>
                </a:solidFill>
                <a:effectLst/>
                <a:latin typeface="noto"/>
              </a:rPr>
              <a:t>Each lane's signal is asynchronously transmitted with clock information in the data stream</a:t>
            </a:r>
          </a:p>
          <a:p>
            <a:pPr lvl="1"/>
            <a:endParaRPr lang="en-US" altLang="ko-KR" dirty="0"/>
          </a:p>
          <a:p>
            <a:r>
              <a:rPr lang="en-US" altLang="ko-KR" dirty="0"/>
              <a:t>It consists of three layers. Data communication in packet form for each layer</a:t>
            </a:r>
          </a:p>
          <a:p>
            <a:endParaRPr lang="en-US" altLang="ko-KR" dirty="0"/>
          </a:p>
          <a:p>
            <a:r>
              <a:rPr lang="en-US" altLang="ko-KR" dirty="0"/>
              <a:t>Point-to-Point</a:t>
            </a:r>
          </a:p>
          <a:p>
            <a:endParaRPr lang="en-US" altLang="ko-KR" dirty="0"/>
          </a:p>
          <a:p>
            <a:endParaRPr lang="en-US" altLang="ko-KR" dirty="0"/>
          </a:p>
          <a:p>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61</a:t>
            </a:fld>
            <a:endParaRPr lang="ko-KR" altLang="en-US"/>
          </a:p>
        </p:txBody>
      </p:sp>
    </p:spTree>
    <p:extLst>
      <p:ext uri="{BB962C8B-B14F-4D97-AF65-F5344CB8AC3E}">
        <p14:creationId xmlns:p14="http://schemas.microsoft.com/office/powerpoint/2010/main" val="3867056634"/>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PCI-e</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p:txBody>
          <a:bodyPr/>
          <a:lstStyle/>
          <a:p>
            <a:r>
              <a:rPr lang="en-US" altLang="ko-KR" b="0" i="0" dirty="0">
                <a:solidFill>
                  <a:srgbClr val="000000"/>
                </a:solidFill>
                <a:effectLst/>
                <a:latin typeface="noto"/>
              </a:rPr>
              <a:t>After Gen3, the encoding method is improved to 8b/10b -&gt; 128b/130b, increasing bit per transfer</a:t>
            </a:r>
          </a:p>
          <a:p>
            <a:endParaRPr lang="en-US" altLang="ko-KR" dirty="0"/>
          </a:p>
          <a:p>
            <a:r>
              <a:rPr lang="en-US" altLang="ko-KR" dirty="0"/>
              <a:t>Throughput increases linearly for lane</a:t>
            </a:r>
          </a:p>
          <a:p>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62</a:t>
            </a:fld>
            <a:endParaRPr lang="ko-KR" altLang="en-US"/>
          </a:p>
        </p:txBody>
      </p:sp>
      <p:pic>
        <p:nvPicPr>
          <p:cNvPr id="1030" name="Picture 6" descr="PCI vs PCIe: What's the Difference and How to Distinguish ...">
            <a:extLst>
              <a:ext uri="{FF2B5EF4-FFF2-40B4-BE49-F238E27FC236}">
                <a16:creationId xmlns:a16="http://schemas.microsoft.com/office/drawing/2014/main" id="{5BE9B729-7CCA-47BF-9DBA-C0F27D0D3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880" y="3277590"/>
            <a:ext cx="9240317" cy="2597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084138"/>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PCI-e Layer</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3"/>
            <a:ext cx="5257797" cy="3013934"/>
          </a:xfrm>
        </p:spPr>
        <p:txBody>
          <a:bodyPr/>
          <a:lstStyle/>
          <a:p>
            <a:r>
              <a:rPr lang="en-US" altLang="ko-KR" dirty="0"/>
              <a:t>Configured with 3 layers except Software layer</a:t>
            </a:r>
          </a:p>
          <a:p>
            <a:endParaRPr lang="en-US" altLang="ko-KR" dirty="0"/>
          </a:p>
          <a:p>
            <a:r>
              <a:rPr lang="en-US" altLang="ko-KR" dirty="0"/>
              <a:t>Add a header and tail for each layer, packetize the data, and send it</a:t>
            </a:r>
          </a:p>
          <a:p>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63</a:t>
            </a:fld>
            <a:endParaRPr lang="ko-KR" altLang="en-US"/>
          </a:p>
        </p:txBody>
      </p:sp>
      <p:pic>
        <p:nvPicPr>
          <p:cNvPr id="2050" name="Picture 2" descr="image">
            <a:extLst>
              <a:ext uri="{FF2B5EF4-FFF2-40B4-BE49-F238E27FC236}">
                <a16:creationId xmlns:a16="http://schemas.microsoft.com/office/drawing/2014/main" id="{C8533DA4-2485-800D-2295-F929B6935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3" y="1281602"/>
            <a:ext cx="5381624" cy="425148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601D0B9-F6E0-07A8-08DD-C0904F292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3" y="3784295"/>
            <a:ext cx="5486400" cy="1748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014681"/>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Software / Transaction Layer</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2"/>
            <a:ext cx="10791822" cy="4815337"/>
          </a:xfrm>
        </p:spPr>
        <p:txBody>
          <a:bodyPr/>
          <a:lstStyle/>
          <a:p>
            <a:r>
              <a:rPr lang="en-US" altLang="ko-KR" dirty="0"/>
              <a:t> Software layer is at the top of the layer</a:t>
            </a:r>
          </a:p>
          <a:p>
            <a:pPr lvl="1"/>
            <a:r>
              <a:rPr lang="en-US" altLang="ko-KR" dirty="0"/>
              <a:t>No separate header and tail are added (not included in the layer)</a:t>
            </a:r>
          </a:p>
          <a:p>
            <a:pPr lvl="1"/>
            <a:r>
              <a:rPr lang="en-US" altLang="ko-KR" dirty="0"/>
              <a:t>Destination or start point of all requests</a:t>
            </a:r>
          </a:p>
          <a:p>
            <a:pPr lvl="1"/>
            <a:r>
              <a:rPr lang="en-US" altLang="ko-KR" dirty="0"/>
              <a:t>Endpoint (CPU, Memory, etc.)</a:t>
            </a:r>
          </a:p>
          <a:p>
            <a:pPr lvl="1"/>
            <a:endParaRPr lang="en-US" altLang="ko-KR" dirty="0"/>
          </a:p>
          <a:p>
            <a:r>
              <a:rPr lang="en-US" altLang="ko-KR" dirty="0"/>
              <a:t> In the Transaction Layer, inbound/outbound packets are generated/transmitted based on requests from the software layer (TLP, Transaction Layer Packet).</a:t>
            </a:r>
          </a:p>
          <a:p>
            <a:pPr lvl="1"/>
            <a:r>
              <a:rPr lang="en-US" altLang="ko-KR" dirty="0"/>
              <a:t>QoS(Quality of Service)</a:t>
            </a:r>
          </a:p>
          <a:p>
            <a:pPr lvl="2"/>
            <a:r>
              <a:rPr lang="en-US" altLang="ko-KR" dirty="0"/>
              <a:t>By assigning priority to packets, the quality of data transmission can be ensured.</a:t>
            </a:r>
          </a:p>
          <a:p>
            <a:pPr lvl="2"/>
            <a:r>
              <a:rPr lang="en-US" altLang="ko-KR" dirty="0"/>
              <a:t>The priority is determined through the Traffic Class (TC, 3-bit) field.</a:t>
            </a:r>
          </a:p>
          <a:p>
            <a:pPr lvl="1"/>
            <a:r>
              <a:rPr lang="en-US" altLang="ko-KR" dirty="0"/>
              <a:t>To implement error detection, the packet includes ECRC (End-to-End Cyclic Redundancy Check).</a:t>
            </a:r>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64</a:t>
            </a:fld>
            <a:endParaRPr lang="ko-KR" altLang="en-US"/>
          </a:p>
        </p:txBody>
      </p:sp>
    </p:spTree>
    <p:extLst>
      <p:ext uri="{BB962C8B-B14F-4D97-AF65-F5344CB8AC3E}">
        <p14:creationId xmlns:p14="http://schemas.microsoft.com/office/powerpoint/2010/main" val="3124796073"/>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Transaction Layer</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2"/>
            <a:ext cx="4882606" cy="4815338"/>
          </a:xfrm>
        </p:spPr>
        <p:txBody>
          <a:bodyPr>
            <a:normAutofit fontScale="85000" lnSpcReduction="10000"/>
          </a:bodyPr>
          <a:lstStyle/>
          <a:p>
            <a:r>
              <a:rPr lang="en-US" altLang="ko-KR" dirty="0"/>
              <a:t> For each Request Type, a separate Address space is used, including a total of 4 types: Memory, IO, Configuration, and Message.</a:t>
            </a:r>
          </a:p>
          <a:p>
            <a:endParaRPr lang="en-US" altLang="ko-KR" dirty="0"/>
          </a:p>
          <a:p>
            <a:r>
              <a:rPr lang="en-US" altLang="ko-KR" dirty="0"/>
              <a:t>The packet composition varies depending on the Request Type. In the case of non-Posted transactions, the receiving side generates a Completion packet.</a:t>
            </a:r>
          </a:p>
          <a:p>
            <a:endParaRPr lang="en-US" altLang="ko-KR" dirty="0"/>
          </a:p>
          <a:p>
            <a:r>
              <a:rPr lang="en-US" altLang="ko-KR" dirty="0"/>
              <a:t>The Configuration type contains information such as Device ID, Vendor ID, and Class code, which are stored in PCI-e capable devices.</a:t>
            </a:r>
          </a:p>
          <a:p>
            <a:endParaRPr lang="en-US" altLang="ko-KR" dirty="0"/>
          </a:p>
          <a:p>
            <a:r>
              <a:rPr lang="en-US" altLang="ko-KR" dirty="0"/>
              <a:t>The Message type is used to transmit events such as interrupts, power management events, and errors along the path of the packet. It helps reduce the number of pins required for communication.</a:t>
            </a:r>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65</a:t>
            </a:fld>
            <a:endParaRPr lang="ko-KR" altLang="en-US"/>
          </a:p>
        </p:txBody>
      </p:sp>
      <p:pic>
        <p:nvPicPr>
          <p:cNvPr id="6" name="그림 5">
            <a:extLst>
              <a:ext uri="{FF2B5EF4-FFF2-40B4-BE49-F238E27FC236}">
                <a16:creationId xmlns:a16="http://schemas.microsoft.com/office/drawing/2014/main" id="{3BBF4211-90C1-1E92-72B5-4B352C262376}"/>
              </a:ext>
            </a:extLst>
          </p:cNvPr>
          <p:cNvPicPr>
            <a:picLocks noChangeAspect="1"/>
          </p:cNvPicPr>
          <p:nvPr/>
        </p:nvPicPr>
        <p:blipFill>
          <a:blip r:embed="rId2"/>
          <a:stretch>
            <a:fillRect/>
          </a:stretch>
        </p:blipFill>
        <p:spPr>
          <a:xfrm>
            <a:off x="5720809" y="1009291"/>
            <a:ext cx="6272123" cy="4643629"/>
          </a:xfrm>
          <a:prstGeom prst="rect">
            <a:avLst/>
          </a:prstGeom>
        </p:spPr>
      </p:pic>
    </p:spTree>
    <p:extLst>
      <p:ext uri="{BB962C8B-B14F-4D97-AF65-F5344CB8AC3E}">
        <p14:creationId xmlns:p14="http://schemas.microsoft.com/office/powerpoint/2010/main" val="4003890257"/>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Data Link Layer</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2"/>
            <a:ext cx="10868022" cy="4815338"/>
          </a:xfrm>
        </p:spPr>
        <p:txBody>
          <a:bodyPr>
            <a:normAutofit fontScale="92500" lnSpcReduction="10000"/>
          </a:bodyPr>
          <a:lstStyle/>
          <a:p>
            <a:r>
              <a:rPr lang="en-US" altLang="ko-KR" dirty="0"/>
              <a:t>TLP (Transaction Layer Packet) performs various roles such as error correction, flow control, and link power management.</a:t>
            </a:r>
          </a:p>
          <a:p>
            <a:endParaRPr lang="en-US" altLang="ko-KR" dirty="0"/>
          </a:p>
          <a:p>
            <a:r>
              <a:rPr lang="en-US" altLang="ko-KR" dirty="0"/>
              <a:t>Error correction</a:t>
            </a:r>
          </a:p>
          <a:p>
            <a:pPr lvl="1"/>
            <a:r>
              <a:rPr lang="en-US" altLang="ko-KR" dirty="0"/>
              <a:t>Error correction is hardware-based and involves adding LCRC (Link Cyclic Redundancy Check) and Sequence Number to DLLP (Data Link Layer Packet) for this purpose. </a:t>
            </a:r>
          </a:p>
          <a:p>
            <a:pPr lvl="1"/>
            <a:r>
              <a:rPr lang="en-US" altLang="ko-KR" dirty="0"/>
              <a:t>After error correction, the receiving side sends Ack/</a:t>
            </a:r>
            <a:r>
              <a:rPr lang="en-US" altLang="ko-KR" dirty="0" err="1"/>
              <a:t>Nack</a:t>
            </a:r>
            <a:r>
              <a:rPr lang="en-US" altLang="ko-KR" dirty="0"/>
              <a:t> signals to the transmitting side through DLLP based on the received result. The transmitting side stores the data in a retry buffer until an ack signal is received.</a:t>
            </a:r>
          </a:p>
          <a:p>
            <a:endParaRPr lang="en-US" altLang="ko-KR" dirty="0"/>
          </a:p>
          <a:p>
            <a:r>
              <a:rPr lang="en-US" altLang="ko-KR" dirty="0"/>
              <a:t>Flow control</a:t>
            </a:r>
          </a:p>
          <a:p>
            <a:pPr lvl="1"/>
            <a:r>
              <a:rPr lang="en-US" altLang="ko-KR" dirty="0"/>
              <a:t>Flow control involves checking the status of the buffer for data reception to prevent sending TLPs beyond the available buffer capacity.</a:t>
            </a:r>
          </a:p>
          <a:p>
            <a:endParaRPr lang="en-US" altLang="ko-KR" dirty="0"/>
          </a:p>
          <a:p>
            <a:r>
              <a:rPr lang="en-US" altLang="ko-KR" dirty="0"/>
              <a:t>Power management</a:t>
            </a:r>
          </a:p>
          <a:p>
            <a:pPr lvl="1"/>
            <a:r>
              <a:rPr lang="en-US" altLang="ko-KR" dirty="0"/>
              <a:t>Power management includes monitoring the Link and system power states, such as L0, L0s, and L1.</a:t>
            </a:r>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66</a:t>
            </a:fld>
            <a:endParaRPr lang="ko-KR" altLang="en-US" dirty="0"/>
          </a:p>
        </p:txBody>
      </p:sp>
    </p:spTree>
    <p:extLst>
      <p:ext uri="{BB962C8B-B14F-4D97-AF65-F5344CB8AC3E}">
        <p14:creationId xmlns:p14="http://schemas.microsoft.com/office/powerpoint/2010/main" val="2040480261"/>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Physical Layer</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2"/>
            <a:ext cx="10868022" cy="4815338"/>
          </a:xfrm>
        </p:spPr>
        <p:txBody>
          <a:bodyPr>
            <a:normAutofit/>
          </a:bodyPr>
          <a:lstStyle/>
          <a:p>
            <a:r>
              <a:rPr lang="en-US" altLang="ko-KR" dirty="0"/>
              <a:t> The layer where actual transmission takes place is the Physical Layer.</a:t>
            </a:r>
          </a:p>
          <a:p>
            <a:endParaRPr lang="en-US" altLang="ko-KR" dirty="0"/>
          </a:p>
          <a:p>
            <a:r>
              <a:rPr lang="en-US" altLang="ko-KR" dirty="0"/>
              <a:t>It performs the task of adding Start and End to DLLP (Data Link Layer Packet).</a:t>
            </a:r>
          </a:p>
          <a:p>
            <a:endParaRPr lang="en-US" altLang="ko-KR" dirty="0"/>
          </a:p>
          <a:p>
            <a:r>
              <a:rPr lang="en-US" altLang="ko-KR" dirty="0"/>
              <a:t>Packets are divided into lane, known as byte striping, for transmission.</a:t>
            </a:r>
          </a:p>
          <a:p>
            <a:endParaRPr lang="en-US" altLang="ko-KR" dirty="0"/>
          </a:p>
          <a:p>
            <a:r>
              <a:rPr lang="en-US" altLang="ko-KR" dirty="0"/>
              <a:t>In order to reduce EMI (Electro-magnetic Interference), repetitive patterns are minimized.</a:t>
            </a:r>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67</a:t>
            </a:fld>
            <a:endParaRPr lang="ko-KR" altLang="en-US" dirty="0"/>
          </a:p>
        </p:txBody>
      </p:sp>
    </p:spTree>
    <p:extLst>
      <p:ext uri="{BB962C8B-B14F-4D97-AF65-F5344CB8AC3E}">
        <p14:creationId xmlns:p14="http://schemas.microsoft.com/office/powerpoint/2010/main" val="1882626223"/>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p:txBody>
          <a:bodyPr/>
          <a:lstStyle/>
          <a:p>
            <a:r>
              <a:rPr lang="en-US" altLang="ko-KR" dirty="0"/>
              <a:t>PCI-e topology</a:t>
            </a:r>
            <a:endParaRPr lang="ko-KR" altLang="en-US" dirty="0"/>
          </a:p>
        </p:txBody>
      </p:sp>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838203" y="1147312"/>
            <a:ext cx="6074901" cy="4815338"/>
          </a:xfrm>
        </p:spPr>
        <p:txBody>
          <a:bodyPr>
            <a:normAutofit/>
          </a:bodyPr>
          <a:lstStyle/>
          <a:p>
            <a:r>
              <a:rPr lang="ko-KR" altLang="en-US" dirty="0"/>
              <a:t> </a:t>
            </a:r>
            <a:r>
              <a:rPr lang="en-US" altLang="ko-KR" dirty="0"/>
              <a:t>Root complex</a:t>
            </a:r>
          </a:p>
          <a:p>
            <a:pPr lvl="1"/>
            <a:r>
              <a:rPr lang="en-US" altLang="ko-KR" dirty="0"/>
              <a:t>It has multiple downstream ports (PCI bridges).</a:t>
            </a:r>
          </a:p>
          <a:p>
            <a:pPr lvl="1"/>
            <a:r>
              <a:rPr lang="en-US" altLang="ko-KR" dirty="0"/>
              <a:t>It has one upstream port (host bridge).</a:t>
            </a:r>
          </a:p>
          <a:p>
            <a:pPr lvl="1"/>
            <a:r>
              <a:rPr lang="en-US" altLang="ko-KR" dirty="0"/>
              <a:t>The downstream ports can be connected to switches or endpoints.</a:t>
            </a:r>
          </a:p>
          <a:p>
            <a:pPr lvl="1"/>
            <a:endParaRPr lang="en-US" altLang="ko-KR" dirty="0"/>
          </a:p>
          <a:p>
            <a:r>
              <a:rPr lang="en-US" altLang="ko-KR" dirty="0"/>
              <a:t> Switch</a:t>
            </a:r>
          </a:p>
          <a:p>
            <a:pPr lvl="1"/>
            <a:r>
              <a:rPr lang="en-US" altLang="ko-KR" dirty="0"/>
              <a:t>A single root port can connect multiple devices.</a:t>
            </a:r>
          </a:p>
          <a:p>
            <a:pPr lvl="1"/>
            <a:r>
              <a:rPr lang="en-US" altLang="ko-KR" dirty="0"/>
              <a:t>It acts as a packet router, recognizing the address of the packet and using other routing information to determine the path the packet should take.</a:t>
            </a:r>
          </a:p>
          <a:p>
            <a:pPr lvl="1"/>
            <a:endParaRPr lang="en-US" altLang="ko-KR" dirty="0"/>
          </a:p>
          <a:p>
            <a:r>
              <a:rPr lang="en-US" altLang="ko-KR" dirty="0"/>
              <a:t> </a:t>
            </a:r>
            <a:r>
              <a:rPr lang="en-US" altLang="ko-KR" dirty="0" err="1"/>
              <a:t>Brdige</a:t>
            </a:r>
            <a:endParaRPr lang="en-US" altLang="ko-KR" dirty="0"/>
          </a:p>
          <a:p>
            <a:pPr lvl="1"/>
            <a:r>
              <a:rPr lang="en-US" altLang="ko-KR" dirty="0"/>
              <a:t>interface between different buses(</a:t>
            </a:r>
            <a:r>
              <a:rPr lang="en-US" altLang="ko-KR" dirty="0" err="1"/>
              <a:t>pci</a:t>
            </a:r>
            <a:r>
              <a:rPr lang="en-US" altLang="ko-KR" dirty="0"/>
              <a:t> – </a:t>
            </a:r>
            <a:r>
              <a:rPr lang="en-US" altLang="ko-KR" dirty="0" err="1"/>
              <a:t>pcie</a:t>
            </a:r>
            <a:r>
              <a:rPr lang="en-US" altLang="ko-KR" dirty="0"/>
              <a:t>)</a:t>
            </a:r>
          </a:p>
          <a:p>
            <a:pPr lvl="1"/>
            <a:endParaRPr lang="en-US" altLang="ko-KR" dirty="0"/>
          </a:p>
          <a:p>
            <a:pPr lvl="1"/>
            <a:endParaRPr lang="en-US" altLang="ko-KR" dirty="0"/>
          </a:p>
          <a:p>
            <a:pPr lvl="1"/>
            <a:endParaRPr lang="en-US" altLang="ko-KR" dirty="0"/>
          </a:p>
          <a:p>
            <a:pPr lvl="1"/>
            <a:endParaRPr lang="en-US" altLang="ko-KR" dirty="0"/>
          </a:p>
          <a:p>
            <a:endParaRPr lang="en-US" altLang="ko-KR" dirty="0"/>
          </a:p>
          <a:p>
            <a:pPr marL="742931" lvl="2" indent="0">
              <a:buNone/>
            </a:pPr>
            <a:endParaRPr lang="ko-KR" altLang="en-US"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68</a:t>
            </a:fld>
            <a:endParaRPr lang="ko-KR" altLang="en-US" dirty="0"/>
          </a:p>
        </p:txBody>
      </p:sp>
      <p:pic>
        <p:nvPicPr>
          <p:cNvPr id="3076" name="Picture 4" descr="image">
            <a:extLst>
              <a:ext uri="{FF2B5EF4-FFF2-40B4-BE49-F238E27FC236}">
                <a16:creationId xmlns:a16="http://schemas.microsoft.com/office/drawing/2014/main" id="{952AC172-B566-9B5A-44F3-AD46ABB6330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78205" y="3592159"/>
            <a:ext cx="4119562" cy="249460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a:extLst>
              <a:ext uri="{FF2B5EF4-FFF2-40B4-BE49-F238E27FC236}">
                <a16:creationId xmlns:a16="http://schemas.microsoft.com/office/drawing/2014/main" id="{E844FEE1-7522-6C6E-80A7-47CFB5F26C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134" y="523875"/>
            <a:ext cx="4284663" cy="3275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282149"/>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36A31-AC6C-AE5A-6D93-C574F43408E9}"/>
              </a:ext>
            </a:extLst>
          </p:cNvPr>
          <p:cNvSpPr>
            <a:spLocks noGrp="1"/>
          </p:cNvSpPr>
          <p:nvPr>
            <p:ph type="title"/>
          </p:nvPr>
        </p:nvSpPr>
        <p:spPr/>
        <p:txBody>
          <a:bodyPr/>
          <a:lstStyle/>
          <a:p>
            <a:r>
              <a:rPr lang="en-US" altLang="ko-KR" dirty="0"/>
              <a:t>CCIX</a:t>
            </a:r>
            <a:endParaRPr lang="ko-KR" altLang="en-US" dirty="0"/>
          </a:p>
        </p:txBody>
      </p:sp>
      <p:sp>
        <p:nvSpPr>
          <p:cNvPr id="3" name="텍스트 개체 틀 2">
            <a:extLst>
              <a:ext uri="{FF2B5EF4-FFF2-40B4-BE49-F238E27FC236}">
                <a16:creationId xmlns:a16="http://schemas.microsoft.com/office/drawing/2014/main" id="{FE72C127-4115-ED7A-014F-B6365B6A4B1D}"/>
              </a:ext>
            </a:extLst>
          </p:cNvPr>
          <p:cNvSpPr>
            <a:spLocks noGrp="1"/>
          </p:cNvSpPr>
          <p:nvPr>
            <p:ph type="body" idx="1"/>
          </p:nvPr>
        </p:nvSpPr>
        <p:spPr>
          <a:xfrm>
            <a:off x="838202" y="1147313"/>
            <a:ext cx="4876798" cy="5029650"/>
          </a:xfrm>
        </p:spPr>
        <p:txBody>
          <a:bodyPr>
            <a:normAutofit lnSpcReduction="10000"/>
          </a:bodyPr>
          <a:lstStyle/>
          <a:p>
            <a:r>
              <a:rPr lang="en-US" altLang="ko-KR" dirty="0"/>
              <a:t>The Cache Coherent Interconnect for Accelerators (CCIX) is an adopted protocol designed to leverage the high memory bandwidth of U280 HBM</a:t>
            </a:r>
          </a:p>
          <a:p>
            <a:endParaRPr lang="en-US" altLang="ko-KR" dirty="0"/>
          </a:p>
          <a:p>
            <a:r>
              <a:rPr lang="en-US" altLang="ko-KR" dirty="0"/>
              <a:t>CCIX ensures cache coherence between the host processor and accelerator at the hardware level, reducing latency compared to traditional DMA-based cache coherence policies.</a:t>
            </a:r>
          </a:p>
          <a:p>
            <a:endParaRPr lang="en-US" altLang="ko-KR" dirty="0"/>
          </a:p>
          <a:p>
            <a:r>
              <a:rPr lang="en-US" altLang="ko-KR" dirty="0"/>
              <a:t>In the case of U280, it utilizes PCIe Gen4.0 x8, operating at 16 GT/s x8, to provide a high-speed interconnect between the host processor and accelerator.</a:t>
            </a:r>
          </a:p>
          <a:p>
            <a:endParaRPr lang="ko-KR" altLang="en-US" dirty="0"/>
          </a:p>
        </p:txBody>
      </p:sp>
      <p:sp>
        <p:nvSpPr>
          <p:cNvPr id="4" name="슬라이드 번호 개체 틀 3">
            <a:extLst>
              <a:ext uri="{FF2B5EF4-FFF2-40B4-BE49-F238E27FC236}">
                <a16:creationId xmlns:a16="http://schemas.microsoft.com/office/drawing/2014/main" id="{6096EEEE-614A-45BF-F6FA-5456516072AB}"/>
              </a:ext>
            </a:extLst>
          </p:cNvPr>
          <p:cNvSpPr>
            <a:spLocks noGrp="1"/>
          </p:cNvSpPr>
          <p:nvPr>
            <p:ph type="sldNum" sz="quarter" idx="2"/>
          </p:nvPr>
        </p:nvSpPr>
        <p:spPr/>
        <p:txBody>
          <a:bodyPr/>
          <a:lstStyle/>
          <a:p>
            <a:fld id="{86CB4B4D-7CA3-9044-876B-883B54F8677D}" type="slidenum">
              <a:rPr lang="en-US" altLang="ko-KR" smtClean="0"/>
              <a:t>69</a:t>
            </a:fld>
            <a:endParaRPr lang="en-US" dirty="0"/>
          </a:p>
        </p:txBody>
      </p:sp>
      <p:pic>
        <p:nvPicPr>
          <p:cNvPr id="9218" name="Picture 2">
            <a:extLst>
              <a:ext uri="{FF2B5EF4-FFF2-40B4-BE49-F238E27FC236}">
                <a16:creationId xmlns:a16="http://schemas.microsoft.com/office/drawing/2014/main" id="{C6474642-EA1A-7914-A1C9-C58E219EB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1172099"/>
            <a:ext cx="5896935" cy="50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513241"/>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36A31-AC6C-AE5A-6D93-C574F43408E9}"/>
              </a:ext>
            </a:extLst>
          </p:cNvPr>
          <p:cNvSpPr>
            <a:spLocks noGrp="1"/>
          </p:cNvSpPr>
          <p:nvPr>
            <p:ph type="title"/>
          </p:nvPr>
        </p:nvSpPr>
        <p:spPr/>
        <p:txBody>
          <a:bodyPr/>
          <a:lstStyle/>
          <a:p>
            <a:r>
              <a:rPr lang="en-US" altLang="ko-KR" dirty="0"/>
              <a:t>CCIX Agent</a:t>
            </a:r>
            <a:endParaRPr lang="ko-KR" altLang="en-US" dirty="0"/>
          </a:p>
        </p:txBody>
      </p:sp>
      <p:sp>
        <p:nvSpPr>
          <p:cNvPr id="3" name="텍스트 개체 틀 2">
            <a:extLst>
              <a:ext uri="{FF2B5EF4-FFF2-40B4-BE49-F238E27FC236}">
                <a16:creationId xmlns:a16="http://schemas.microsoft.com/office/drawing/2014/main" id="{FE72C127-4115-ED7A-014F-B6365B6A4B1D}"/>
              </a:ext>
            </a:extLst>
          </p:cNvPr>
          <p:cNvSpPr>
            <a:spLocks noGrp="1"/>
          </p:cNvSpPr>
          <p:nvPr>
            <p:ph type="body" idx="1"/>
          </p:nvPr>
        </p:nvSpPr>
        <p:spPr>
          <a:xfrm>
            <a:off x="838202" y="1147313"/>
            <a:ext cx="6562723" cy="5029650"/>
          </a:xfrm>
        </p:spPr>
        <p:txBody>
          <a:bodyPr>
            <a:normAutofit fontScale="92500" lnSpcReduction="10000"/>
          </a:bodyPr>
          <a:lstStyle/>
          <a:p>
            <a:r>
              <a:rPr lang="en-US" altLang="ko-KR" dirty="0"/>
              <a:t>Request Agent</a:t>
            </a:r>
          </a:p>
          <a:p>
            <a:pPr lvl="1"/>
            <a:r>
              <a:rPr lang="en-US" altLang="ko-KR" dirty="0"/>
              <a:t>Performs read and write transactions to different addresses within the system and cache locations that it has accessed.</a:t>
            </a:r>
          </a:p>
          <a:p>
            <a:pPr marL="0" indent="0">
              <a:buNone/>
            </a:pPr>
            <a:endParaRPr lang="en-US" altLang="ko-KR" dirty="0"/>
          </a:p>
          <a:p>
            <a:r>
              <a:rPr lang="en-US" altLang="ko-KR" dirty="0"/>
              <a:t>Home Agent</a:t>
            </a:r>
          </a:p>
          <a:p>
            <a:pPr lvl="1"/>
            <a:r>
              <a:rPr lang="en-US" altLang="ko-KR" dirty="0"/>
              <a:t>Managing coherency and access to memory for a pre-determined address range.</a:t>
            </a:r>
          </a:p>
          <a:p>
            <a:pPr lvl="1"/>
            <a:r>
              <a:rPr lang="en-US" altLang="ko-KR" dirty="0"/>
              <a:t>Sending snoop transactions to the required Request Agents when a cache state change.</a:t>
            </a:r>
          </a:p>
          <a:p>
            <a:pPr lvl="2"/>
            <a:r>
              <a:rPr lang="en-US" altLang="ko-KR" dirty="0"/>
              <a:t>Snoop filter(SF) : keeps track of addresses mapped to local memory that have been cached by caches in the system</a:t>
            </a:r>
          </a:p>
          <a:p>
            <a:endParaRPr lang="en-US" altLang="ko-KR" dirty="0"/>
          </a:p>
          <a:p>
            <a:r>
              <a:rPr lang="en-US" altLang="ko-KR" dirty="0"/>
              <a:t>Slave Agent</a:t>
            </a:r>
          </a:p>
          <a:p>
            <a:pPr lvl="1"/>
            <a:r>
              <a:rPr lang="en-US" altLang="ko-KR" dirty="0"/>
              <a:t>when the Home Agent resides on one chip and some or all of the physical memory associated with the Home Agent resides on a separate chip</a:t>
            </a:r>
          </a:p>
          <a:p>
            <a:pPr lvl="1"/>
            <a:r>
              <a:rPr lang="en-US" altLang="ko-KR" dirty="0"/>
              <a:t>Always accessed through HA.</a:t>
            </a:r>
          </a:p>
          <a:p>
            <a:endParaRPr lang="ko-KR" altLang="en-US" dirty="0"/>
          </a:p>
        </p:txBody>
      </p:sp>
      <p:sp>
        <p:nvSpPr>
          <p:cNvPr id="4" name="슬라이드 번호 개체 틀 3">
            <a:extLst>
              <a:ext uri="{FF2B5EF4-FFF2-40B4-BE49-F238E27FC236}">
                <a16:creationId xmlns:a16="http://schemas.microsoft.com/office/drawing/2014/main" id="{6096EEEE-614A-45BF-F6FA-5456516072AB}"/>
              </a:ext>
            </a:extLst>
          </p:cNvPr>
          <p:cNvSpPr>
            <a:spLocks noGrp="1"/>
          </p:cNvSpPr>
          <p:nvPr>
            <p:ph type="sldNum" sz="quarter" idx="2"/>
          </p:nvPr>
        </p:nvSpPr>
        <p:spPr/>
        <p:txBody>
          <a:bodyPr/>
          <a:lstStyle/>
          <a:p>
            <a:fld id="{86CB4B4D-7CA3-9044-876B-883B54F8677D}" type="slidenum">
              <a:rPr lang="en-US" altLang="ko-KR" smtClean="0"/>
              <a:t>70</a:t>
            </a:fld>
            <a:endParaRPr lang="en-US" dirty="0"/>
          </a:p>
        </p:txBody>
      </p:sp>
      <p:pic>
        <p:nvPicPr>
          <p:cNvPr id="6" name="그림 5">
            <a:extLst>
              <a:ext uri="{FF2B5EF4-FFF2-40B4-BE49-F238E27FC236}">
                <a16:creationId xmlns:a16="http://schemas.microsoft.com/office/drawing/2014/main" id="{056CD35F-FA3F-3DDE-E107-47F2B5EA1528}"/>
              </a:ext>
            </a:extLst>
          </p:cNvPr>
          <p:cNvPicPr>
            <a:picLocks noChangeAspect="1"/>
          </p:cNvPicPr>
          <p:nvPr/>
        </p:nvPicPr>
        <p:blipFill>
          <a:blip r:embed="rId2"/>
          <a:stretch>
            <a:fillRect/>
          </a:stretch>
        </p:blipFill>
        <p:spPr>
          <a:xfrm>
            <a:off x="7735858" y="504493"/>
            <a:ext cx="3810532" cy="2600688"/>
          </a:xfrm>
          <a:prstGeom prst="rect">
            <a:avLst/>
          </a:prstGeom>
        </p:spPr>
      </p:pic>
      <p:pic>
        <p:nvPicPr>
          <p:cNvPr id="8" name="그림 7">
            <a:extLst>
              <a:ext uri="{FF2B5EF4-FFF2-40B4-BE49-F238E27FC236}">
                <a16:creationId xmlns:a16="http://schemas.microsoft.com/office/drawing/2014/main" id="{82DC6152-053C-0196-795E-D353CC05019E}"/>
              </a:ext>
            </a:extLst>
          </p:cNvPr>
          <p:cNvPicPr>
            <a:picLocks noChangeAspect="1"/>
          </p:cNvPicPr>
          <p:nvPr/>
        </p:nvPicPr>
        <p:blipFill>
          <a:blip r:embed="rId3"/>
          <a:stretch>
            <a:fillRect/>
          </a:stretch>
        </p:blipFill>
        <p:spPr>
          <a:xfrm>
            <a:off x="8146816" y="3244549"/>
            <a:ext cx="3206982" cy="3019757"/>
          </a:xfrm>
          <a:prstGeom prst="rect">
            <a:avLst/>
          </a:prstGeom>
        </p:spPr>
      </p:pic>
    </p:spTree>
    <p:extLst>
      <p:ext uri="{BB962C8B-B14F-4D97-AF65-F5344CB8AC3E}">
        <p14:creationId xmlns:p14="http://schemas.microsoft.com/office/powerpoint/2010/main" val="3889088761"/>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835A6E05-8D7F-49D0-B580-39C0CD091E83}"/>
              </a:ext>
            </a:extLst>
          </p:cNvPr>
          <p:cNvSpPr>
            <a:spLocks noGrp="1"/>
          </p:cNvSpPr>
          <p:nvPr>
            <p:ph type="body" idx="1"/>
          </p:nvPr>
        </p:nvSpPr>
        <p:spPr>
          <a:xfrm>
            <a:off x="174818" y="1147313"/>
            <a:ext cx="6010833" cy="5029650"/>
          </a:xfrm>
        </p:spPr>
        <p:txBody>
          <a:bodyPr/>
          <a:lstStyle/>
          <a:p>
            <a:pPr lvl="1"/>
            <a:endParaRPr lang="en-US" altLang="ko-KR" dirty="0"/>
          </a:p>
          <a:p>
            <a:pPr marL="371465" lvl="1" indent="0">
              <a:buNone/>
            </a:pPr>
            <a:endParaRPr lang="en-US" altLang="ko-KR" dirty="0"/>
          </a:p>
          <a:p>
            <a:pPr marL="742931" lvl="2" indent="0">
              <a:buNone/>
            </a:pPr>
            <a:endParaRPr lang="ko-KR" altLang="en-US" dirty="0"/>
          </a:p>
        </p:txBody>
      </p:sp>
      <p:sp>
        <p:nvSpPr>
          <p:cNvPr id="2" name="제목 1">
            <a:extLst>
              <a:ext uri="{FF2B5EF4-FFF2-40B4-BE49-F238E27FC236}">
                <a16:creationId xmlns:a16="http://schemas.microsoft.com/office/drawing/2014/main" id="{A6F55DE2-37CF-4366-9E87-873E2A490C7C}"/>
              </a:ext>
            </a:extLst>
          </p:cNvPr>
          <p:cNvSpPr>
            <a:spLocks noGrp="1"/>
          </p:cNvSpPr>
          <p:nvPr>
            <p:ph type="title"/>
          </p:nvPr>
        </p:nvSpPr>
        <p:spPr>
          <a:xfrm>
            <a:off x="4095750" y="3106917"/>
            <a:ext cx="3676651" cy="644166"/>
          </a:xfrm>
        </p:spPr>
        <p:txBody>
          <a:bodyPr>
            <a:normAutofit fontScale="90000"/>
          </a:bodyPr>
          <a:lstStyle/>
          <a:p>
            <a:r>
              <a:rPr lang="en-US" altLang="ko-KR" sz="4000" dirty="0"/>
              <a:t>Xilinx VITIS HLS</a:t>
            </a:r>
            <a:endParaRPr lang="ko-KR" altLang="en-US" sz="4000" dirty="0"/>
          </a:p>
        </p:txBody>
      </p:sp>
      <p:sp>
        <p:nvSpPr>
          <p:cNvPr id="4" name="Slide Number Placeholder 3">
            <a:extLst>
              <a:ext uri="{FF2B5EF4-FFF2-40B4-BE49-F238E27FC236}">
                <a16:creationId xmlns:a16="http://schemas.microsoft.com/office/drawing/2014/main" id="{9F085FEF-8E6C-49C3-87E5-138AF3C8A184}"/>
              </a:ext>
            </a:extLst>
          </p:cNvPr>
          <p:cNvSpPr>
            <a:spLocks noGrp="1"/>
          </p:cNvSpPr>
          <p:nvPr>
            <p:ph type="sldNum" sz="quarter" idx="2"/>
          </p:nvPr>
        </p:nvSpPr>
        <p:spPr/>
        <p:txBody>
          <a:bodyPr/>
          <a:lstStyle/>
          <a:p>
            <a:fld id="{86CB4B4D-7CA3-9044-876B-883B54F8677D}" type="slidenum">
              <a:rPr lang="en-US" altLang="ko-KR" smtClean="0"/>
              <a:t>71</a:t>
            </a:fld>
            <a:endParaRPr lang="ko-KR" altLang="en-US"/>
          </a:p>
        </p:txBody>
      </p:sp>
    </p:spTree>
    <p:extLst>
      <p:ext uri="{BB962C8B-B14F-4D97-AF65-F5344CB8AC3E}">
        <p14:creationId xmlns:p14="http://schemas.microsoft.com/office/powerpoint/2010/main" val="784617737"/>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HLS</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a:xfrm>
            <a:off x="838202" y="1147313"/>
            <a:ext cx="5724523" cy="5029650"/>
          </a:xfrm>
        </p:spPr>
        <p:txBody>
          <a:bodyPr/>
          <a:lstStyle/>
          <a:p>
            <a:r>
              <a:rPr lang="en-US" altLang="ko-KR" dirty="0"/>
              <a:t>High-Level Synthesis (HLS)</a:t>
            </a:r>
          </a:p>
          <a:p>
            <a:pPr lvl="1"/>
            <a:r>
              <a:rPr lang="en-US" altLang="ko-KR" dirty="0"/>
              <a:t>automated design process that takes an abstract behavioral specification of a digital system and generates a RTL structure.</a:t>
            </a:r>
            <a:br>
              <a:rPr lang="en-US" altLang="ko-KR" dirty="0"/>
            </a:br>
            <a:endParaRPr lang="en-US" altLang="ko-KR" dirty="0"/>
          </a:p>
          <a:p>
            <a:pPr lvl="1"/>
            <a:r>
              <a:rPr lang="en-US" altLang="ko-KR" dirty="0"/>
              <a:t>designer needs to create the macro-architecture of the algorithm in C/C++ at a high level and provide input constraints (clock period, performance constraints, etc.)</a:t>
            </a:r>
          </a:p>
          <a:p>
            <a:pPr lvl="1"/>
            <a:endParaRPr lang="en-US" altLang="ko-KR" dirty="0"/>
          </a:p>
          <a:p>
            <a:pPr lvl="1"/>
            <a:endParaRPr lang="ko-KR" altLang="en-US" dirty="0"/>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72</a:t>
            </a:fld>
            <a:endParaRPr lang="en-US" dirty="0"/>
          </a:p>
        </p:txBody>
      </p:sp>
      <p:pic>
        <p:nvPicPr>
          <p:cNvPr id="8198" name="Picture 6">
            <a:extLst>
              <a:ext uri="{FF2B5EF4-FFF2-40B4-BE49-F238E27FC236}">
                <a16:creationId xmlns:a16="http://schemas.microsoft.com/office/drawing/2014/main" id="{EE7A7E52-C853-0659-8415-39F6EBF92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725" y="1147313"/>
            <a:ext cx="5048250" cy="2884714"/>
          </a:xfrm>
          <a:prstGeom prst="rect">
            <a:avLst/>
          </a:prstGeom>
          <a:noFill/>
          <a:extLst>
            <a:ext uri="{909E8E84-426E-40DD-AFC4-6F175D3DCCD1}">
              <a14:hiddenFill xmlns:a14="http://schemas.microsoft.com/office/drawing/2010/main">
                <a:solidFill>
                  <a:srgbClr val="FFFFFF"/>
                </a:solidFill>
              </a14:hiddenFill>
            </a:ext>
          </a:extLst>
        </p:spPr>
      </p:pic>
      <p:sp>
        <p:nvSpPr>
          <p:cNvPr id="6" name="텍스트 개체 틀 2">
            <a:extLst>
              <a:ext uri="{FF2B5EF4-FFF2-40B4-BE49-F238E27FC236}">
                <a16:creationId xmlns:a16="http://schemas.microsoft.com/office/drawing/2014/main" id="{8DE208FF-11C7-0F65-9C9B-AD3617B65222}"/>
              </a:ext>
            </a:extLst>
          </p:cNvPr>
          <p:cNvSpPr txBox="1">
            <a:spLocks/>
          </p:cNvSpPr>
          <p:nvPr/>
        </p:nvSpPr>
        <p:spPr>
          <a:xfrm>
            <a:off x="838202" y="4073079"/>
            <a:ext cx="10944224" cy="5029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marL="185733" marR="0" indent="-185733" algn="l" defTabSz="742932" rtl="0" latinLnBrk="0">
              <a:lnSpc>
                <a:spcPct val="90000"/>
              </a:lnSpc>
              <a:spcBef>
                <a:spcPts val="800"/>
              </a:spcBef>
              <a:spcAft>
                <a:spcPts val="0"/>
              </a:spcAft>
              <a:buClrTx/>
              <a:buSzPct val="100000"/>
              <a:buFont typeface="Arial"/>
              <a:buChar char="•"/>
              <a:tabLst/>
              <a:defRPr sz="2000" b="0" i="0" u="none" strike="noStrike" cap="none" spc="0" baseline="0">
                <a:solidFill>
                  <a:srgbClr val="000000"/>
                </a:solidFill>
                <a:uFillTx/>
                <a:latin typeface="+mj-lt"/>
                <a:ea typeface="+mj-ea"/>
                <a:cs typeface="+mj-cs"/>
                <a:sym typeface="맑은 고딕"/>
              </a:defRPr>
            </a:lvl1pPr>
            <a:lvl2pPr marL="586525" marR="0" indent="-215060" algn="l" defTabSz="742932" rtl="0" latinLnBrk="0">
              <a:lnSpc>
                <a:spcPct val="90000"/>
              </a:lnSpc>
              <a:spcBef>
                <a:spcPts val="800"/>
              </a:spcBef>
              <a:spcAft>
                <a:spcPts val="0"/>
              </a:spcAft>
              <a:buClrTx/>
              <a:buSzPct val="100000"/>
              <a:buFont typeface="맑은 고딕" panose="020B0503020000020004" pitchFamily="50" charset="-127"/>
              <a:buChar char="–"/>
              <a:tabLst/>
              <a:defRPr sz="1800" b="0" i="0" u="none" strike="noStrike" cap="none" spc="0" baseline="0">
                <a:solidFill>
                  <a:srgbClr val="000000"/>
                </a:solidFill>
                <a:uFillTx/>
                <a:latin typeface="+mj-lt"/>
                <a:ea typeface="+mj-ea"/>
                <a:cs typeface="+mj-cs"/>
                <a:sym typeface="맑은 고딕"/>
              </a:defRPr>
            </a:lvl2pPr>
            <a:lvl3pPr marL="998314" marR="0" indent="-255383"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3pPr>
            <a:lvl4pPr marL="1406264"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4pPr>
            <a:lvl5pPr marL="1777730" marR="0" indent="-291866" algn="l" defTabSz="742932" rtl="0" latinLnBrk="0">
              <a:lnSpc>
                <a:spcPct val="90000"/>
              </a:lnSpc>
              <a:spcBef>
                <a:spcPts val="800"/>
              </a:spcBef>
              <a:spcAft>
                <a:spcPts val="0"/>
              </a:spcAft>
              <a:buClrTx/>
              <a:buSzPct val="100000"/>
              <a:buFont typeface="맑은 고딕" panose="020B0503020000020004" pitchFamily="50" charset="-127"/>
              <a:buChar char="–"/>
              <a:tabLst/>
              <a:defRPr sz="1600" b="0" i="0" u="none" strike="noStrike" cap="none" spc="0" baseline="0">
                <a:solidFill>
                  <a:srgbClr val="000000"/>
                </a:solidFill>
                <a:uFillTx/>
                <a:latin typeface="+mj-lt"/>
                <a:ea typeface="+mj-ea"/>
                <a:cs typeface="+mj-cs"/>
                <a:sym typeface="맑은 고딕"/>
              </a:defRPr>
            </a:lvl5pPr>
            <a:lvl6pPr marL="214919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6pPr>
            <a:lvl7pPr marL="2520661"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7pPr>
            <a:lvl8pPr marL="2892126"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8pPr>
            <a:lvl9pPr marL="3263593" marR="0" indent="-291867" algn="l" defTabSz="742932" rtl="0" latinLnBrk="0">
              <a:lnSpc>
                <a:spcPct val="90000"/>
              </a:lnSpc>
              <a:spcBef>
                <a:spcPts val="800"/>
              </a:spcBef>
              <a:spcAft>
                <a:spcPts val="0"/>
              </a:spcAft>
              <a:buClrTx/>
              <a:buSzPct val="100000"/>
              <a:buFont typeface="Arial"/>
              <a:buChar char="•"/>
              <a:tabLst/>
              <a:defRPr sz="2200" b="0" i="0" u="none" strike="noStrike" cap="none" spc="0" baseline="0">
                <a:solidFill>
                  <a:srgbClr val="000000"/>
                </a:solidFill>
                <a:uFillTx/>
                <a:latin typeface="+mj-lt"/>
                <a:ea typeface="+mj-ea"/>
                <a:cs typeface="+mj-cs"/>
                <a:sym typeface="맑은 고딕"/>
              </a:defRPr>
            </a:lvl9pPr>
          </a:lstStyle>
          <a:p>
            <a:pPr lvl="1" hangingPunct="1"/>
            <a:r>
              <a:rPr lang="en-US" altLang="ko-KR" dirty="0"/>
              <a:t>Micro-architecture decisions like creating the state machine, </a:t>
            </a:r>
            <a:r>
              <a:rPr lang="en-US" altLang="ko-KR" dirty="0" err="1"/>
              <a:t>datapath</a:t>
            </a:r>
            <a:r>
              <a:rPr lang="en-US" altLang="ko-KR" dirty="0"/>
              <a:t>, register pipelines, </a:t>
            </a:r>
            <a:r>
              <a:rPr lang="en-US" altLang="ko-KR" dirty="0" err="1"/>
              <a:t>etc</a:t>
            </a:r>
            <a:r>
              <a:rPr lang="en-US" altLang="ko-KR" dirty="0"/>
              <a:t> are not needed at a high level.</a:t>
            </a:r>
          </a:p>
          <a:p>
            <a:pPr lvl="1" hangingPunct="1"/>
            <a:endParaRPr lang="en-US" altLang="ko-KR" dirty="0"/>
          </a:p>
          <a:p>
            <a:pPr lvl="1" hangingPunct="1"/>
            <a:endParaRPr lang="ko-KR" altLang="en-US" dirty="0"/>
          </a:p>
        </p:txBody>
      </p:sp>
    </p:spTree>
    <p:extLst>
      <p:ext uri="{BB962C8B-B14F-4D97-AF65-F5344CB8AC3E}">
        <p14:creationId xmlns:p14="http://schemas.microsoft.com/office/powerpoint/2010/main" val="3002828578"/>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HLS</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a:xfrm>
            <a:off x="838203" y="1147313"/>
            <a:ext cx="5743572" cy="5029650"/>
          </a:xfrm>
        </p:spPr>
        <p:txBody>
          <a:bodyPr/>
          <a:lstStyle/>
          <a:p>
            <a:r>
              <a:rPr lang="en-US" altLang="ko-KR" dirty="0"/>
              <a:t>Architect the algorithm based on the Design Principles</a:t>
            </a:r>
          </a:p>
          <a:p>
            <a:r>
              <a:rPr lang="en-US" altLang="ko-KR" dirty="0"/>
              <a:t>(C-Simulation) Verify the C/C++ Code with the C/C++ testbench</a:t>
            </a:r>
          </a:p>
          <a:p>
            <a:r>
              <a:rPr lang="en-US" altLang="ko-KR" dirty="0"/>
              <a:t>(C-Synthesis) Generate the RTL using HLS</a:t>
            </a:r>
          </a:p>
          <a:p>
            <a:r>
              <a:rPr lang="en-US" altLang="ko-KR" dirty="0"/>
              <a:t>(Co-Simulation) Verify the kernel generated with C++ outputs</a:t>
            </a:r>
          </a:p>
          <a:p>
            <a:r>
              <a:rPr lang="en-US" altLang="ko-KR" dirty="0"/>
              <a:t>(Analyze) Review the HLS synthesis reports and co-simulation reports, analyze</a:t>
            </a:r>
          </a:p>
          <a:p>
            <a:r>
              <a:rPr lang="en-US" altLang="ko-KR" dirty="0"/>
              <a:t>Re-run previous steps until performance goals are met.</a:t>
            </a:r>
            <a:endParaRPr lang="ko-KR" altLang="en-US" dirty="0"/>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73</a:t>
            </a:fld>
            <a:endParaRPr lang="en-US" dirty="0"/>
          </a:p>
        </p:txBody>
      </p:sp>
      <p:pic>
        <p:nvPicPr>
          <p:cNvPr id="6" name="Picture 2">
            <a:extLst>
              <a:ext uri="{FF2B5EF4-FFF2-40B4-BE49-F238E27FC236}">
                <a16:creationId xmlns:a16="http://schemas.microsoft.com/office/drawing/2014/main" id="{4E5CA3C7-73F0-72F7-F5C4-1D1D1567E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73" y="1147313"/>
            <a:ext cx="457200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566160"/>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Re-Architecting the Design Code</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p:txBody>
          <a:bodyPr/>
          <a:lstStyle/>
          <a:p>
            <a:r>
              <a:rPr lang="en-US" altLang="ko-KR" dirty="0"/>
              <a:t>Hardware Interfaces</a:t>
            </a:r>
          </a:p>
          <a:p>
            <a:pPr lvl="1"/>
            <a:r>
              <a:rPr lang="en-US" altLang="ko-KR" dirty="0"/>
              <a:t>In the top-level design, parameters are typically passed from the HW through interfaces. Vitis HLS automatically determines the interfaces, but you can override them by specifying the INTERFACE pragma.</a:t>
            </a:r>
          </a:p>
          <a:p>
            <a:pPr lvl="1"/>
            <a:endParaRPr lang="en-US" altLang="ko-KR" dirty="0"/>
          </a:p>
          <a:p>
            <a:r>
              <a:rPr lang="en-US" altLang="ko-KR" dirty="0"/>
              <a:t>Controlling the Execution of HLS Design</a:t>
            </a:r>
          </a:p>
          <a:p>
            <a:pPr lvl="1"/>
            <a:r>
              <a:rPr lang="en-US" altLang="ko-KR" dirty="0"/>
              <a:t>The RTL module requires control signals to operate. The module's operation is determined by signals determined by the block-level control protocol.</a:t>
            </a:r>
          </a:p>
          <a:p>
            <a:pPr lvl="1"/>
            <a:endParaRPr lang="en-US" altLang="ko-KR" dirty="0"/>
          </a:p>
          <a:p>
            <a:r>
              <a:rPr lang="en-US" altLang="ko-KR" dirty="0"/>
              <a:t>Task-Level Parallelism</a:t>
            </a:r>
          </a:p>
          <a:p>
            <a:pPr lvl="1"/>
            <a:r>
              <a:rPr lang="en-US" altLang="ko-KR" dirty="0"/>
              <a:t>In order to increase performance, the defined operations in HLS need to be amenable to parallel processing. </a:t>
            </a:r>
          </a:p>
          <a:p>
            <a:pPr lvl="1"/>
            <a:r>
              <a:rPr lang="en-US" altLang="ko-KR" dirty="0"/>
              <a:t>Vitis HLS tool offers multiple types of task-level parallelism (TLP).</a:t>
            </a:r>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74</a:t>
            </a:fld>
            <a:endParaRPr lang="en-US" dirty="0"/>
          </a:p>
        </p:txBody>
      </p:sp>
    </p:spTree>
    <p:extLst>
      <p:ext uri="{BB962C8B-B14F-4D97-AF65-F5344CB8AC3E}">
        <p14:creationId xmlns:p14="http://schemas.microsoft.com/office/powerpoint/2010/main" val="770462236"/>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Re-Architecting the Design Code</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p:txBody>
          <a:bodyPr/>
          <a:lstStyle/>
          <a:p>
            <a:r>
              <a:rPr lang="en-US" altLang="ko-KR" dirty="0"/>
              <a:t>Memory Architecture</a:t>
            </a:r>
          </a:p>
          <a:p>
            <a:pPr lvl="1"/>
            <a:r>
              <a:rPr lang="en-US" altLang="ko-KR" dirty="0"/>
              <a:t>Access to global memory has higher latency costs and can take many cycles while access to local memory is often quick</a:t>
            </a:r>
          </a:p>
          <a:p>
            <a:pPr lvl="1"/>
            <a:r>
              <a:rPr lang="en-US" altLang="ko-KR" dirty="0"/>
              <a:t>Often the memory is allocated/deallocated dynamically in a C++ program but this can't be synthesized in hardware.</a:t>
            </a:r>
          </a:p>
          <a:p>
            <a:pPr lvl="1"/>
            <a:r>
              <a:rPr lang="en-US" altLang="ko-KR" dirty="0"/>
              <a:t>The burst access hides the memory access latency and improves the memory bandwidth.</a:t>
            </a:r>
          </a:p>
          <a:p>
            <a:pPr lvl="1"/>
            <a:endParaRPr lang="en-US" altLang="ko-KR" dirty="0"/>
          </a:p>
          <a:p>
            <a:r>
              <a:rPr lang="en-US" altLang="ko-KR" dirty="0"/>
              <a:t>Micro Level Optimization</a:t>
            </a:r>
          </a:p>
          <a:p>
            <a:pPr lvl="1"/>
            <a:r>
              <a:rPr lang="en-US" altLang="ko-KR" dirty="0"/>
              <a:t>Vitis HLS can unroll, or pipeline a loop or nested loops by inserting pragmas at appropriate levels in the source code.</a:t>
            </a:r>
          </a:p>
          <a:p>
            <a:pPr lvl="1"/>
            <a:r>
              <a:rPr lang="en-US" altLang="ko-KR" dirty="0"/>
              <a:t>Pragma is needed such as PIPELINE, UNROLL, ARRAY_PARTITION, PERFORMANCE , etc.</a:t>
            </a:r>
            <a:endParaRPr lang="ko-KR" altLang="en-US" dirty="0"/>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75</a:t>
            </a:fld>
            <a:endParaRPr lang="en-US" dirty="0"/>
          </a:p>
        </p:txBody>
      </p:sp>
    </p:spTree>
    <p:extLst>
      <p:ext uri="{BB962C8B-B14F-4D97-AF65-F5344CB8AC3E}">
        <p14:creationId xmlns:p14="http://schemas.microsoft.com/office/powerpoint/2010/main" val="1460626794"/>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Example Re-Architecting the Design Code</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76</a:t>
            </a:fld>
            <a:endParaRPr lang="en-US" dirty="0"/>
          </a:p>
        </p:txBody>
      </p:sp>
      <p:pic>
        <p:nvPicPr>
          <p:cNvPr id="7" name="그림 6">
            <a:extLst>
              <a:ext uri="{FF2B5EF4-FFF2-40B4-BE49-F238E27FC236}">
                <a16:creationId xmlns:a16="http://schemas.microsoft.com/office/drawing/2014/main" id="{C9A87E8C-E0B8-24A6-E4BC-644D949CFD45}"/>
              </a:ext>
            </a:extLst>
          </p:cNvPr>
          <p:cNvPicPr>
            <a:picLocks noChangeAspect="1"/>
          </p:cNvPicPr>
          <p:nvPr/>
        </p:nvPicPr>
        <p:blipFill>
          <a:blip r:embed="rId2"/>
          <a:stretch>
            <a:fillRect/>
          </a:stretch>
        </p:blipFill>
        <p:spPr>
          <a:xfrm>
            <a:off x="838197" y="2881407"/>
            <a:ext cx="4823216" cy="3295556"/>
          </a:xfrm>
          <a:prstGeom prst="rect">
            <a:avLst/>
          </a:prstGeom>
        </p:spPr>
      </p:pic>
      <p:pic>
        <p:nvPicPr>
          <p:cNvPr id="9" name="그림 8">
            <a:extLst>
              <a:ext uri="{FF2B5EF4-FFF2-40B4-BE49-F238E27FC236}">
                <a16:creationId xmlns:a16="http://schemas.microsoft.com/office/drawing/2014/main" id="{C1DFBF48-273D-82FA-3C22-F124F6D4E9E8}"/>
              </a:ext>
            </a:extLst>
          </p:cNvPr>
          <p:cNvPicPr>
            <a:picLocks noChangeAspect="1"/>
          </p:cNvPicPr>
          <p:nvPr/>
        </p:nvPicPr>
        <p:blipFill>
          <a:blip r:embed="rId3"/>
          <a:stretch>
            <a:fillRect/>
          </a:stretch>
        </p:blipFill>
        <p:spPr>
          <a:xfrm>
            <a:off x="838198" y="1107579"/>
            <a:ext cx="4823216" cy="1773827"/>
          </a:xfrm>
          <a:prstGeom prst="rect">
            <a:avLst/>
          </a:prstGeom>
        </p:spPr>
      </p:pic>
      <p:cxnSp>
        <p:nvCxnSpPr>
          <p:cNvPr id="15" name="직선 화살표 연결선 14">
            <a:extLst>
              <a:ext uri="{FF2B5EF4-FFF2-40B4-BE49-F238E27FC236}">
                <a16:creationId xmlns:a16="http://schemas.microsoft.com/office/drawing/2014/main" id="{5A064FAF-D2F7-AB3F-E54C-BEADA6D34790}"/>
              </a:ext>
            </a:extLst>
          </p:cNvPr>
          <p:cNvCxnSpPr/>
          <p:nvPr/>
        </p:nvCxnSpPr>
        <p:spPr>
          <a:xfrm>
            <a:off x="5791200" y="3514725"/>
            <a:ext cx="676275" cy="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pic>
        <p:nvPicPr>
          <p:cNvPr id="13315" name="Picture 3">
            <a:extLst>
              <a:ext uri="{FF2B5EF4-FFF2-40B4-BE49-F238E27FC236}">
                <a16:creationId xmlns:a16="http://schemas.microsoft.com/office/drawing/2014/main" id="{F00455C3-DAEF-62A2-452F-9EA8D7679C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7262" y="2388598"/>
            <a:ext cx="4583210" cy="1977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2882"/>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54E886-6F13-F7B9-692F-A96098E3CB9D}"/>
              </a:ext>
            </a:extLst>
          </p:cNvPr>
          <p:cNvSpPr>
            <a:spLocks noGrp="1"/>
          </p:cNvSpPr>
          <p:nvPr>
            <p:ph type="title"/>
          </p:nvPr>
        </p:nvSpPr>
        <p:spPr/>
        <p:txBody>
          <a:bodyPr/>
          <a:lstStyle/>
          <a:p>
            <a:r>
              <a:rPr lang="en-US" altLang="ko-KR" dirty="0"/>
              <a:t>Example Re-Architecting the Design Code</a:t>
            </a:r>
            <a:endParaRPr lang="ko-KR" altLang="en-US" dirty="0"/>
          </a:p>
        </p:txBody>
      </p:sp>
      <p:sp>
        <p:nvSpPr>
          <p:cNvPr id="3" name="텍스트 개체 틀 2">
            <a:extLst>
              <a:ext uri="{FF2B5EF4-FFF2-40B4-BE49-F238E27FC236}">
                <a16:creationId xmlns:a16="http://schemas.microsoft.com/office/drawing/2014/main" id="{DD2AB856-B62F-99E5-A533-2EDAB0364F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0409147-976A-AA7D-4DBC-F4208FA32E82}"/>
              </a:ext>
            </a:extLst>
          </p:cNvPr>
          <p:cNvSpPr>
            <a:spLocks noGrp="1"/>
          </p:cNvSpPr>
          <p:nvPr>
            <p:ph type="sldNum" sz="quarter" idx="2"/>
          </p:nvPr>
        </p:nvSpPr>
        <p:spPr/>
        <p:txBody>
          <a:bodyPr/>
          <a:lstStyle/>
          <a:p>
            <a:fld id="{86CB4B4D-7CA3-9044-876B-883B54F8677D}" type="slidenum">
              <a:rPr lang="en-US" altLang="ko-KR" smtClean="0"/>
              <a:t>77</a:t>
            </a:fld>
            <a:endParaRPr lang="en-US" dirty="0"/>
          </a:p>
        </p:txBody>
      </p:sp>
      <p:pic>
        <p:nvPicPr>
          <p:cNvPr id="6" name="그림 5">
            <a:extLst>
              <a:ext uri="{FF2B5EF4-FFF2-40B4-BE49-F238E27FC236}">
                <a16:creationId xmlns:a16="http://schemas.microsoft.com/office/drawing/2014/main" id="{334497BE-3B60-B756-98FC-69ED2BF4A6D1}"/>
              </a:ext>
            </a:extLst>
          </p:cNvPr>
          <p:cNvPicPr>
            <a:picLocks noChangeAspect="1"/>
          </p:cNvPicPr>
          <p:nvPr/>
        </p:nvPicPr>
        <p:blipFill>
          <a:blip r:embed="rId2"/>
          <a:stretch>
            <a:fillRect/>
          </a:stretch>
        </p:blipFill>
        <p:spPr>
          <a:xfrm>
            <a:off x="5924544" y="1780413"/>
            <a:ext cx="5429253" cy="1804316"/>
          </a:xfrm>
          <a:prstGeom prst="rect">
            <a:avLst/>
          </a:prstGeom>
        </p:spPr>
      </p:pic>
      <p:pic>
        <p:nvPicPr>
          <p:cNvPr id="10" name="그림 9">
            <a:extLst>
              <a:ext uri="{FF2B5EF4-FFF2-40B4-BE49-F238E27FC236}">
                <a16:creationId xmlns:a16="http://schemas.microsoft.com/office/drawing/2014/main" id="{72BFBD87-AD6A-1199-E169-9A1FEF852CBE}"/>
              </a:ext>
            </a:extLst>
          </p:cNvPr>
          <p:cNvPicPr>
            <a:picLocks noChangeAspect="1"/>
          </p:cNvPicPr>
          <p:nvPr/>
        </p:nvPicPr>
        <p:blipFill>
          <a:blip r:embed="rId3"/>
          <a:stretch>
            <a:fillRect/>
          </a:stretch>
        </p:blipFill>
        <p:spPr>
          <a:xfrm>
            <a:off x="5924544" y="3882335"/>
            <a:ext cx="5429253" cy="2294628"/>
          </a:xfrm>
          <a:prstGeom prst="rect">
            <a:avLst/>
          </a:prstGeom>
        </p:spPr>
      </p:pic>
      <p:pic>
        <p:nvPicPr>
          <p:cNvPr id="12" name="그림 11">
            <a:extLst>
              <a:ext uri="{FF2B5EF4-FFF2-40B4-BE49-F238E27FC236}">
                <a16:creationId xmlns:a16="http://schemas.microsoft.com/office/drawing/2014/main" id="{A1061E4A-7F53-F754-DB62-E63B49CF9FED}"/>
              </a:ext>
            </a:extLst>
          </p:cNvPr>
          <p:cNvPicPr>
            <a:picLocks noChangeAspect="1"/>
          </p:cNvPicPr>
          <p:nvPr/>
        </p:nvPicPr>
        <p:blipFill>
          <a:blip r:embed="rId4"/>
          <a:stretch>
            <a:fillRect/>
          </a:stretch>
        </p:blipFill>
        <p:spPr>
          <a:xfrm>
            <a:off x="838197" y="1147313"/>
            <a:ext cx="4739988" cy="3070517"/>
          </a:xfrm>
          <a:prstGeom prst="rect">
            <a:avLst/>
          </a:prstGeom>
        </p:spPr>
      </p:pic>
      <p:pic>
        <p:nvPicPr>
          <p:cNvPr id="14" name="그림 13">
            <a:extLst>
              <a:ext uri="{FF2B5EF4-FFF2-40B4-BE49-F238E27FC236}">
                <a16:creationId xmlns:a16="http://schemas.microsoft.com/office/drawing/2014/main" id="{37EF1552-CD2C-5165-1BA0-9355321F014E}"/>
              </a:ext>
            </a:extLst>
          </p:cNvPr>
          <p:cNvPicPr>
            <a:picLocks noChangeAspect="1"/>
          </p:cNvPicPr>
          <p:nvPr/>
        </p:nvPicPr>
        <p:blipFill>
          <a:blip r:embed="rId5"/>
          <a:stretch>
            <a:fillRect/>
          </a:stretch>
        </p:blipFill>
        <p:spPr>
          <a:xfrm>
            <a:off x="838197" y="4239788"/>
            <a:ext cx="4739988" cy="1990673"/>
          </a:xfrm>
          <a:prstGeom prst="rect">
            <a:avLst/>
          </a:prstGeom>
        </p:spPr>
      </p:pic>
    </p:spTree>
    <p:extLst>
      <p:ext uri="{BB962C8B-B14F-4D97-AF65-F5344CB8AC3E}">
        <p14:creationId xmlns:p14="http://schemas.microsoft.com/office/powerpoint/2010/main" val="3351030552"/>
      </p:ext>
    </p:extLst>
  </p:cSld>
  <p:clrMapOvr>
    <a:masterClrMapping/>
  </p:clrMapOvr>
  <p:transition spd="med"/>
</p:sld>
</file>

<file path=ppt/theme/theme1.xml><?xml version="1.0" encoding="utf-8"?>
<a:theme xmlns:a="http://schemas.openxmlformats.org/drawingml/2006/main" name="Office 테마">
  <a:themeElements>
    <a:clrScheme name="Office 테마">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테마">
      <a:majorFont>
        <a:latin typeface="맑은 고딕"/>
        <a:ea typeface="맑은 고딕"/>
        <a:cs typeface="맑은 고딕"/>
      </a:majorFont>
      <a:minorFont>
        <a:latin typeface="Helvetica"/>
        <a:ea typeface="Helvetica"/>
        <a:cs typeface="Helvetica"/>
      </a:minorFont>
    </a:fontScheme>
    <a:fmtScheme name="Office 테마">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테마">
  <a:themeElements>
    <a:clrScheme name="Office 테마">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테마">
      <a:majorFont>
        <a:latin typeface="맑은 고딕"/>
        <a:ea typeface="맑은 고딕"/>
        <a:cs typeface="맑은 고딕"/>
      </a:majorFont>
      <a:minorFont>
        <a:latin typeface="Helvetica"/>
        <a:ea typeface="Helvetica"/>
        <a:cs typeface="Helvetica"/>
      </a:minorFont>
    </a:fontScheme>
    <a:fmtScheme name="Office 테마">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맑은 고딕"/>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23076</TotalTime>
  <Words>5199</Words>
  <Application>Microsoft Office PowerPoint</Application>
  <PresentationFormat>와이드스크린</PresentationFormat>
  <Paragraphs>1049</Paragraphs>
  <Slides>77</Slides>
  <Notes>38</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77</vt:i4>
      </vt:variant>
    </vt:vector>
  </HeadingPairs>
  <TitlesOfParts>
    <vt:vector size="90" baseType="lpstr">
      <vt:lpstr>Arial,Sans-Serif</vt:lpstr>
      <vt:lpstr>Nanum Gothic</vt:lpstr>
      <vt:lpstr>noto</vt:lpstr>
      <vt:lpstr>SegoeUI</vt:lpstr>
      <vt:lpstr>나눔고딕</vt:lpstr>
      <vt:lpstr>나눔스퀘어 ExtraBold</vt:lpstr>
      <vt:lpstr>Malgun Gothic</vt:lpstr>
      <vt:lpstr>Malgun Gothic</vt:lpstr>
      <vt:lpstr>맑은 고딕,Sans-Serif</vt:lpstr>
      <vt:lpstr>Arial</vt:lpstr>
      <vt:lpstr>Cambria Math</vt:lpstr>
      <vt:lpstr>Helvetica</vt:lpstr>
      <vt:lpstr>Office 테마</vt:lpstr>
      <vt:lpstr>Understanding the Background of Xilinx Alveo FPGA Implementation</vt:lpstr>
      <vt:lpstr>Table of Contents</vt:lpstr>
      <vt:lpstr>Table of Contents</vt:lpstr>
      <vt:lpstr>FPGA</vt:lpstr>
      <vt:lpstr>FPGA overview</vt:lpstr>
      <vt:lpstr>FPGA architecture </vt:lpstr>
      <vt:lpstr>The basic logic cells</vt:lpstr>
      <vt:lpstr>Programmable interconnection</vt:lpstr>
      <vt:lpstr>Block RAM</vt:lpstr>
      <vt:lpstr>DSP Block</vt:lpstr>
      <vt:lpstr>DSP Block</vt:lpstr>
      <vt:lpstr>Configurable Logic Block in UltraScale Architecture</vt:lpstr>
      <vt:lpstr>Configurable Logic Block in UltraScale Architecture</vt:lpstr>
      <vt:lpstr>Configurable Logic Block in UltraScale Architecture</vt:lpstr>
      <vt:lpstr>Configurable Logic Block in UltraScale Architecture</vt:lpstr>
      <vt:lpstr>Configurable Logic Block in UltraScale Architecture</vt:lpstr>
      <vt:lpstr>Block RAM in UltraScale Architecture</vt:lpstr>
      <vt:lpstr>Block RAM in UltraScale Architecture</vt:lpstr>
      <vt:lpstr>Block RAM in UltraScale Architecture</vt:lpstr>
      <vt:lpstr>Block RAM in UltraScale Architecture</vt:lpstr>
      <vt:lpstr>DSP block in UltraScale Architecture</vt:lpstr>
      <vt:lpstr>DSP block in UltraScale Architecture</vt:lpstr>
      <vt:lpstr>DDR4/SDRAM</vt:lpstr>
      <vt:lpstr>DDR4 SDRAM</vt:lpstr>
      <vt:lpstr>DDR4 SDRAM</vt:lpstr>
      <vt:lpstr>DDR4 SDRAM</vt:lpstr>
      <vt:lpstr>DDR4 SDRAM</vt:lpstr>
      <vt:lpstr>DDR4 SDRAM</vt:lpstr>
      <vt:lpstr>DDR4 SDRAM</vt:lpstr>
      <vt:lpstr>DDR4 SDRAM</vt:lpstr>
      <vt:lpstr>DDR4 SDRAM</vt:lpstr>
      <vt:lpstr>DDR4 SDRAM – Micron DDR4 SDRAM</vt:lpstr>
      <vt:lpstr>HBM</vt:lpstr>
      <vt:lpstr>HBM DRAM</vt:lpstr>
      <vt:lpstr>HBM DRAM</vt:lpstr>
      <vt:lpstr>HBM DRAM</vt:lpstr>
      <vt:lpstr>HBM DRAM</vt:lpstr>
      <vt:lpstr>HBM DRAM</vt:lpstr>
      <vt:lpstr>Xilinx HBM DRAM</vt:lpstr>
      <vt:lpstr>Xilinx HBM DRAM</vt:lpstr>
      <vt:lpstr>Xilinx HBM DRAM</vt:lpstr>
      <vt:lpstr>Xilinx HBM DRAM</vt:lpstr>
      <vt:lpstr>Xilinx HBM DRAM</vt:lpstr>
      <vt:lpstr>Xilinx HBM DRAM</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Xilinx Alveo Card</vt:lpstr>
      <vt:lpstr>PCI-e</vt:lpstr>
      <vt:lpstr>PCI-e</vt:lpstr>
      <vt:lpstr>PCI-e</vt:lpstr>
      <vt:lpstr>PCI-e Layer</vt:lpstr>
      <vt:lpstr>Software / Transaction Layer</vt:lpstr>
      <vt:lpstr>Transaction Layer</vt:lpstr>
      <vt:lpstr>Data Link Layer</vt:lpstr>
      <vt:lpstr>Physical Layer</vt:lpstr>
      <vt:lpstr>PCI-e topology</vt:lpstr>
      <vt:lpstr>CCIX</vt:lpstr>
      <vt:lpstr>CCIX Agent</vt:lpstr>
      <vt:lpstr>Xilinx VITIS HLS</vt:lpstr>
      <vt:lpstr>HLS</vt:lpstr>
      <vt:lpstr>HLS</vt:lpstr>
      <vt:lpstr>Re-Architecting the Design Code</vt:lpstr>
      <vt:lpstr>Re-Architecting the Design Code</vt:lpstr>
      <vt:lpstr>Example Re-Architecting the Design Code</vt:lpstr>
      <vt:lpstr>Example Re-Architecting the Design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AIHA</dc:title>
  <dc:creator>Jungwook Choi</dc:creator>
  <cp:lastModifiedBy>동범 손</cp:lastModifiedBy>
  <cp:revision>556</cp:revision>
  <dcterms:created xsi:type="dcterms:W3CDTF">2020-05-23T05:02:16Z</dcterms:created>
  <dcterms:modified xsi:type="dcterms:W3CDTF">2023-07-12T12:41:00Z</dcterms:modified>
</cp:coreProperties>
</file>