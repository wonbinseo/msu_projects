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4" r:id="rId5"/>
    <p:sldId id="261" r:id="rId6"/>
    <p:sldId id="262" r:id="rId7"/>
    <p:sldId id="263" r:id="rId8"/>
    <p:sldId id="265" r:id="rId9"/>
    <p:sldId id="266" r:id="rId10"/>
    <p:sldId id="267" r:id="rId11"/>
    <p:sldId id="272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 Utilization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89.46</c:v>
                </c:pt>
                <c:pt idx="1">
                  <c:v>89.46</c:v>
                </c:pt>
                <c:pt idx="2">
                  <c:v>89.38</c:v>
                </c:pt>
                <c:pt idx="3">
                  <c:v>89.38</c:v>
                </c:pt>
                <c:pt idx="4">
                  <c:v>77.739999999999995</c:v>
                </c:pt>
                <c:pt idx="5">
                  <c:v>77.739999999999995</c:v>
                </c:pt>
                <c:pt idx="6">
                  <c:v>83.26</c:v>
                </c:pt>
                <c:pt idx="7">
                  <c:v>94.73</c:v>
                </c:pt>
                <c:pt idx="8">
                  <c:v>77.33</c:v>
                </c:pt>
                <c:pt idx="9">
                  <c:v>83.04</c:v>
                </c:pt>
                <c:pt idx="10">
                  <c:v>94.64</c:v>
                </c:pt>
                <c:pt idx="11">
                  <c:v>44.96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B1-417C-9093-4BF9FDDD54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 Utilization (%)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0.69199999999999995</c:v>
                </c:pt>
                <c:pt idx="1">
                  <c:v>0.34599999999999997</c:v>
                </c:pt>
                <c:pt idx="2">
                  <c:v>0.17299999999999999</c:v>
                </c:pt>
                <c:pt idx="3">
                  <c:v>8.5999999999999993E-2</c:v>
                </c:pt>
                <c:pt idx="4">
                  <c:v>3.7999999999999999E-2</c:v>
                </c:pt>
                <c:pt idx="5">
                  <c:v>1.9E-2</c:v>
                </c:pt>
                <c:pt idx="6">
                  <c:v>0.01</c:v>
                </c:pt>
                <c:pt idx="7">
                  <c:v>1.0999999999999999E-2</c:v>
                </c:pt>
                <c:pt idx="8">
                  <c:v>0.59799999999999998</c:v>
                </c:pt>
                <c:pt idx="9">
                  <c:v>0.16</c:v>
                </c:pt>
                <c:pt idx="10">
                  <c:v>4.5999999999999999E-2</c:v>
                </c:pt>
                <c:pt idx="11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B1-417C-9093-4BF9FDDD54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 Util x Output Util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61.91</c:v>
                </c:pt>
                <c:pt idx="1">
                  <c:v>30.95</c:v>
                </c:pt>
                <c:pt idx="2">
                  <c:v>15.46</c:v>
                </c:pt>
                <c:pt idx="3">
                  <c:v>7.69</c:v>
                </c:pt>
                <c:pt idx="4">
                  <c:v>2.95</c:v>
                </c:pt>
                <c:pt idx="5">
                  <c:v>1.48</c:v>
                </c:pt>
                <c:pt idx="6">
                  <c:v>0.83</c:v>
                </c:pt>
                <c:pt idx="7">
                  <c:v>1.04</c:v>
                </c:pt>
                <c:pt idx="8">
                  <c:v>46.24</c:v>
                </c:pt>
                <c:pt idx="9">
                  <c:v>13.29</c:v>
                </c:pt>
                <c:pt idx="10">
                  <c:v>4.3499999999999996</c:v>
                </c:pt>
                <c:pt idx="1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B1-417C-9093-4BF9FDDD54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40"/>
        <c:axId val="286725088"/>
        <c:axId val="252464624"/>
      </c:barChart>
      <c:catAx>
        <c:axId val="2867250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52464624"/>
        <c:crosses val="autoZero"/>
        <c:auto val="1"/>
        <c:lblAlgn val="ctr"/>
        <c:lblOffset val="100"/>
        <c:noMultiLvlLbl val="0"/>
      </c:catAx>
      <c:valAx>
        <c:axId val="252464624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672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501705892055665"/>
          <c:y val="4.5074050225370248E-2"/>
          <c:w val="0.81647136445320301"/>
          <c:h val="0.59589821072752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 Utilization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89.46</c:v>
                </c:pt>
                <c:pt idx="1">
                  <c:v>89.46</c:v>
                </c:pt>
                <c:pt idx="2">
                  <c:v>89.38</c:v>
                </c:pt>
                <c:pt idx="3">
                  <c:v>89.38</c:v>
                </c:pt>
                <c:pt idx="4">
                  <c:v>77.739999999999995</c:v>
                </c:pt>
                <c:pt idx="5">
                  <c:v>77.739999999999995</c:v>
                </c:pt>
                <c:pt idx="6">
                  <c:v>83.26</c:v>
                </c:pt>
                <c:pt idx="7">
                  <c:v>94.73</c:v>
                </c:pt>
                <c:pt idx="8">
                  <c:v>77.33</c:v>
                </c:pt>
                <c:pt idx="9">
                  <c:v>83.04</c:v>
                </c:pt>
                <c:pt idx="10">
                  <c:v>94.64</c:v>
                </c:pt>
                <c:pt idx="11">
                  <c:v>44.96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0A-4395-A947-2D7752ACC0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 Utilization (%)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0.69199999999999995</c:v>
                </c:pt>
                <c:pt idx="1">
                  <c:v>0.34599999999999997</c:v>
                </c:pt>
                <c:pt idx="2">
                  <c:v>0.17299999999999999</c:v>
                </c:pt>
                <c:pt idx="3">
                  <c:v>8.5999999999999993E-2</c:v>
                </c:pt>
                <c:pt idx="4">
                  <c:v>3.7999999999999999E-2</c:v>
                </c:pt>
                <c:pt idx="5">
                  <c:v>1.9E-2</c:v>
                </c:pt>
                <c:pt idx="6">
                  <c:v>0.01</c:v>
                </c:pt>
                <c:pt idx="7">
                  <c:v>1.0999999999999999E-2</c:v>
                </c:pt>
                <c:pt idx="8">
                  <c:v>0.59799999999999998</c:v>
                </c:pt>
                <c:pt idx="9">
                  <c:v>0.16</c:v>
                </c:pt>
                <c:pt idx="10">
                  <c:v>4.5999999999999999E-2</c:v>
                </c:pt>
                <c:pt idx="11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0A-4395-A947-2D7752ACC0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 Util x Output Util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61.91</c:v>
                </c:pt>
                <c:pt idx="1">
                  <c:v>30.95</c:v>
                </c:pt>
                <c:pt idx="2">
                  <c:v>15.46</c:v>
                </c:pt>
                <c:pt idx="3">
                  <c:v>7.69</c:v>
                </c:pt>
                <c:pt idx="4">
                  <c:v>2.95</c:v>
                </c:pt>
                <c:pt idx="5">
                  <c:v>1.48</c:v>
                </c:pt>
                <c:pt idx="6">
                  <c:v>0.83</c:v>
                </c:pt>
                <c:pt idx="7">
                  <c:v>1.04</c:v>
                </c:pt>
                <c:pt idx="8">
                  <c:v>46.24</c:v>
                </c:pt>
                <c:pt idx="9">
                  <c:v>13.29</c:v>
                </c:pt>
                <c:pt idx="10">
                  <c:v>4.3499999999999996</c:v>
                </c:pt>
                <c:pt idx="1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0A-4395-A947-2D7752ACC0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9387984"/>
        <c:axId val="287869152"/>
      </c:barChart>
      <c:catAx>
        <c:axId val="279387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7869152"/>
        <c:crosses val="autoZero"/>
        <c:auto val="1"/>
        <c:lblAlgn val="ctr"/>
        <c:lblOffset val="100"/>
        <c:noMultiLvlLbl val="0"/>
      </c:catAx>
      <c:valAx>
        <c:axId val="287869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79387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1767095816440806E-2"/>
          <c:y val="0.86043638900292307"/>
          <c:w val="0.98528609502643483"/>
          <c:h val="0.131723548276575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3501705892055665"/>
          <c:y val="4.5064996796660255E-2"/>
          <c:w val="0.85597310140154048"/>
          <c:h val="0.6316667700002066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 Utilization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89.46</c:v>
                </c:pt>
                <c:pt idx="1">
                  <c:v>89.46</c:v>
                </c:pt>
                <c:pt idx="2">
                  <c:v>89.38</c:v>
                </c:pt>
                <c:pt idx="3">
                  <c:v>89.38</c:v>
                </c:pt>
                <c:pt idx="4">
                  <c:v>77.739999999999995</c:v>
                </c:pt>
                <c:pt idx="5">
                  <c:v>77.739999999999995</c:v>
                </c:pt>
                <c:pt idx="6">
                  <c:v>83.26</c:v>
                </c:pt>
                <c:pt idx="7">
                  <c:v>94.73</c:v>
                </c:pt>
                <c:pt idx="8">
                  <c:v>77.33</c:v>
                </c:pt>
                <c:pt idx="9">
                  <c:v>83.04</c:v>
                </c:pt>
                <c:pt idx="10">
                  <c:v>94.64</c:v>
                </c:pt>
                <c:pt idx="11">
                  <c:v>44.96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F6-40EB-813B-1E124986CD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 Utilization (%)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0.69199999999999995</c:v>
                </c:pt>
                <c:pt idx="1">
                  <c:v>0.34599999999999997</c:v>
                </c:pt>
                <c:pt idx="2">
                  <c:v>0.17299999999999999</c:v>
                </c:pt>
                <c:pt idx="3">
                  <c:v>8.5999999999999993E-2</c:v>
                </c:pt>
                <c:pt idx="4">
                  <c:v>3.7999999999999999E-2</c:v>
                </c:pt>
                <c:pt idx="5">
                  <c:v>1.9E-2</c:v>
                </c:pt>
                <c:pt idx="6">
                  <c:v>0.01</c:v>
                </c:pt>
                <c:pt idx="7">
                  <c:v>1.0999999999999999E-2</c:v>
                </c:pt>
                <c:pt idx="8">
                  <c:v>0.59799999999999998</c:v>
                </c:pt>
                <c:pt idx="9">
                  <c:v>0.16</c:v>
                </c:pt>
                <c:pt idx="10">
                  <c:v>4.5999999999999999E-2</c:v>
                </c:pt>
                <c:pt idx="11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F6-40EB-813B-1E124986CD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 Util x Output Util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Sheet1!$A$2:$A$13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61.91</c:v>
                </c:pt>
                <c:pt idx="1">
                  <c:v>30.95</c:v>
                </c:pt>
                <c:pt idx="2">
                  <c:v>15.46</c:v>
                </c:pt>
                <c:pt idx="3">
                  <c:v>7.69</c:v>
                </c:pt>
                <c:pt idx="4">
                  <c:v>2.95</c:v>
                </c:pt>
                <c:pt idx="5">
                  <c:v>1.48</c:v>
                </c:pt>
                <c:pt idx="6">
                  <c:v>0.83</c:v>
                </c:pt>
                <c:pt idx="7">
                  <c:v>1.04</c:v>
                </c:pt>
                <c:pt idx="8">
                  <c:v>46.24</c:v>
                </c:pt>
                <c:pt idx="9">
                  <c:v>13.29</c:v>
                </c:pt>
                <c:pt idx="10">
                  <c:v>4.3499999999999996</c:v>
                </c:pt>
                <c:pt idx="1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F6-40EB-813B-1E124986C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38832640"/>
        <c:axId val="291072432"/>
        <c:axId val="0"/>
      </c:bar3DChart>
      <c:catAx>
        <c:axId val="33883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1072432"/>
        <c:crosses val="autoZero"/>
        <c:auto val="1"/>
        <c:lblAlgn val="ctr"/>
        <c:lblOffset val="100"/>
        <c:noMultiLvlLbl val="0"/>
      </c:catAx>
      <c:valAx>
        <c:axId val="291072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38832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561328455990241"/>
          <c:w val="0.99476437994270328"/>
          <c:h val="9.64721929443858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29048780699547"/>
          <c:y val="8.6240689925519406E-2"/>
          <c:w val="0.80019793556676422"/>
          <c:h val="0.608576298480618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Sheet1!$B$32</c:f>
              <c:strCache>
                <c:ptCount val="1"/>
                <c:pt idx="0">
                  <c:v>PE Utilization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Sheet1!$B$33:$B$44</c:f>
              <c:numCache>
                <c:formatCode>General</c:formatCode>
                <c:ptCount val="12"/>
                <c:pt idx="0">
                  <c:v>89.46</c:v>
                </c:pt>
                <c:pt idx="1">
                  <c:v>89.46</c:v>
                </c:pt>
                <c:pt idx="2">
                  <c:v>89.38</c:v>
                </c:pt>
                <c:pt idx="3">
                  <c:v>89.38</c:v>
                </c:pt>
                <c:pt idx="4">
                  <c:v>77.739999999999995</c:v>
                </c:pt>
                <c:pt idx="5">
                  <c:v>77.739999999999995</c:v>
                </c:pt>
                <c:pt idx="6">
                  <c:v>83.26</c:v>
                </c:pt>
                <c:pt idx="7">
                  <c:v>94.73</c:v>
                </c:pt>
                <c:pt idx="8">
                  <c:v>77.33</c:v>
                </c:pt>
                <c:pt idx="9">
                  <c:v>83.04</c:v>
                </c:pt>
                <c:pt idx="10">
                  <c:v>94.64</c:v>
                </c:pt>
                <c:pt idx="11">
                  <c:v>44.96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87-45FC-B9FF-F7EABE759E73}"/>
            </c:ext>
          </c:extLst>
        </c:ser>
        <c:ser>
          <c:idx val="1"/>
          <c:order val="1"/>
          <c:tx>
            <c:strRef>
              <c:f>Sheet1!$C$32</c:f>
              <c:strCache>
                <c:ptCount val="1"/>
                <c:pt idx="0">
                  <c:v>Ideal PE Utilization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Sheet1!$C$33:$C$44</c:f>
              <c:numCache>
                <c:formatCode>General</c:formatCode>
                <c:ptCount val="12"/>
                <c:pt idx="0">
                  <c:v>88.49</c:v>
                </c:pt>
                <c:pt idx="1">
                  <c:v>88.49</c:v>
                </c:pt>
                <c:pt idx="2">
                  <c:v>86.57</c:v>
                </c:pt>
                <c:pt idx="3">
                  <c:v>86.57</c:v>
                </c:pt>
                <c:pt idx="4">
                  <c:v>72.59</c:v>
                </c:pt>
                <c:pt idx="5">
                  <c:v>72.59</c:v>
                </c:pt>
                <c:pt idx="6">
                  <c:v>72.59</c:v>
                </c:pt>
                <c:pt idx="7">
                  <c:v>72.59</c:v>
                </c:pt>
                <c:pt idx="8">
                  <c:v>72.59</c:v>
                </c:pt>
                <c:pt idx="9">
                  <c:v>72.59</c:v>
                </c:pt>
                <c:pt idx="10">
                  <c:v>72.59</c:v>
                </c:pt>
                <c:pt idx="11">
                  <c:v>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87-45FC-B9FF-F7EABE759E73}"/>
            </c:ext>
          </c:extLst>
        </c:ser>
        <c:ser>
          <c:idx val="2"/>
          <c:order val="2"/>
          <c:tx>
            <c:strRef>
              <c:f>Sheet1!$D$32</c:f>
              <c:strCache>
                <c:ptCount val="1"/>
                <c:pt idx="0">
                  <c:v>Difference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Sheet1!$D$33:$D$44</c:f>
              <c:numCache>
                <c:formatCode>General</c:formatCode>
                <c:ptCount val="12"/>
                <c:pt idx="0">
                  <c:v>0.97</c:v>
                </c:pt>
                <c:pt idx="1">
                  <c:v>0.97</c:v>
                </c:pt>
                <c:pt idx="2">
                  <c:v>2.81</c:v>
                </c:pt>
                <c:pt idx="3">
                  <c:v>2.81</c:v>
                </c:pt>
                <c:pt idx="4">
                  <c:v>5.15</c:v>
                </c:pt>
                <c:pt idx="5">
                  <c:v>5.15</c:v>
                </c:pt>
                <c:pt idx="6">
                  <c:v>10.67</c:v>
                </c:pt>
                <c:pt idx="7">
                  <c:v>22.14</c:v>
                </c:pt>
                <c:pt idx="8">
                  <c:v>4.74</c:v>
                </c:pt>
                <c:pt idx="9">
                  <c:v>10.45</c:v>
                </c:pt>
                <c:pt idx="10">
                  <c:v>22.05</c:v>
                </c:pt>
                <c:pt idx="11">
                  <c:v>6.86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87-45FC-B9FF-F7EABE759E73}"/>
            </c:ext>
          </c:extLst>
        </c:ser>
        <c:ser>
          <c:idx val="3"/>
          <c:order val="3"/>
          <c:tx>
            <c:strRef>
              <c:f>Sheet1!$E$32</c:f>
              <c:strCache>
                <c:ptCount val="1"/>
                <c:pt idx="0">
                  <c:v>Output Utilization (%)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Sheet1!$E$33:$E$44</c:f>
              <c:numCache>
                <c:formatCode>General</c:formatCode>
                <c:ptCount val="12"/>
                <c:pt idx="0">
                  <c:v>0.69199999999999995</c:v>
                </c:pt>
                <c:pt idx="1">
                  <c:v>0.34599999999999997</c:v>
                </c:pt>
                <c:pt idx="2">
                  <c:v>0.17299999999999999</c:v>
                </c:pt>
                <c:pt idx="3">
                  <c:v>8.5999999999999993E-2</c:v>
                </c:pt>
                <c:pt idx="4">
                  <c:v>3.7999999999999999E-2</c:v>
                </c:pt>
                <c:pt idx="5">
                  <c:v>1.9E-2</c:v>
                </c:pt>
                <c:pt idx="6">
                  <c:v>0.01</c:v>
                </c:pt>
                <c:pt idx="7">
                  <c:v>1.0999999999999999E-2</c:v>
                </c:pt>
                <c:pt idx="8">
                  <c:v>0.59799999999999998</c:v>
                </c:pt>
                <c:pt idx="9">
                  <c:v>0.16</c:v>
                </c:pt>
                <c:pt idx="10">
                  <c:v>4.5999999999999999E-2</c:v>
                </c:pt>
                <c:pt idx="11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87-45FC-B9FF-F7EABE759E73}"/>
            </c:ext>
          </c:extLst>
        </c:ser>
        <c:ser>
          <c:idx val="4"/>
          <c:order val="4"/>
          <c:tx>
            <c:strRef>
              <c:f>Sheet1!$F$32</c:f>
              <c:strCache>
                <c:ptCount val="1"/>
                <c:pt idx="0">
                  <c:v>Ideal Output Utilization (%)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Sheet1!$F$33:$F$44</c:f>
              <c:numCache>
                <c:formatCode>General</c:formatCode>
                <c:ptCount val="12"/>
                <c:pt idx="0">
                  <c:v>0.43</c:v>
                </c:pt>
                <c:pt idx="1">
                  <c:v>0.43</c:v>
                </c:pt>
                <c:pt idx="2">
                  <c:v>0.21</c:v>
                </c:pt>
                <c:pt idx="3">
                  <c:v>0.21</c:v>
                </c:pt>
                <c:pt idx="4">
                  <c:v>0.09</c:v>
                </c:pt>
                <c:pt idx="5">
                  <c:v>0.09</c:v>
                </c:pt>
                <c:pt idx="6">
                  <c:v>0.04</c:v>
                </c:pt>
                <c:pt idx="7">
                  <c:v>0.04</c:v>
                </c:pt>
                <c:pt idx="8">
                  <c:v>0.35</c:v>
                </c:pt>
                <c:pt idx="9">
                  <c:v>0.18</c:v>
                </c:pt>
                <c:pt idx="10">
                  <c:v>0.09</c:v>
                </c:pt>
                <c:pt idx="11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87-45FC-B9FF-F7EABE759E73}"/>
            </c:ext>
          </c:extLst>
        </c:ser>
        <c:ser>
          <c:idx val="5"/>
          <c:order val="5"/>
          <c:tx>
            <c:strRef>
              <c:f>Sheet1!$G$32</c:f>
              <c:strCache>
                <c:ptCount val="1"/>
                <c:pt idx="0">
                  <c:v>Difference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Sheet1!$G$33:$G$44</c:f>
              <c:numCache>
                <c:formatCode>General</c:formatCode>
                <c:ptCount val="12"/>
                <c:pt idx="0">
                  <c:v>0.26</c:v>
                </c:pt>
                <c:pt idx="1">
                  <c:v>-0.09</c:v>
                </c:pt>
                <c:pt idx="2">
                  <c:v>-0.04</c:v>
                </c:pt>
                <c:pt idx="3">
                  <c:v>-0.13</c:v>
                </c:pt>
                <c:pt idx="4">
                  <c:v>-0.05</c:v>
                </c:pt>
                <c:pt idx="5">
                  <c:v>-7.0000000000000007E-2</c:v>
                </c:pt>
                <c:pt idx="6">
                  <c:v>-0.03</c:v>
                </c:pt>
                <c:pt idx="7">
                  <c:v>-0.03</c:v>
                </c:pt>
                <c:pt idx="8">
                  <c:v>0.25</c:v>
                </c:pt>
                <c:pt idx="9">
                  <c:v>-0.02</c:v>
                </c:pt>
                <c:pt idx="10">
                  <c:v>-0.04</c:v>
                </c:pt>
                <c:pt idx="11">
                  <c:v>-0.01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087-45FC-B9FF-F7EABE759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2565936"/>
        <c:axId val="152731072"/>
      </c:barChart>
      <c:catAx>
        <c:axId val="342565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731072"/>
        <c:crosses val="autoZero"/>
        <c:auto val="1"/>
        <c:lblAlgn val="ctr"/>
        <c:lblOffset val="100"/>
        <c:noMultiLvlLbl val="0"/>
      </c:catAx>
      <c:valAx>
        <c:axId val="15273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42565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6201921970909001"/>
          <c:w val="0.99144258566356147"/>
          <c:h val="0.137980780290909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5046104434314131"/>
          <c:y val="6.0606060606060608E-2"/>
          <c:w val="0.79252141179720959"/>
          <c:h val="0.60418739324251147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Sheet1!$B$32</c:f>
              <c:strCache>
                <c:ptCount val="1"/>
                <c:pt idx="0">
                  <c:v>PE Utilization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Sheet1!$B$33:$B$44</c:f>
              <c:numCache>
                <c:formatCode>General</c:formatCode>
                <c:ptCount val="12"/>
                <c:pt idx="0">
                  <c:v>89.46</c:v>
                </c:pt>
                <c:pt idx="1">
                  <c:v>89.46</c:v>
                </c:pt>
                <c:pt idx="2">
                  <c:v>89.38</c:v>
                </c:pt>
                <c:pt idx="3">
                  <c:v>89.38</c:v>
                </c:pt>
                <c:pt idx="4">
                  <c:v>77.739999999999995</c:v>
                </c:pt>
                <c:pt idx="5">
                  <c:v>77.739999999999995</c:v>
                </c:pt>
                <c:pt idx="6">
                  <c:v>83.26</c:v>
                </c:pt>
                <c:pt idx="7">
                  <c:v>94.73</c:v>
                </c:pt>
                <c:pt idx="8">
                  <c:v>77.33</c:v>
                </c:pt>
                <c:pt idx="9">
                  <c:v>83.04</c:v>
                </c:pt>
                <c:pt idx="10">
                  <c:v>94.64</c:v>
                </c:pt>
                <c:pt idx="11">
                  <c:v>44.96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86-4EAA-AE93-83D275DD8B6B}"/>
            </c:ext>
          </c:extLst>
        </c:ser>
        <c:ser>
          <c:idx val="1"/>
          <c:order val="1"/>
          <c:tx>
            <c:strRef>
              <c:f>Sheet1!$C$32</c:f>
              <c:strCache>
                <c:ptCount val="1"/>
                <c:pt idx="0">
                  <c:v>Ideal PE Utilization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Sheet1!$C$33:$C$44</c:f>
              <c:numCache>
                <c:formatCode>General</c:formatCode>
                <c:ptCount val="12"/>
                <c:pt idx="0">
                  <c:v>88.49</c:v>
                </c:pt>
                <c:pt idx="1">
                  <c:v>88.49</c:v>
                </c:pt>
                <c:pt idx="2">
                  <c:v>86.57</c:v>
                </c:pt>
                <c:pt idx="3">
                  <c:v>86.57</c:v>
                </c:pt>
                <c:pt idx="4">
                  <c:v>72.59</c:v>
                </c:pt>
                <c:pt idx="5">
                  <c:v>72.59</c:v>
                </c:pt>
                <c:pt idx="6">
                  <c:v>72.59</c:v>
                </c:pt>
                <c:pt idx="7">
                  <c:v>72.59</c:v>
                </c:pt>
                <c:pt idx="8">
                  <c:v>72.59</c:v>
                </c:pt>
                <c:pt idx="9">
                  <c:v>72.59</c:v>
                </c:pt>
                <c:pt idx="10">
                  <c:v>72.59</c:v>
                </c:pt>
                <c:pt idx="11">
                  <c:v>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86-4EAA-AE93-83D275DD8B6B}"/>
            </c:ext>
          </c:extLst>
        </c:ser>
        <c:ser>
          <c:idx val="2"/>
          <c:order val="2"/>
          <c:tx>
            <c:strRef>
              <c:f>Sheet1!$D$32</c:f>
              <c:strCache>
                <c:ptCount val="1"/>
                <c:pt idx="0">
                  <c:v>Difference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  <a:sp3d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Sheet1!$D$33:$D$44</c:f>
              <c:numCache>
                <c:formatCode>General</c:formatCode>
                <c:ptCount val="12"/>
                <c:pt idx="0">
                  <c:v>0.97</c:v>
                </c:pt>
                <c:pt idx="1">
                  <c:v>0.97</c:v>
                </c:pt>
                <c:pt idx="2">
                  <c:v>2.81</c:v>
                </c:pt>
                <c:pt idx="3">
                  <c:v>2.81</c:v>
                </c:pt>
                <c:pt idx="4">
                  <c:v>5.15</c:v>
                </c:pt>
                <c:pt idx="5">
                  <c:v>5.15</c:v>
                </c:pt>
                <c:pt idx="6">
                  <c:v>10.67</c:v>
                </c:pt>
                <c:pt idx="7">
                  <c:v>22.14</c:v>
                </c:pt>
                <c:pt idx="8">
                  <c:v>4.74</c:v>
                </c:pt>
                <c:pt idx="9">
                  <c:v>10.45</c:v>
                </c:pt>
                <c:pt idx="10">
                  <c:v>22.05</c:v>
                </c:pt>
                <c:pt idx="11">
                  <c:v>6.86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86-4EAA-AE93-83D275DD8B6B}"/>
            </c:ext>
          </c:extLst>
        </c:ser>
        <c:ser>
          <c:idx val="3"/>
          <c:order val="3"/>
          <c:tx>
            <c:strRef>
              <c:f>Sheet1!$E$32</c:f>
              <c:strCache>
                <c:ptCount val="1"/>
                <c:pt idx="0">
                  <c:v>Output Utilization (%)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Sheet1!$E$33:$E$44</c:f>
              <c:numCache>
                <c:formatCode>General</c:formatCode>
                <c:ptCount val="12"/>
                <c:pt idx="0">
                  <c:v>0.69199999999999995</c:v>
                </c:pt>
                <c:pt idx="1">
                  <c:v>0.34599999999999997</c:v>
                </c:pt>
                <c:pt idx="2">
                  <c:v>0.17299999999999999</c:v>
                </c:pt>
                <c:pt idx="3">
                  <c:v>8.5999999999999993E-2</c:v>
                </c:pt>
                <c:pt idx="4">
                  <c:v>3.7999999999999999E-2</c:v>
                </c:pt>
                <c:pt idx="5">
                  <c:v>1.9E-2</c:v>
                </c:pt>
                <c:pt idx="6">
                  <c:v>0.01</c:v>
                </c:pt>
                <c:pt idx="7">
                  <c:v>1.0999999999999999E-2</c:v>
                </c:pt>
                <c:pt idx="8">
                  <c:v>0.59799999999999998</c:v>
                </c:pt>
                <c:pt idx="9">
                  <c:v>0.16</c:v>
                </c:pt>
                <c:pt idx="10">
                  <c:v>4.5999999999999999E-2</c:v>
                </c:pt>
                <c:pt idx="11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86-4EAA-AE93-83D275DD8B6B}"/>
            </c:ext>
          </c:extLst>
        </c:ser>
        <c:ser>
          <c:idx val="4"/>
          <c:order val="4"/>
          <c:tx>
            <c:strRef>
              <c:f>Sheet1!$F$32</c:f>
              <c:strCache>
                <c:ptCount val="1"/>
                <c:pt idx="0">
                  <c:v>Ideal Output Utilization (%)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Sheet1!$F$33:$F$44</c:f>
              <c:numCache>
                <c:formatCode>General</c:formatCode>
                <c:ptCount val="12"/>
                <c:pt idx="0">
                  <c:v>0.43</c:v>
                </c:pt>
                <c:pt idx="1">
                  <c:v>0.43</c:v>
                </c:pt>
                <c:pt idx="2">
                  <c:v>0.21</c:v>
                </c:pt>
                <c:pt idx="3">
                  <c:v>0.21</c:v>
                </c:pt>
                <c:pt idx="4">
                  <c:v>0.09</c:v>
                </c:pt>
                <c:pt idx="5">
                  <c:v>0.09</c:v>
                </c:pt>
                <c:pt idx="6">
                  <c:v>0.04</c:v>
                </c:pt>
                <c:pt idx="7">
                  <c:v>0.04</c:v>
                </c:pt>
                <c:pt idx="8">
                  <c:v>0.35</c:v>
                </c:pt>
                <c:pt idx="9">
                  <c:v>0.18</c:v>
                </c:pt>
                <c:pt idx="10">
                  <c:v>0.09</c:v>
                </c:pt>
                <c:pt idx="11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86-4EAA-AE93-83D275DD8B6B}"/>
            </c:ext>
          </c:extLst>
        </c:ser>
        <c:ser>
          <c:idx val="5"/>
          <c:order val="5"/>
          <c:tx>
            <c:strRef>
              <c:f>Sheet1!$G$32</c:f>
              <c:strCache>
                <c:ptCount val="1"/>
                <c:pt idx="0">
                  <c:v>Difference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p3d/>
          </c:spPr>
          <c:invertIfNegative val="0"/>
          <c:cat>
            <c:strRef>
              <c:f>Sheet1!$A$33:$A$44</c:f>
              <c:strCache>
                <c:ptCount val="12"/>
                <c:pt idx="0">
                  <c:v>CONV_V1</c:v>
                </c:pt>
                <c:pt idx="1">
                  <c:v>CONV_V2</c:v>
                </c:pt>
                <c:pt idx="2">
                  <c:v>CONV_V3</c:v>
                </c:pt>
                <c:pt idx="3">
                  <c:v>CONV_V4</c:v>
                </c:pt>
                <c:pt idx="4">
                  <c:v>CONV_V5</c:v>
                </c:pt>
                <c:pt idx="5">
                  <c:v>CONV_V6</c:v>
                </c:pt>
                <c:pt idx="6">
                  <c:v>CONV_V7</c:v>
                </c:pt>
                <c:pt idx="7">
                  <c:v>CONV_V8</c:v>
                </c:pt>
                <c:pt idx="8">
                  <c:v>CONV_R1</c:v>
                </c:pt>
                <c:pt idx="9">
                  <c:v>CONV_R2</c:v>
                </c:pt>
                <c:pt idx="10">
                  <c:v>CONV_R3</c:v>
                </c:pt>
                <c:pt idx="11">
                  <c:v>CONV_R4</c:v>
                </c:pt>
              </c:strCache>
            </c:strRef>
          </c:cat>
          <c:val>
            <c:numRef>
              <c:f>Sheet1!$G$33:$G$44</c:f>
              <c:numCache>
                <c:formatCode>General</c:formatCode>
                <c:ptCount val="12"/>
                <c:pt idx="0">
                  <c:v>0.26</c:v>
                </c:pt>
                <c:pt idx="1">
                  <c:v>-0.09</c:v>
                </c:pt>
                <c:pt idx="2">
                  <c:v>-0.04</c:v>
                </c:pt>
                <c:pt idx="3">
                  <c:v>-0.13</c:v>
                </c:pt>
                <c:pt idx="4">
                  <c:v>-0.05</c:v>
                </c:pt>
                <c:pt idx="5">
                  <c:v>-7.0000000000000007E-2</c:v>
                </c:pt>
                <c:pt idx="6">
                  <c:v>-0.03</c:v>
                </c:pt>
                <c:pt idx="7">
                  <c:v>-0.03</c:v>
                </c:pt>
                <c:pt idx="8">
                  <c:v>0.25</c:v>
                </c:pt>
                <c:pt idx="9">
                  <c:v>-0.02</c:v>
                </c:pt>
                <c:pt idx="10">
                  <c:v>-0.04</c:v>
                </c:pt>
                <c:pt idx="11">
                  <c:v>-0.01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F86-4EAA-AE93-83D275DD8B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41222384"/>
        <c:axId val="291607136"/>
        <c:axId val="0"/>
      </c:bar3DChart>
      <c:catAx>
        <c:axId val="341222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1607136"/>
        <c:crosses val="autoZero"/>
        <c:auto val="1"/>
        <c:lblAlgn val="ctr"/>
        <c:lblOffset val="100"/>
        <c:noMultiLvlLbl val="0"/>
      </c:catAx>
      <c:valAx>
        <c:axId val="291607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41222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752451996132062E-2"/>
          <c:y val="0.82955797192017677"/>
          <c:w val="0.85810885481420085"/>
          <c:h val="0.163839103445402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1959F-8185-93CC-D7B7-278A55443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98FF59-CBDB-DA33-57E5-05A4D00DA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8A96D-71D1-688C-63DF-7859AF0A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1902D-570B-FA89-683C-1DE80FD21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B3E38F-8EB6-4F84-BA2B-7D9AAAD3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23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B3912-EBB4-0853-2D3E-C35703A2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C06626-9B90-97C3-7977-9FD1992DB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312A1-C2A2-0C22-8505-9ED3B848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59392-9294-9B18-39E6-4F9ACE5D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C18C4-1AA7-E98B-C6CA-5FDA7426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9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9FC2D-236B-75F5-3174-F85362E1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B472A4-415A-FA68-6826-A587A952B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B48442-5C17-AEB1-B978-7EB0E41B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F98D4-2711-A582-1438-D4C31648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562C0-A87B-76FD-F96E-B2660ABC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86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805CB-1790-327B-08BC-14214622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675989-9B69-689B-F234-007E7A100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FA04AC-0295-084E-FAE6-86104F9FB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CCECED-A5BD-2915-9CAE-43A2A0E4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0BC03A-864A-96CF-EBB1-599A748E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30864A-44D4-8CC7-CF13-2827E9C2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51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C0C0B-785B-9BBD-1E7F-4F87517F2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C03EDC-8FA8-3EB8-8610-E3E349FF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42904B-3E7F-7F44-ADCC-3D7485864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445637-7943-741F-3AE5-18345CDCE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976D09-CD15-3DF2-8A00-C9CF944E3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F5C243E-FA9C-4331-7E98-7B5549CD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3F979A-99F2-0EC0-BDFC-326650A5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8893F9-0E3B-2938-D2A9-EF6CDE3B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2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B6AB4-2C78-D2F1-9DE6-AA11A0F6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29D9A4-B901-22BE-CEE0-9472939C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C887E7-C26E-A6F8-9C2F-4DEA2A91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35C5CE-A58E-C741-A401-EEF6FDF2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2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998222-5903-7C47-E13F-C1E2EEA8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FDA3C1-3CD8-882A-709E-B72B08CA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B4299-68BA-8B2F-F3A6-B0DDE880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9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4F5A9-2D51-9C03-E000-674D7EBD8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0C1503-3646-B6CC-969F-E4EE4DF8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9F5CCA-2AF8-973D-86E8-FB91FBAA2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E44866-E9D5-AA2C-70E5-B7BE147F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F9B26C-4BB1-0E2B-2E85-4A486448A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4FE674-1CED-4E84-84BC-B21DDDE7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6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5E7F5-5A0B-997B-15A4-8F0333336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E4C0AA-445C-D988-47CF-9D44CAB73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18BF20-FDF1-68C3-2F74-618938529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171996-21A1-5EA7-02ED-E845E1E6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8A2765-7596-D359-DEE8-2C0C7770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794449-0C75-8CC1-01F3-E6314A87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36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2C451-7969-9E0A-B451-97DCF86C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ECF5CB-01B3-D828-2735-4461CC533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B0349-0DD7-954C-E03B-43EEB936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9177E1-D3D3-CA58-D084-20265475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97B2D-8AC4-AB45-CDBB-80490744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50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49485A-A5E9-77FD-D9FC-18E7DE289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8F5F01-DD2B-AF2B-1CA7-70A7840FC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2B4ED9-E049-F8D6-F309-B86B98CA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18A989-22B1-910D-332B-2F2ECA65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41757-36D4-41FD-82CB-2A3A0EE26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08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864395-6462-889C-CCE9-C34FBAA1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DD4259-8920-D8E3-E683-0C390012B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E64601-6C9E-CBB2-3E9F-55A068787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36976-F009-41B8-BD51-59DFC461CD0E}" type="datetimeFigureOut">
              <a:rPr lang="ko-KR" altLang="en-US" smtClean="0"/>
              <a:t>2023-12-12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F0665D-DB2C-1F3E-DAFD-CCB023465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FC30C-41C8-CA89-8C8C-B266D76CD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9FDB4-5C40-40D5-BB74-4EFF58345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8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BB976-8805-42FA-FB5A-2BCB9CCF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84855" cy="835602"/>
          </a:xfrm>
        </p:spPr>
        <p:txBody>
          <a:bodyPr/>
          <a:lstStyle/>
          <a:p>
            <a:r>
              <a:rPr lang="en-US" altLang="ko-KR" dirty="0"/>
              <a:t>VGG16 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D01D882-7AB3-5185-1546-EFCE9AF18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78290"/>
              </p:ext>
            </p:extLst>
          </p:nvPr>
        </p:nvGraphicFramePr>
        <p:xfrm>
          <a:off x="0" y="1200728"/>
          <a:ext cx="4897582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91">
                  <a:extLst>
                    <a:ext uri="{9D8B030D-6E8A-4147-A177-3AD203B41FA5}">
                      <a16:colId xmlns:a16="http://schemas.microsoft.com/office/drawing/2014/main" val="1387224098"/>
                    </a:ext>
                  </a:extLst>
                </a:gridCol>
                <a:gridCol w="2448791">
                  <a:extLst>
                    <a:ext uri="{9D8B030D-6E8A-4147-A177-3AD203B41FA5}">
                      <a16:colId xmlns:a16="http://schemas.microsoft.com/office/drawing/2014/main" val="3468041496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st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5226729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IW (zero padding)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224 + 2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3614922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6177424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7597138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Ifm_num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5080320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06127816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Wgt_num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23224320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1154578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Ofm_num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3211264/12902400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13049978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Tile num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40320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45998308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Execution time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156.45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10682546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 number of Processing (Pixels)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3211264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9857943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Throughput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Kpixels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20044.7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91080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5A2DBD7-945B-FC25-6EB5-C7AA0B82C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88772"/>
              </p:ext>
            </p:extLst>
          </p:nvPr>
        </p:nvGraphicFramePr>
        <p:xfrm>
          <a:off x="7346373" y="1200727"/>
          <a:ext cx="2448791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91">
                  <a:extLst>
                    <a:ext uri="{9D8B030D-6E8A-4147-A177-3AD203B41FA5}">
                      <a16:colId xmlns:a16="http://schemas.microsoft.com/office/drawing/2014/main" val="2301408071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rd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237902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112 + 2 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5844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128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95663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128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18780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2596608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636021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23740416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69394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1605632/6594560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2175415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20608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5211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159.293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9289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1605632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90414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9843.5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89101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7470B41-6AB8-9C6F-E229-C6AC2D5CE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163350"/>
              </p:ext>
            </p:extLst>
          </p:nvPr>
        </p:nvGraphicFramePr>
        <p:xfrm>
          <a:off x="4897582" y="1200726"/>
          <a:ext cx="2448791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91">
                  <a:extLst>
                    <a:ext uri="{9D8B030D-6E8A-4147-A177-3AD203B41FA5}">
                      <a16:colId xmlns:a16="http://schemas.microsoft.com/office/drawing/2014/main" val="2301408071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nd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237902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224 + 2 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5844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64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95663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128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18780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5080320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636021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46448640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69394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6422528/25804800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2175415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80640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5211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312.187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9289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6422528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90414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20090.5 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89101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8DECE7B-6F86-4B80-7CA3-436D7A7DC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273854"/>
              </p:ext>
            </p:extLst>
          </p:nvPr>
        </p:nvGraphicFramePr>
        <p:xfrm>
          <a:off x="9795165" y="1200726"/>
          <a:ext cx="2396836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96836">
                  <a:extLst>
                    <a:ext uri="{9D8B030D-6E8A-4147-A177-3AD203B41FA5}">
                      <a16:colId xmlns:a16="http://schemas.microsoft.com/office/drawing/2014/main" val="2301408071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237902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112 + 2 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5844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128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95663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256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18780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2596608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636021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47480832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69394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3211264/13189120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2175415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41216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5211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318.058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9289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3211264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90414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9859.84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89101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3899978-7101-AB54-22FF-FC39F90C1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739084"/>
              </p:ext>
            </p:extLst>
          </p:nvPr>
        </p:nvGraphicFramePr>
        <p:xfrm>
          <a:off x="2448791" y="3827030"/>
          <a:ext cx="2448791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91">
                  <a:extLst>
                    <a:ext uri="{9D8B030D-6E8A-4147-A177-3AD203B41FA5}">
                      <a16:colId xmlns:a16="http://schemas.microsoft.com/office/drawing/2014/main" val="2301408071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237902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56 + 2 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5844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256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95663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256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18780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1548288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636021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28311552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69394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802816/3932160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2175415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12288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5211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189.444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9289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802816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90414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4138.43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89101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98D34ED-1FBC-306D-FFF7-5C9FB871B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072995"/>
              </p:ext>
            </p:extLst>
          </p:nvPr>
        </p:nvGraphicFramePr>
        <p:xfrm>
          <a:off x="4897582" y="3827028"/>
          <a:ext cx="2448791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91">
                  <a:extLst>
                    <a:ext uri="{9D8B030D-6E8A-4147-A177-3AD203B41FA5}">
                      <a16:colId xmlns:a16="http://schemas.microsoft.com/office/drawing/2014/main" val="2301408071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237902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56 + 2 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5844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256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95663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512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18780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1548288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636021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56623104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69394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1605632/7864320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2175415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24576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5211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378.572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9289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1605632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90414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4141.88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891017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999BE41-DFF8-3C7C-9026-51604FE7A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992817"/>
              </p:ext>
            </p:extLst>
          </p:nvPr>
        </p:nvGraphicFramePr>
        <p:xfrm>
          <a:off x="7346372" y="3827026"/>
          <a:ext cx="2448791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91">
                  <a:extLst>
                    <a:ext uri="{9D8B030D-6E8A-4147-A177-3AD203B41FA5}">
                      <a16:colId xmlns:a16="http://schemas.microsoft.com/office/drawing/2014/main" val="2301408071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237902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28 + 2 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5844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512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95663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512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18780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774144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636021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28311552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69394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401408/1966080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2175415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6144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5211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189.262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9289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401408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90414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2071.2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89101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99A30E9-986D-05C4-31A3-3BBA08723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0616"/>
              </p:ext>
            </p:extLst>
          </p:nvPr>
        </p:nvGraphicFramePr>
        <p:xfrm>
          <a:off x="9795164" y="3827024"/>
          <a:ext cx="2448791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91">
                  <a:extLst>
                    <a:ext uri="{9D8B030D-6E8A-4147-A177-3AD203B41FA5}">
                      <a16:colId xmlns:a16="http://schemas.microsoft.com/office/drawing/2014/main" val="2301408071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th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237902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14 + 2 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5844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512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95663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512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18780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193536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6360210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7077888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693943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100352/491520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2175415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1536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5211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47.533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92890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100352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90414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</a:rPr>
                        <a:t>2061.73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891017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6340CEA-919A-6963-41DE-CABECD013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143886"/>
              </p:ext>
            </p:extLst>
          </p:nvPr>
        </p:nvGraphicFramePr>
        <p:xfrm>
          <a:off x="-1" y="3827030"/>
          <a:ext cx="2448791" cy="2626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91">
                  <a:extLst>
                    <a:ext uri="{9D8B030D-6E8A-4147-A177-3AD203B41FA5}">
                      <a16:colId xmlns:a16="http://schemas.microsoft.com/office/drawing/2014/main" val="2009832031"/>
                    </a:ext>
                  </a:extLst>
                </a:gridCol>
              </a:tblGrid>
              <a:tr h="238755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8381076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IW (zero padding)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4861206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5322197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01007894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Ifm_num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9725926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Wgt_num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383021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Ofm_num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5794302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Tile 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11297818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Execution time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51859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 number of Processing (Pixels)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0848641"/>
                  </a:ext>
                </a:extLst>
              </a:tr>
              <a:tr h="23875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Throughput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Kpixels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49525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372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8979BE6-D417-5CF9-828E-7DE0EE83A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479301"/>
              </p:ext>
            </p:extLst>
          </p:nvPr>
        </p:nvGraphicFramePr>
        <p:xfrm>
          <a:off x="4" y="1165136"/>
          <a:ext cx="6096002" cy="142321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1</a:t>
                      </a:r>
                      <a:r>
                        <a:rPr lang="en-US" sz="1200" kern="100" baseline="30000" dirty="0">
                          <a:effectLst/>
                        </a:rPr>
                        <a:t>st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96,957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480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13,824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2,101.49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10.569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297.104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10.945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0.055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1.547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10.945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0.055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1.547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7,354.56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116,308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53,713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17" name="내용 개체 틀 3">
            <a:extLst>
              <a:ext uri="{FF2B5EF4-FFF2-40B4-BE49-F238E27FC236}">
                <a16:creationId xmlns:a16="http://schemas.microsoft.com/office/drawing/2014/main" id="{E9B95753-C073-B9F5-50DC-40D7098B1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642468"/>
              </p:ext>
            </p:extLst>
          </p:nvPr>
        </p:nvGraphicFramePr>
        <p:xfrm>
          <a:off x="6096004" y="1165136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r>
                        <a:rPr lang="en-US" sz="1200" kern="100" baseline="30000" dirty="0">
                          <a:effectLst/>
                        </a:rPr>
                        <a:t>nd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160,089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6,300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22,680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2,097.95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83.918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295.113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10.927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0.437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1.537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10.992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0.437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1.536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7,571.53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14,683.1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54,090.602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18" name="내용 개체 틀 3">
            <a:extLst>
              <a:ext uri="{FF2B5EF4-FFF2-40B4-BE49-F238E27FC236}">
                <a16:creationId xmlns:a16="http://schemas.microsoft.com/office/drawing/2014/main" id="{E034B42F-AC64-06D1-51B8-C2C3B8A99A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8848653"/>
              </p:ext>
            </p:extLst>
          </p:nvPr>
        </p:nvGraphicFramePr>
        <p:xfrm>
          <a:off x="2" y="2588352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</a:t>
                      </a:r>
                      <a:r>
                        <a:rPr lang="en-US" sz="1200" kern="100" baseline="30000" dirty="0">
                          <a:effectLst/>
                        </a:rPr>
                        <a:t>rd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81,786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1,610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11,592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2,105.31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42.143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296.138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10.965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0.219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10.965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0.219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7,510.08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29,198.699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53,876.5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19" name="내용 개체 틀 3">
            <a:extLst>
              <a:ext uri="{FF2B5EF4-FFF2-40B4-BE49-F238E27FC236}">
                <a16:creationId xmlns:a16="http://schemas.microsoft.com/office/drawing/2014/main" id="{FAED7E96-8A2D-14FB-10E3-264D47BEFD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6043525"/>
              </p:ext>
            </p:extLst>
          </p:nvPr>
        </p:nvGraphicFramePr>
        <p:xfrm>
          <a:off x="6096002" y="2588352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4</a:t>
                      </a:r>
                      <a:r>
                        <a:rPr lang="en-US" sz="1200" kern="100" baseline="30000" dirty="0">
                          <a:effectLst/>
                        </a:rPr>
                        <a:t>th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162,938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3,220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23,184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2,099.04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42.143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296.263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10.933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0.219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1.543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10.933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0.219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1.543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7,532.78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29,198.6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53,883.300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20" name="내용 개체 틀 3">
            <a:extLst>
              <a:ext uri="{FF2B5EF4-FFF2-40B4-BE49-F238E27FC236}">
                <a16:creationId xmlns:a16="http://schemas.microsoft.com/office/drawing/2014/main" id="{C3997733-CD1C-B6D7-EAE4-DF5A8E6B4A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4193661"/>
              </p:ext>
            </p:extLst>
          </p:nvPr>
        </p:nvGraphicFramePr>
        <p:xfrm>
          <a:off x="2" y="4011568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r>
                        <a:rPr lang="en-US" sz="1200" kern="100" baseline="30000" dirty="0">
                          <a:effectLst/>
                        </a:rPr>
                        <a:t>th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97,146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960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13,824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2,102.74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21.112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296.779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10.952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0.110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10.952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0.110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1.546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7,470.82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58,242.602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53,770.898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21" name="내용 개체 틀 3">
            <a:extLst>
              <a:ext uri="{FF2B5EF4-FFF2-40B4-BE49-F238E27FC236}">
                <a16:creationId xmlns:a16="http://schemas.microsoft.com/office/drawing/2014/main" id="{C79E8E77-9B1E-9E5D-D32D-A424A284E7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0929839"/>
              </p:ext>
            </p:extLst>
          </p:nvPr>
        </p:nvGraphicFramePr>
        <p:xfrm>
          <a:off x="6096002" y="4011568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7</a:t>
                      </a:r>
                      <a:r>
                        <a:rPr lang="en-US" sz="1200" kern="100" baseline="30000" dirty="0">
                          <a:effectLst/>
                        </a:rPr>
                        <a:t>th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m_ifm</a:t>
                      </a:r>
                      <a:r>
                        <a:rPr lang="en-US" sz="1200" kern="100" dirty="0">
                          <a:effectLst/>
                        </a:rPr>
                        <a:t> 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193,914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1,920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27,648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2,099.58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21.114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296.841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</a:rPr>
                        <a:t>BW Util wrt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10.935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0.110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</a:rPr>
                        <a:t>BW Util wrt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10.935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0.110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7,482.19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58,235.5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53,783.801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22" name="내용 개체 틀 3">
            <a:extLst>
              <a:ext uri="{FF2B5EF4-FFF2-40B4-BE49-F238E27FC236}">
                <a16:creationId xmlns:a16="http://schemas.microsoft.com/office/drawing/2014/main" id="{7264BC67-3528-8425-995B-5B9E1380E2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8181455"/>
              </p:ext>
            </p:extLst>
          </p:nvPr>
        </p:nvGraphicFramePr>
        <p:xfrm>
          <a:off x="-4" y="5434784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8th Layer</a:t>
                      </a:r>
                      <a:endParaRPr lang="ko-KR" sz="1200" kern="100" dirty="0"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96,957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480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13,824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2,101.49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10.569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297.104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10.945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0.055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10.945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0.055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7,354.56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116,308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53,713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23" name="내용 개체 틀 3">
            <a:extLst>
              <a:ext uri="{FF2B5EF4-FFF2-40B4-BE49-F238E27FC236}">
                <a16:creationId xmlns:a16="http://schemas.microsoft.com/office/drawing/2014/main" id="{6E2A4605-A740-12B6-4A29-B1C3A48D5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70655"/>
              </p:ext>
            </p:extLst>
          </p:nvPr>
        </p:nvGraphicFramePr>
        <p:xfrm>
          <a:off x="6096000" y="5434784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11</a:t>
                      </a:r>
                      <a:r>
                        <a:rPr lang="en-US" sz="1200" kern="100" baseline="30000" dirty="0">
                          <a:effectLst/>
                          <a:latin typeface="+mj-lt"/>
                        </a:rPr>
                        <a:t>th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</a:rPr>
                        <a:t>m_ifm (READ)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  <a:latin typeface="+mj-lt"/>
                        </a:rPr>
                        <a:t>m_ofm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(WRITE)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  <a:latin typeface="+mj-lt"/>
                        </a:rPr>
                        <a:t>m_wgt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(READ)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24,624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3,456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2,102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10.57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297.136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10.948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0.055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10.948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0.055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6,633.28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116,302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53,567.398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sp>
        <p:nvSpPr>
          <p:cNvPr id="24" name="제목 1">
            <a:extLst>
              <a:ext uri="{FF2B5EF4-FFF2-40B4-BE49-F238E27FC236}">
                <a16:creationId xmlns:a16="http://schemas.microsoft.com/office/drawing/2014/main" id="{76EA2C87-67F5-7A5E-E3F6-11CCEB75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84855" cy="835602"/>
          </a:xfrm>
        </p:spPr>
        <p:txBody>
          <a:bodyPr/>
          <a:lstStyle/>
          <a:p>
            <a:r>
              <a:rPr lang="en-US" altLang="ko-KR" dirty="0"/>
              <a:t>VGG16 – Band </a:t>
            </a:r>
            <a:r>
              <a:rPr lang="en-US" altLang="ko-KR" dirty="0" err="1"/>
              <a:t>Uitlization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62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B4ADB-7928-3FAD-6EEB-0032A54A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VGG16 – Stall &amp; Cycles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737284F-EBC8-E538-04D7-4E3FEFF478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4269"/>
              </p:ext>
            </p:extLst>
          </p:nvPr>
        </p:nvGraphicFramePr>
        <p:xfrm>
          <a:off x="0" y="1555752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</a:t>
                      </a:r>
                      <a:r>
                        <a:rPr lang="en-US" sz="1300" kern="100" baseline="30000" dirty="0">
                          <a:effectLst/>
                        </a:rPr>
                        <a:t>st</a:t>
                      </a:r>
                      <a:r>
                        <a:rPr lang="en-US" sz="1300" kern="100" dirty="0">
                          <a:effectLst/>
                        </a:rPr>
                        <a:t> Layer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Ifm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Wgt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Ofm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Total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Cycle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5080448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363008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201599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46771707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Stall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63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134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134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F7B3145B-E151-71FC-B1F3-AE16A3E3BC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181599"/>
              </p:ext>
            </p:extLst>
          </p:nvPr>
        </p:nvGraphicFramePr>
        <p:xfrm>
          <a:off x="6096000" y="1555752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2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nd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Ifm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Wgt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10160768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725888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403199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93542617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45D51319-2E3A-FABA-661D-09C3A5387C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359903"/>
              </p:ext>
            </p:extLst>
          </p:nvPr>
        </p:nvGraphicFramePr>
        <p:xfrm>
          <a:off x="0" y="2881314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3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rd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  <a:latin typeface="+mj-lt"/>
                        </a:rPr>
                        <a:t>Ifm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Wgt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519334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371072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103039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47645903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BFB3E656-3C4C-144B-5033-5E2D6C78A9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0086460"/>
              </p:ext>
            </p:extLst>
          </p:nvPr>
        </p:nvGraphicFramePr>
        <p:xfrm>
          <a:off x="6096000" y="2881314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4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th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  <a:latin typeface="+mj-lt"/>
                        </a:rPr>
                        <a:t>Ifm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Wgt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10386560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742016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206079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95291599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13" name="내용 개체 틀 3">
            <a:extLst>
              <a:ext uri="{FF2B5EF4-FFF2-40B4-BE49-F238E27FC236}">
                <a16:creationId xmlns:a16="http://schemas.microsoft.com/office/drawing/2014/main" id="{3BB6DACE-6D44-420A-5924-DF0B19B7BC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7021910"/>
              </p:ext>
            </p:extLst>
          </p:nvPr>
        </p:nvGraphicFramePr>
        <p:xfrm>
          <a:off x="0" y="4206876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5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th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Ifm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Wgt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6193280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442496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61493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56721615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14" name="내용 개체 틀 3">
            <a:extLst>
              <a:ext uri="{FF2B5EF4-FFF2-40B4-BE49-F238E27FC236}">
                <a16:creationId xmlns:a16="http://schemas.microsoft.com/office/drawing/2014/main" id="{2DAF0ACF-B080-0AB6-240F-12D80C8034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0761852"/>
              </p:ext>
            </p:extLst>
          </p:nvPr>
        </p:nvGraphicFramePr>
        <p:xfrm>
          <a:off x="6096000" y="4206876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7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th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Ifm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Wgt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12386432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884864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122879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113443023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15" name="내용 개체 틀 3">
            <a:extLst>
              <a:ext uri="{FF2B5EF4-FFF2-40B4-BE49-F238E27FC236}">
                <a16:creationId xmlns:a16="http://schemas.microsoft.com/office/drawing/2014/main" id="{C4ECAAE5-5D87-ECFB-D2AE-269DBD4F96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0497517"/>
              </p:ext>
            </p:extLst>
          </p:nvPr>
        </p:nvGraphicFramePr>
        <p:xfrm>
          <a:off x="0" y="5532438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8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th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Ifm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  <a:latin typeface="+mj-lt"/>
                        </a:rPr>
                        <a:t>Wgt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6193280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442496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30719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56672463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0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16" name="내용 개체 틀 3">
            <a:extLst>
              <a:ext uri="{FF2B5EF4-FFF2-40B4-BE49-F238E27FC236}">
                <a16:creationId xmlns:a16="http://schemas.microsoft.com/office/drawing/2014/main" id="{257DE03C-935E-4961-89D7-47418AF7EB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0573378"/>
              </p:ext>
            </p:extLst>
          </p:nvPr>
        </p:nvGraphicFramePr>
        <p:xfrm>
          <a:off x="6096000" y="5532438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11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th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  <a:latin typeface="+mj-lt"/>
                        </a:rPr>
                        <a:t>Ifm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Wgt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1548416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110720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7679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14168271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24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7D3CA-F3FB-1AEF-E5C2-611794E6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 - OPS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9FE7995-6032-7E21-5018-B0275EDD7E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632192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3466643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1108826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2487317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419602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8640853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1427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Required Ops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Cycle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OPS/Area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82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en-US" altLang="ko-KR" baseline="30000" dirty="0"/>
                        <a:t>st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1,882,865,664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</a:rPr>
                        <a:t>46,771,707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134,188.36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0.647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84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en-US" altLang="ko-KR" baseline="30000" dirty="0"/>
                        <a:t>nd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3,765,731,328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</a:rPr>
                        <a:t>93,542,617</a:t>
                      </a:r>
                      <a:endParaRPr lang="ko-KR" sz="9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134,189.51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0.647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829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en-US" altLang="ko-KR" baseline="30000" dirty="0"/>
                        <a:t>rd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1,916,338,176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</a:rPr>
                        <a:t>47,645,903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134,068.06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0.647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395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en-US" altLang="ko-KR" baseline="30000" dirty="0"/>
                        <a:t>th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3,832,676,352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</a:rPr>
                        <a:t>95,291,599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134,068.35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0.647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70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en-US" altLang="ko-KR" baseline="30000" dirty="0"/>
                        <a:t>th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1,984,167,936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</a:rPr>
                        <a:t>56,721,615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116,602.69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0.562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330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en-US" altLang="ko-KR" baseline="30000" dirty="0"/>
                        <a:t>th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3,968,335,872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</a:rPr>
                        <a:t>113,443,023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116,602.91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0.562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388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en-US" altLang="ko-KR" baseline="30000" dirty="0"/>
                        <a:t>th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2,123,366,400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</a:rPr>
                        <a:t>56,672,463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124,891.13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0.602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74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</a:t>
                      </a:r>
                      <a:r>
                        <a:rPr lang="en-US" altLang="ko-KR" baseline="30000" dirty="0"/>
                        <a:t>th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603,979,776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</a:rPr>
                        <a:t>14,168,271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142,096.80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5713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56D32F1B-2910-EA7F-A988-9132FB48592B}"/>
              </a:ext>
            </a:extLst>
          </p:cNvPr>
          <p:cNvSpPr txBox="1">
            <a:spLocks/>
          </p:cNvSpPr>
          <p:nvPr/>
        </p:nvSpPr>
        <p:spPr>
          <a:xfrm>
            <a:off x="838200" y="52981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500" dirty="0"/>
              <a:t>Area: CLB (40492) +LUT as Logic (141257) + LUT as Memory (18162) + CLB Registers (251237) + Unique Control Sets (7447) = 207,358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25744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8D0A4-F3BD-9581-2196-359ADCD9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ResNet50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0746814-322F-197C-3F33-E17581CCC6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215639"/>
              </p:ext>
            </p:extLst>
          </p:nvPr>
        </p:nvGraphicFramePr>
        <p:xfrm>
          <a:off x="0" y="1616366"/>
          <a:ext cx="6096000" cy="262312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872240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68041496"/>
                    </a:ext>
                  </a:extLst>
                </a:gridCol>
              </a:tblGrid>
              <a:tr h="238466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52267293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IW (zero padding)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56 + 2 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6149227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1774243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597138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Ifm_num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387072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127816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Wgt_num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1769472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154578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200704/983040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049978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Tile num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3072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998308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Execution time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12.307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0682546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number of Processing (Pixels)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200704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857943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Throughput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Kpixels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15925.9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0802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14DFFB06-B51D-9ADC-C114-DCD6343F95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085401"/>
              </p:ext>
            </p:extLst>
          </p:nvPr>
        </p:nvGraphicFramePr>
        <p:xfrm>
          <a:off x="6096000" y="1611749"/>
          <a:ext cx="6096000" cy="262312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872240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68041496"/>
                    </a:ext>
                  </a:extLst>
                </a:gridCol>
              </a:tblGrid>
              <a:tr h="238466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nd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52267293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IW (zero padding)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28 + 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6149227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1774243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597138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193536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127816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Wgt_num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1769472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154578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100352/491520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049978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Tile num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1536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998308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Execution time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12.196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0682546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number of Processing (Pixels)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100352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857943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Throughput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Kpixels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8035.42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0802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4CB751A4-3250-02BD-9E47-B837FD00C7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6449307"/>
              </p:ext>
            </p:extLst>
          </p:nvPr>
        </p:nvGraphicFramePr>
        <p:xfrm>
          <a:off x="0" y="4244109"/>
          <a:ext cx="6096000" cy="262312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872240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68041496"/>
                    </a:ext>
                  </a:extLst>
                </a:gridCol>
              </a:tblGrid>
              <a:tr h="238466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rd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52267293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IW (zero padding)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14 + 2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6149227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1774243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256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597138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Ifm_num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96768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127816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Wgt_num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1769472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154578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50176/245760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049978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Tile num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768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998308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Execution time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12.209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0682546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number of Processing (Pixels)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50176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857943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Throughput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Kpixels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4013.43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0802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DF2E4BA5-6DCA-8F63-5A42-8C77F90B1A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4096792"/>
              </p:ext>
            </p:extLst>
          </p:nvPr>
        </p:nvGraphicFramePr>
        <p:xfrm>
          <a:off x="6096000" y="4239492"/>
          <a:ext cx="6096000" cy="262312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872240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68041496"/>
                    </a:ext>
                  </a:extLst>
                </a:gridCol>
              </a:tblGrid>
              <a:tr h="238466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  <a:r>
                        <a:rPr lang="en-US" altLang="ko-KR" sz="1200" b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Layer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52267293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IW (zero padding)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 + 2 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6149227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512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1774243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512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597138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129024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127816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Wgt_num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4718592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154578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Ofm_num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25088/327680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049978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Tile num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1024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998308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Execution time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31.924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0682546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number of Processing (Pixels)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25088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8579430"/>
                  </a:ext>
                </a:extLst>
              </a:tr>
              <a:tr h="238466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Throughput (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Kpixels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767.448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0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726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CDD41-E916-0997-8C00-D334E21C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ResNet50 – Band Utilization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E92969C-58CF-3326-6FF6-2B363DE72A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410795"/>
              </p:ext>
            </p:extLst>
          </p:nvPr>
        </p:nvGraphicFramePr>
        <p:xfrm>
          <a:off x="-2" y="2365864"/>
          <a:ext cx="6096002" cy="141743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1</a:t>
                      </a:r>
                      <a:r>
                        <a:rPr lang="en-US" sz="1200" kern="100" baseline="30000" dirty="0">
                          <a:effectLst/>
                        </a:rPr>
                        <a:t>st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4680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6,175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240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864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2,111.32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83.882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295.036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10.996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0.437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1.537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10.996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0.437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1.537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7,078.49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14,686.4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53,381.102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61ACE70E-D80C-3FB2-8477-62E7627890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7031005"/>
              </p:ext>
            </p:extLst>
          </p:nvPr>
        </p:nvGraphicFramePr>
        <p:xfrm>
          <a:off x="6095998" y="2365864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r>
                        <a:rPr lang="en-US" sz="1200" kern="100" baseline="30000" dirty="0">
                          <a:effectLst/>
                        </a:rPr>
                        <a:t>nd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6,192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864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2,106.32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42.14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296.31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0.219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1.543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0.219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1.543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6,618.45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29,201.6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53,154.699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BED34FB3-6D7B-8167-49A5-00DC0F7EC9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8069854"/>
              </p:ext>
            </p:extLst>
          </p:nvPr>
        </p:nvGraphicFramePr>
        <p:xfrm>
          <a:off x="-4" y="3789080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</a:t>
                      </a:r>
                      <a:r>
                        <a:rPr lang="en-US" sz="1200" kern="100" baseline="30000" dirty="0">
                          <a:effectLst/>
                        </a:rPr>
                        <a:t>rd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6,168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864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2,104.29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21.117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296.955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0.110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1.547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10.96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0.110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1.547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5,673.88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58,244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53,041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7223996D-EF97-D2B6-89A3-E2117CF8D9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6291145"/>
              </p:ext>
            </p:extLst>
          </p:nvPr>
        </p:nvGraphicFramePr>
        <p:xfrm>
          <a:off x="6095996" y="3789080"/>
          <a:ext cx="6096002" cy="14175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86184">
                  <a:extLst>
                    <a:ext uri="{9D8B030D-6E8A-4147-A177-3AD203B41FA5}">
                      <a16:colId xmlns:a16="http://schemas.microsoft.com/office/drawing/2014/main" val="2338638629"/>
                    </a:ext>
                  </a:extLst>
                </a:gridCol>
                <a:gridCol w="1154545">
                  <a:extLst>
                    <a:ext uri="{9D8B030D-6E8A-4147-A177-3AD203B41FA5}">
                      <a16:colId xmlns:a16="http://schemas.microsoft.com/office/drawing/2014/main" val="939437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3005152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1579539050"/>
                    </a:ext>
                  </a:extLst>
                </a:gridCol>
              </a:tblGrid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4</a:t>
                      </a:r>
                      <a:r>
                        <a:rPr lang="en-US" sz="1200" kern="100" baseline="30000" dirty="0">
                          <a:effectLst/>
                        </a:rPr>
                        <a:t>th</a:t>
                      </a:r>
                      <a:r>
                        <a:rPr lang="en-US" sz="1200" kern="100" dirty="0">
                          <a:effectLst/>
                        </a:rPr>
                        <a:t> Layer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m_ifm (READ)</a:t>
                      </a:r>
                      <a:endParaRPr lang="ko-KR" sz="12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m_ofm</a:t>
                      </a:r>
                      <a:r>
                        <a:rPr lang="en-US" sz="1200" kern="100" dirty="0">
                          <a:effectLst/>
                        </a:rPr>
                        <a:t>(WRITE)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m_wgt</a:t>
                      </a:r>
                      <a:r>
                        <a:rPr lang="en-US" sz="1200" kern="100" dirty="0">
                          <a:effectLst/>
                        </a:rPr>
                        <a:t>(READ)</a:t>
                      </a:r>
                      <a:endParaRPr lang="ko-KR" sz="12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88619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Number of Transfers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16,416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80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2,304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6442184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Transfer Rate (MB/s)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2,102.35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10.569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297.198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404748"/>
                  </a:ext>
                </a:extLst>
              </a:tr>
              <a:tr h="29328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Current Port Config(%)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0.055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65356"/>
                  </a:ext>
                </a:extLst>
              </a:tr>
              <a:tr h="2906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BW Util </a:t>
                      </a:r>
                      <a:r>
                        <a:rPr lang="en-US" sz="1200" kern="100" dirty="0" err="1">
                          <a:effectLst/>
                          <a:latin typeface="+mj-lt"/>
                        </a:rPr>
                        <a:t>wrt</a:t>
                      </a:r>
                      <a:r>
                        <a:rPr lang="en-US" sz="1200" kern="100" dirty="0">
                          <a:effectLst/>
                          <a:latin typeface="+mj-lt"/>
                        </a:rPr>
                        <a:t> Ideal Port Config (%)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10.95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0.055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1.548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00516"/>
                  </a:ext>
                </a:extLst>
              </a:tr>
              <a:tr h="18008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</a:rPr>
                        <a:t>Avg Latency (ns)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6,156.05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116,318</a:t>
                      </a:r>
                      <a:endParaRPr lang="ko-KR" sz="12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53,463.301</a:t>
                      </a:r>
                      <a:endParaRPr lang="ko-KR" sz="12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26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86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E2E53-664F-4B86-B66E-AAA9B45F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ResNet50 – Stall &amp; Cycles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EB86D26-2E21-2F55-4410-840CD685A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329390"/>
              </p:ext>
            </p:extLst>
          </p:nvPr>
        </p:nvGraphicFramePr>
        <p:xfrm>
          <a:off x="0" y="2627170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</a:t>
                      </a:r>
                      <a:r>
                        <a:rPr lang="en-US" sz="1300" kern="100" baseline="30000" dirty="0">
                          <a:effectLst/>
                        </a:rPr>
                        <a:t>st</a:t>
                      </a:r>
                      <a:r>
                        <a:rPr lang="en-US" sz="1300" kern="100" dirty="0">
                          <a:effectLst/>
                        </a:rPr>
                        <a:t> Layer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Ifm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</a:rPr>
                        <a:t>Wgt</a:t>
                      </a:r>
                      <a:endParaRPr lang="ko-KR" sz="13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Ofm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Total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Cycle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387200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27776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15359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3563727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</a:rPr>
                        <a:t>Stall</a:t>
                      </a:r>
                      <a:endParaRPr lang="ko-KR" sz="130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861A735D-CEFF-6523-AAD9-842F2D5667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549314"/>
              </p:ext>
            </p:extLst>
          </p:nvPr>
        </p:nvGraphicFramePr>
        <p:xfrm>
          <a:off x="6096000" y="2627170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2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nd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Ifm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  <a:latin typeface="+mj-lt"/>
                        </a:rPr>
                        <a:t>Wgt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387200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27776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7679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3551439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1C3E55D5-1774-B99C-929C-00619180E4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0422111"/>
              </p:ext>
            </p:extLst>
          </p:nvPr>
        </p:nvGraphicFramePr>
        <p:xfrm>
          <a:off x="0" y="3952732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3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rd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  <a:latin typeface="+mj-lt"/>
                        </a:rPr>
                        <a:t>Ifm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Wgt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387200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27776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3839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3545295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9D53312F-813A-1DF5-F6D3-290EE86AC8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814217"/>
              </p:ext>
            </p:extLst>
          </p:nvPr>
        </p:nvGraphicFramePr>
        <p:xfrm>
          <a:off x="6096000" y="3952732"/>
          <a:ext cx="6096000" cy="13255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06175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173362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473668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28485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690961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</a:rPr>
                        <a:t> 4</a:t>
                      </a:r>
                      <a:r>
                        <a:rPr lang="en-US" sz="1300" kern="100" baseline="30000" dirty="0">
                          <a:effectLst/>
                          <a:latin typeface="+mj-lt"/>
                        </a:rPr>
                        <a:t>th</a:t>
                      </a:r>
                      <a:r>
                        <a:rPr lang="en-US" sz="1300" kern="100" dirty="0">
                          <a:effectLst/>
                          <a:latin typeface="+mj-lt"/>
                        </a:rPr>
                        <a:t> Layer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 err="1">
                          <a:effectLst/>
                          <a:latin typeface="+mj-lt"/>
                        </a:rPr>
                        <a:t>Ifm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Wgt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Ofm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Total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7621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Cycle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1032320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13856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5119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9445583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0023507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</a:rPr>
                        <a:t>Stall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63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134</a:t>
                      </a:r>
                      <a:endParaRPr lang="ko-KR" sz="1300" kern="10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134</a:t>
                      </a:r>
                      <a:endParaRPr lang="ko-KR" sz="1300" kern="100" dirty="0"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158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45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13FFD-999C-ADB5-8B3D-808DE334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ResNet50 - OPS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492BCCC-CF35-A4D3-8FE5-BD1DFB7D78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5506578"/>
              </p:ext>
            </p:extLst>
          </p:nvPr>
        </p:nvGraphicFramePr>
        <p:xfrm>
          <a:off x="838200" y="1825625"/>
          <a:ext cx="10515600" cy="184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24699408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3793607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2801330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055178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6956517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43809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Required Ops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Cycle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OPS/Area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38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en-US" altLang="ko-KR" baseline="30000" dirty="0"/>
                        <a:t>st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124,010,496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3,563,727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115,993.26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0.559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507552"/>
                  </a:ext>
                </a:extLst>
              </a:tr>
              <a:tr h="2395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en-US" altLang="ko-KR" baseline="30000" dirty="0"/>
                        <a:t>nd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132,710,400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3,551,439</a:t>
                      </a:r>
                      <a:endParaRPr lang="ko-KR" sz="90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124,560.21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4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en-US" altLang="ko-KR" baseline="30000" dirty="0"/>
                        <a:t>rd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150,994,944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3,545,295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141,967.45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394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en-US" altLang="ko-KR" baseline="30000" dirty="0"/>
                        <a:t>th</a:t>
                      </a:r>
                      <a:r>
                        <a:rPr lang="en-US" altLang="ko-KR" dirty="0"/>
                        <a:t>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191,102,976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9,445,583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67,439.98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0.325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894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745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52CB9-739F-0256-B1A9-390D7C01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rmAutofit fontScale="90000"/>
          </a:bodyPr>
          <a:lstStyle/>
          <a:p>
            <a:pPr fontAlgn="base"/>
            <a:br>
              <a:rPr lang="en-US" altLang="ko-KR" b="0" i="0" dirty="0">
                <a:solidFill>
                  <a:srgbClr val="000000"/>
                </a:solidFill>
                <a:effectLst/>
                <a:latin typeface="inherit"/>
              </a:rPr>
            </a:b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9B96E8-2A27-0222-0DAF-C0AA192278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385246"/>
              </p:ext>
            </p:extLst>
          </p:nvPr>
        </p:nvGraphicFramePr>
        <p:xfrm>
          <a:off x="838200" y="73660"/>
          <a:ext cx="10228868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237">
                  <a:extLst>
                    <a:ext uri="{9D8B030D-6E8A-4147-A177-3AD203B41FA5}">
                      <a16:colId xmlns:a16="http://schemas.microsoft.com/office/drawing/2014/main" val="4270340974"/>
                    </a:ext>
                  </a:extLst>
                </a:gridCol>
                <a:gridCol w="1496237">
                  <a:extLst>
                    <a:ext uri="{9D8B030D-6E8A-4147-A177-3AD203B41FA5}">
                      <a16:colId xmlns:a16="http://schemas.microsoft.com/office/drawing/2014/main" val="3493749461"/>
                    </a:ext>
                  </a:extLst>
                </a:gridCol>
                <a:gridCol w="1482541">
                  <a:extLst>
                    <a:ext uri="{9D8B030D-6E8A-4147-A177-3AD203B41FA5}">
                      <a16:colId xmlns:a16="http://schemas.microsoft.com/office/drawing/2014/main" val="2435854574"/>
                    </a:ext>
                  </a:extLst>
                </a:gridCol>
                <a:gridCol w="1686101">
                  <a:extLst>
                    <a:ext uri="{9D8B030D-6E8A-4147-A177-3AD203B41FA5}">
                      <a16:colId xmlns:a16="http://schemas.microsoft.com/office/drawing/2014/main" val="4250270921"/>
                    </a:ext>
                  </a:extLst>
                </a:gridCol>
                <a:gridCol w="1075278">
                  <a:extLst>
                    <a:ext uri="{9D8B030D-6E8A-4147-A177-3AD203B41FA5}">
                      <a16:colId xmlns:a16="http://schemas.microsoft.com/office/drawing/2014/main" val="1841342183"/>
                    </a:ext>
                  </a:extLst>
                </a:gridCol>
                <a:gridCol w="1496237">
                  <a:extLst>
                    <a:ext uri="{9D8B030D-6E8A-4147-A177-3AD203B41FA5}">
                      <a16:colId xmlns:a16="http://schemas.microsoft.com/office/drawing/2014/main" val="3398776174"/>
                    </a:ext>
                  </a:extLst>
                </a:gridCol>
                <a:gridCol w="1496237">
                  <a:extLst>
                    <a:ext uri="{9D8B030D-6E8A-4147-A177-3AD203B41FA5}">
                      <a16:colId xmlns:a16="http://schemas.microsoft.com/office/drawing/2014/main" val="1069275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Utilization (%)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Ideal output size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Total output size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Output usage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Output Utilization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PE Util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Output Util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9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89.46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13,075,456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825,753,600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61.91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155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89.46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26,150,912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3,303,014,400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30.95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6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89.38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6,653,952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844,103,680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15.46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83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89.38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13,307,904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3,376,414,720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0.086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7.69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251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77.74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3,444,736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1,006,632,960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2.95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945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77.74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6,889,472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4,026,531,840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94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83.26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1,843,200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1,006,632,960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27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94.73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524,288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251,658,240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52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CONV_R1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77.33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861,184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62,914,560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0.437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0.598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46.24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438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CONV_R2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83.04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460,800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62,914,560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13.29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8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CONV_R3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94.64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262,144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62,914,560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4.35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364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CONV_R4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44.96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165,888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167,772,160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714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93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0A4A902-4573-5698-284C-4B682FCD6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13350"/>
              </p:ext>
            </p:extLst>
          </p:nvPr>
        </p:nvGraphicFramePr>
        <p:xfrm>
          <a:off x="838200" y="676275"/>
          <a:ext cx="10953750" cy="550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53783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FB39CE8E-51A5-62AD-02D0-7873E81FF01F}"/>
              </a:ext>
            </a:extLst>
          </p:cNvPr>
          <p:cNvGraphicFramePr/>
          <p:nvPr/>
        </p:nvGraphicFramePr>
        <p:xfrm>
          <a:off x="4705350" y="2224087"/>
          <a:ext cx="2781300" cy="240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47661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2D233E77-BE06-F01D-D446-D5DA71EE7A75}"/>
              </a:ext>
            </a:extLst>
          </p:cNvPr>
          <p:cNvGraphicFramePr/>
          <p:nvPr/>
        </p:nvGraphicFramePr>
        <p:xfrm>
          <a:off x="4638675" y="2219325"/>
          <a:ext cx="2914650" cy="2419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18139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3D15DFE-62CD-A24A-0D15-149A654C95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8098380"/>
              </p:ext>
            </p:extLst>
          </p:nvPr>
        </p:nvGraphicFramePr>
        <p:xfrm>
          <a:off x="719137" y="643164"/>
          <a:ext cx="10753726" cy="5571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825">
                  <a:extLst>
                    <a:ext uri="{9D8B030D-6E8A-4147-A177-3AD203B41FA5}">
                      <a16:colId xmlns:a16="http://schemas.microsoft.com/office/drawing/2014/main" val="4270340974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3493749461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435854574"/>
                    </a:ext>
                  </a:extLst>
                </a:gridCol>
                <a:gridCol w="1328169">
                  <a:extLst>
                    <a:ext uri="{9D8B030D-6E8A-4147-A177-3AD203B41FA5}">
                      <a16:colId xmlns:a16="http://schemas.microsoft.com/office/drawing/2014/main" val="2048603298"/>
                    </a:ext>
                  </a:extLst>
                </a:gridCol>
                <a:gridCol w="1310256">
                  <a:extLst>
                    <a:ext uri="{9D8B030D-6E8A-4147-A177-3AD203B41FA5}">
                      <a16:colId xmlns:a16="http://schemas.microsoft.com/office/drawing/2014/main" val="4250270921"/>
                    </a:ext>
                  </a:extLst>
                </a:gridCol>
                <a:gridCol w="1596706">
                  <a:extLst>
                    <a:ext uri="{9D8B030D-6E8A-4147-A177-3AD203B41FA5}">
                      <a16:colId xmlns:a16="http://schemas.microsoft.com/office/drawing/2014/main" val="1841342183"/>
                    </a:ext>
                  </a:extLst>
                </a:gridCol>
                <a:gridCol w="1575120">
                  <a:extLst>
                    <a:ext uri="{9D8B030D-6E8A-4147-A177-3AD203B41FA5}">
                      <a16:colId xmlns:a16="http://schemas.microsoft.com/office/drawing/2014/main" val="3398776174"/>
                    </a:ext>
                  </a:extLst>
                </a:gridCol>
              </a:tblGrid>
              <a:tr h="75501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Utilization (%)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Ideal PE Utilization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Difference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Output Utilization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Ideal Output Utilization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Difference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98226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89.46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88.49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155904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89.46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88.49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0.43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65431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89.38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86.57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2.81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83440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89.38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86.57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2.81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0.086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-0.13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251399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77.74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945094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77.74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948341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83.26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10.67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277590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CONV_V8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94.73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22.14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652434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CONV_R1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77.33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4.74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0.598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0.25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438028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CONV_R2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83.04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10.45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85825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CONV_R3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94.64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72.59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22.05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0.046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364406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CONV_R4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44.96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38.10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6.86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-0.01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714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301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408CF605-8658-5C20-50B0-E9AC1D4454AE}"/>
              </a:ext>
            </a:extLst>
          </p:cNvPr>
          <p:cNvGraphicFramePr/>
          <p:nvPr/>
        </p:nvGraphicFramePr>
        <p:xfrm>
          <a:off x="4691062" y="2233612"/>
          <a:ext cx="2809875" cy="2390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342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3FE436C5-6BC8-9E92-B11A-2D11F652E7AE}"/>
              </a:ext>
            </a:extLst>
          </p:cNvPr>
          <p:cNvGraphicFramePr/>
          <p:nvPr/>
        </p:nvGraphicFramePr>
        <p:xfrm>
          <a:off x="4648200" y="2228850"/>
          <a:ext cx="2895600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2646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1776</Words>
  <Application>Microsoft Office PowerPoint</Application>
  <PresentationFormat>와이드스크린</PresentationFormat>
  <Paragraphs>932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inherit</vt:lpstr>
      <vt:lpstr>맑은 고딕</vt:lpstr>
      <vt:lpstr>맑은 고딕 (본문)</vt:lpstr>
      <vt:lpstr>Arial</vt:lpstr>
      <vt:lpstr>Times New Roman</vt:lpstr>
      <vt:lpstr>Office 테마</vt:lpstr>
      <vt:lpstr>VGG16 </vt:lpstr>
      <vt:lpstr>VGG16 – Band Uitlization</vt:lpstr>
      <vt:lpstr>VGG16 – Stall &amp; Cycles</vt:lpstr>
      <vt:lpstr>VGG - OPS</vt:lpstr>
      <vt:lpstr>ResNet50</vt:lpstr>
      <vt:lpstr>ResNet50 – Band Utilization</vt:lpstr>
      <vt:lpstr>ResNet50 – Stall &amp; Cycles</vt:lpstr>
      <vt:lpstr>ResNet50 - OPS</vt:lpstr>
      <vt:lpstr>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VGG16 </dc:title>
  <dc:creator>원빈 서</dc:creator>
  <cp:lastModifiedBy>서원빈</cp:lastModifiedBy>
  <cp:revision>14</cp:revision>
  <dcterms:created xsi:type="dcterms:W3CDTF">2023-10-19T04:47:14Z</dcterms:created>
  <dcterms:modified xsi:type="dcterms:W3CDTF">2023-12-11T18:09:17Z</dcterms:modified>
</cp:coreProperties>
</file>