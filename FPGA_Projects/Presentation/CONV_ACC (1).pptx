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763" r:id="rId2"/>
    <p:sldId id="764" r:id="rId3"/>
    <p:sldId id="757" r:id="rId4"/>
    <p:sldId id="758" r:id="rId5"/>
    <p:sldId id="777" r:id="rId6"/>
    <p:sldId id="774" r:id="rId7"/>
    <p:sldId id="769" r:id="rId8"/>
    <p:sldId id="770" r:id="rId9"/>
    <p:sldId id="772" r:id="rId10"/>
    <p:sldId id="773" r:id="rId11"/>
    <p:sldId id="775" r:id="rId12"/>
    <p:sldId id="778" r:id="rId13"/>
    <p:sldId id="779" r:id="rId14"/>
    <p:sldId id="780" r:id="rId15"/>
    <p:sldId id="781" r:id="rId16"/>
    <p:sldId id="785" r:id="rId17"/>
    <p:sldId id="786" r:id="rId18"/>
    <p:sldId id="784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0AFF"/>
    <a:srgbClr val="34805D"/>
    <a:srgbClr val="98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8513A-C1BF-4432-B89A-0D52A50E0820}" v="59" dt="2023-08-16T07:24:12.789"/>
    <p1510:client id="{BB9073A2-BD59-A227-8907-0E8FA4EB67FE}" v="926" dt="2023-08-15T19:52:04.49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0" autoAdjust="0"/>
    <p:restoredTop sz="92941" autoAdjust="0"/>
  </p:normalViewPr>
  <p:slideViewPr>
    <p:cSldViewPr snapToGrid="0">
      <p:cViewPr varScale="1">
        <p:scale>
          <a:sx n="161" d="100"/>
          <a:sy n="161" d="100"/>
        </p:scale>
        <p:origin x="720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 dirty="0"/>
          </a:p>
        </p:txBody>
      </p:sp>
    </p:spTree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Main Title</a:t>
            </a:r>
            <a:endParaRPr dirty="0"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 dirty="0"/>
              <a:t>이름</a:t>
            </a:r>
            <a:endParaRPr dirty="0"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 dirty="0"/>
              <a:t>Sub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179543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umin35@hanya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hyperlink" Target="mailto:slbiog3025@hanyang.ac.kr" TargetMode="External"/><Relationship Id="rId4" Type="http://schemas.openxmlformats.org/officeDocument/2006/relationships/hyperlink" Target="mailto:kkyou123@hanyang.ac.k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CNN Accelerator on FPGA</a:t>
            </a:r>
            <a:endParaRPr lang="ko-KR" altLang="en-US" sz="4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AIHA-Intern-2023-NPU</a:t>
            </a:r>
          </a:p>
          <a:p>
            <a:endParaRPr lang="en-US" altLang="ko-KR" sz="2800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D5C8AE0E-B703-F753-449B-C0A76C88AA37}"/>
              </a:ext>
            </a:extLst>
          </p:cNvPr>
          <p:cNvSpPr txBox="1">
            <a:spLocks/>
          </p:cNvSpPr>
          <p:nvPr/>
        </p:nvSpPr>
        <p:spPr>
          <a:xfrm>
            <a:off x="1676400" y="3814318"/>
            <a:ext cx="9144000" cy="182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371465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742932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114397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485863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sz="2800"/>
              <a:t>Dongbeom Son / Wonbin Seo / Sumin Lee</a:t>
            </a:r>
          </a:p>
          <a:p>
            <a:pPr hangingPunct="1"/>
            <a:r>
              <a:rPr lang="en-US" altLang="ko-KR" sz="1600">
                <a:hlinkClick r:id="rId3"/>
              </a:rPr>
              <a:t>bumin35@hanyang.ac.kr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4"/>
              </a:rPr>
              <a:t>kkyou123@hanyang.ac.kr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5"/>
              </a:rPr>
              <a:t>slbiog3025@hanyang.ac.kr</a:t>
            </a:r>
            <a:endParaRPr lang="en-US" altLang="ko-KR" sz="2000"/>
          </a:p>
          <a:p>
            <a:pPr hangingPunct="1"/>
            <a:r>
              <a:rPr lang="en-US" altLang="ko-KR" sz="2000"/>
              <a:t>2023 aiha-intern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922197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CF5-727C-405F-A1C0-1E7FA145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0855-1356-4CA7-A5CD-4D7CA0E4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7111" y="1299713"/>
            <a:ext cx="5155274" cy="5029650"/>
          </a:xfrm>
        </p:spPr>
        <p:txBody>
          <a:bodyPr lIns="45719" tIns="45720" rIns="45719" bIns="45720" anchor="t">
            <a:normAutofit/>
          </a:bodyPr>
          <a:lstStyle/>
          <a:p>
            <a:pPr marL="714375" lvl="1" indent="-342900"/>
            <a:endParaRPr lang="en-US" altLang="ko-KR" dirty="0"/>
          </a:p>
          <a:p>
            <a:pPr marL="714375" lvl="1" indent="-34290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185420" indent="-185420"/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4844-DA11-4845-9D48-C83CC6607D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ko-KR" alt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32BA3D-5980-4490-2308-F08D9F45CDB3}"/>
              </a:ext>
            </a:extLst>
          </p:cNvPr>
          <p:cNvSpPr txBox="1">
            <a:spLocks/>
          </p:cNvSpPr>
          <p:nvPr/>
        </p:nvSpPr>
        <p:spPr>
          <a:xfrm>
            <a:off x="990602" y="1299713"/>
            <a:ext cx="502227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313583" indent="-342900" hangingPunct="1"/>
            <a:r>
              <a:rPr lang="en-US" altLang="ko-KR" dirty="0"/>
              <a:t>CONV_ACC Design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Overview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Inside the </a:t>
            </a:r>
            <a:r>
              <a:rPr lang="en-US" altLang="ko-KR" dirty="0" err="1">
                <a:latin typeface="맑은 고딕"/>
                <a:ea typeface="맑은 고딕"/>
              </a:rPr>
              <a:t>conv_eng</a:t>
            </a:r>
            <a:endParaRPr lang="en-US" altLang="ko-KR" dirty="0">
              <a:latin typeface="맑은 고딕"/>
              <a:ea typeface="맑은 고딕"/>
            </a:endParaRP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CONV_ACC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IFM / WGT buffer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Parser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Flatter</a:t>
            </a:r>
            <a:endParaRPr lang="en-US" altLang="ko-KR" dirty="0">
              <a:latin typeface="Malgun Gothic"/>
              <a:ea typeface="Malgun Gothic"/>
            </a:endParaRP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Read/Write master</a:t>
            </a:r>
          </a:p>
          <a:p>
            <a:pPr marL="714375" lvl="1" indent="-342900" hangingPunct="1"/>
            <a:r>
              <a:rPr lang="en-US" altLang="ko-KR" dirty="0" err="1">
                <a:latin typeface="맑은 고딕"/>
                <a:ea typeface="맑은 고딕"/>
              </a:rPr>
              <a:t>krnl_acc</a:t>
            </a:r>
            <a:r>
              <a:rPr lang="en-US" altLang="ko-KR" dirty="0">
                <a:latin typeface="맑은 고딕"/>
                <a:ea typeface="맑은 고딕"/>
              </a:rPr>
              <a:t> control signal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Re arrange data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Does the Buffer have to contain all the data?</a:t>
            </a:r>
          </a:p>
          <a:p>
            <a:pPr marL="714375" lvl="1" indent="-342900" hangingPunct="1"/>
            <a:r>
              <a:rPr lang="en-US" altLang="ko-KR" dirty="0">
                <a:latin typeface="맑은 고딕"/>
                <a:ea typeface="맑은 고딕"/>
              </a:rPr>
              <a:t>Hardware emulation result</a:t>
            </a:r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ko-KR" altLang="en-US" dirty="0"/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185420" indent="-185420" hangingPunct="1"/>
            <a:endParaRPr lang="ko-KR" alt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54F44A-45CE-49D1-2272-2F972BC0E256}"/>
              </a:ext>
            </a:extLst>
          </p:cNvPr>
          <p:cNvSpPr txBox="1">
            <a:spLocks/>
          </p:cNvSpPr>
          <p:nvPr/>
        </p:nvSpPr>
        <p:spPr>
          <a:xfrm>
            <a:off x="6179129" y="1299713"/>
            <a:ext cx="502227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>
                <a:latin typeface="맑은 고딕"/>
                <a:ea typeface="맑은 고딕"/>
              </a:rPr>
              <a:t>Possible Improvements</a:t>
            </a:r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ko-KR" altLang="en-US" dirty="0"/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185420" indent="-185420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05945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8806141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dirty="0">
                <a:latin typeface="맑은 고딕"/>
                <a:ea typeface="맑은 고딕"/>
              </a:rPr>
              <a:t>Overview</a:t>
            </a:r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C92926-CD95-ABAE-6A30-B526625BA1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1"/>
          <a:stretch/>
        </p:blipFill>
        <p:spPr>
          <a:xfrm>
            <a:off x="-3885" y="1671392"/>
            <a:ext cx="12170501" cy="381500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A2F2F61-F8A9-BD70-F93D-91A3E3FC70DF}"/>
              </a:ext>
            </a:extLst>
          </p:cNvPr>
          <p:cNvSpPr/>
          <p:nvPr/>
        </p:nvSpPr>
        <p:spPr>
          <a:xfrm>
            <a:off x="5212080" y="3192087"/>
            <a:ext cx="415636" cy="831273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9812494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8806141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Inside the </a:t>
            </a:r>
            <a:r>
              <a:rPr lang="en-US" altLang="ko-KR" dirty="0" err="1">
                <a:latin typeface="맑은 고딕"/>
                <a:ea typeface="맑은 고딕"/>
              </a:rPr>
              <a:t>conv_eng</a:t>
            </a:r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ABFCFE-67DC-B0B2-2A80-AB630637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7" y="2033392"/>
            <a:ext cx="12002059" cy="367461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2DEA6A6-0968-7767-634E-0CA44BEBB1B9}"/>
              </a:ext>
            </a:extLst>
          </p:cNvPr>
          <p:cNvSpPr/>
          <p:nvPr/>
        </p:nvSpPr>
        <p:spPr>
          <a:xfrm>
            <a:off x="5286895" y="4172989"/>
            <a:ext cx="490450" cy="473826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81E14-90B0-FFFE-ED3F-761682443060}"/>
              </a:ext>
            </a:extLst>
          </p:cNvPr>
          <p:cNvSpPr txBox="1"/>
          <p:nvPr/>
        </p:nvSpPr>
        <p:spPr>
          <a:xfrm>
            <a:off x="4759036" y="4784837"/>
            <a:ext cx="154616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b="1" dirty="0"/>
              <a:t>Main</a:t>
            </a:r>
            <a:r>
              <a:rPr lang="ko-KR" altLang="en-US" b="1" dirty="0"/>
              <a:t> </a:t>
            </a:r>
            <a:r>
              <a:rPr lang="en-US" altLang="ko-KR" b="1" dirty="0"/>
              <a:t>module</a:t>
            </a:r>
            <a:endParaRPr kumimoji="0" lang="ko-KR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A6FF57-768C-1726-0C01-AE466CFF42AB}"/>
              </a:ext>
            </a:extLst>
          </p:cNvPr>
          <p:cNvSpPr/>
          <p:nvPr/>
        </p:nvSpPr>
        <p:spPr>
          <a:xfrm>
            <a:off x="2867891" y="3981796"/>
            <a:ext cx="490450" cy="108065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64DEF-2992-445F-3D53-ED37C23A80C7}"/>
              </a:ext>
            </a:extLst>
          </p:cNvPr>
          <p:cNvSpPr txBox="1"/>
          <p:nvPr/>
        </p:nvSpPr>
        <p:spPr>
          <a:xfrm>
            <a:off x="1570797" y="3134333"/>
            <a:ext cx="4863869" cy="3231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Divide 512bit IFM, WGT to 64bit, 32bit respectively </a:t>
            </a:r>
            <a:endParaRPr kumimoji="0" lang="ko-KR" altLang="en-US" sz="15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04DED1-7FDC-8F0E-9CA2-D17A1D98F9F0}"/>
              </a:ext>
            </a:extLst>
          </p:cNvPr>
          <p:cNvSpPr/>
          <p:nvPr/>
        </p:nvSpPr>
        <p:spPr>
          <a:xfrm>
            <a:off x="8127999" y="2175933"/>
            <a:ext cx="660401" cy="1532467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8003E-BC0E-4072-E92D-061E3F4B006E}"/>
              </a:ext>
            </a:extLst>
          </p:cNvPr>
          <p:cNvSpPr txBox="1"/>
          <p:nvPr/>
        </p:nvSpPr>
        <p:spPr>
          <a:xfrm>
            <a:off x="6096000" y="1733788"/>
            <a:ext cx="4651309" cy="3231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500" b="1" dirty="0"/>
              <a:t>Buffer that send request to memory, receive data</a:t>
            </a:r>
            <a:endParaRPr kumimoji="0" lang="ko-KR" altLang="en-US" sz="15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889359-21BA-109D-F34E-27A22FE62E7B}"/>
              </a:ext>
            </a:extLst>
          </p:cNvPr>
          <p:cNvSpPr/>
          <p:nvPr/>
        </p:nvSpPr>
        <p:spPr>
          <a:xfrm>
            <a:off x="8233757" y="3981796"/>
            <a:ext cx="490451" cy="972589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65E150-5500-64D4-D2D0-2CB37F15D251}"/>
              </a:ext>
            </a:extLst>
          </p:cNvPr>
          <p:cNvSpPr txBox="1"/>
          <p:nvPr/>
        </p:nvSpPr>
        <p:spPr>
          <a:xfrm>
            <a:off x="6959363" y="5087723"/>
            <a:ext cx="5052528" cy="3231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500" b="1" dirty="0"/>
              <a:t>Merge OFM data to 512 bit &amp; send it to write master</a:t>
            </a:r>
            <a:endParaRPr kumimoji="0" lang="ko-KR" altLang="en-US" sz="15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7127155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1273034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dirty="0">
                <a:latin typeface="맑은 고딕"/>
                <a:ea typeface="맑은 고딕"/>
              </a:rPr>
              <a:t>CONV_ACC</a:t>
            </a:r>
          </a:p>
          <a:p>
            <a:pPr marL="586212" lvl="1" indent="-185420"/>
            <a:r>
              <a:rPr lang="en-US" sz="1500" dirty="0">
                <a:latin typeface="맑은 고딕"/>
                <a:ea typeface="맑은 고딕"/>
              </a:rPr>
              <a:t>With respect to data flow, 64-bit </a:t>
            </a:r>
            <a:r>
              <a:rPr lang="en-US" sz="1500" dirty="0" err="1">
                <a:latin typeface="맑은 고딕"/>
                <a:ea typeface="맑은 고딕"/>
              </a:rPr>
              <a:t>ifm</a:t>
            </a:r>
            <a:r>
              <a:rPr lang="en-US" sz="1500" dirty="0">
                <a:latin typeface="맑은 고딕"/>
                <a:ea typeface="맑은 고딕"/>
              </a:rPr>
              <a:t> data and 32-bit </a:t>
            </a:r>
            <a:r>
              <a:rPr lang="en-US" sz="1500" dirty="0" err="1">
                <a:latin typeface="맑은 고딕"/>
                <a:ea typeface="맑은 고딕"/>
              </a:rPr>
              <a:t>wgt</a:t>
            </a:r>
            <a:r>
              <a:rPr lang="en-US" sz="1500" dirty="0">
                <a:latin typeface="맑은 고딕"/>
                <a:ea typeface="맑은 고딕"/>
              </a:rPr>
              <a:t> data for input (8 </a:t>
            </a:r>
            <a:r>
              <a:rPr lang="en-US" sz="1500" dirty="0" err="1">
                <a:latin typeface="맑은 고딕"/>
                <a:ea typeface="맑은 고딕"/>
              </a:rPr>
              <a:t>ifm</a:t>
            </a:r>
            <a:r>
              <a:rPr lang="en-US" sz="1500" dirty="0">
                <a:latin typeface="맑은 고딕"/>
                <a:ea typeface="맑은 고딕"/>
              </a:rPr>
              <a:t>, 4 </a:t>
            </a:r>
            <a:r>
              <a:rPr lang="en-US" sz="1500" dirty="0" err="1">
                <a:latin typeface="맑은 고딕"/>
                <a:ea typeface="맑은 고딕"/>
              </a:rPr>
              <a:t>wgt</a:t>
            </a:r>
            <a:r>
              <a:rPr lang="en-US" sz="1500" dirty="0">
                <a:latin typeface="맑은 고딕"/>
                <a:ea typeface="맑은 고딕"/>
              </a:rPr>
              <a:t>)</a:t>
            </a:r>
          </a:p>
          <a:p>
            <a:pPr marL="586212" lvl="1" indent="-185420"/>
            <a:r>
              <a:rPr lang="en-US" sz="1500" dirty="0">
                <a:latin typeface="맑은 고딕"/>
                <a:ea typeface="맑은 고딕"/>
              </a:rPr>
              <a:t>64 bytes output for each rows, (320 bytes / tile)</a:t>
            </a:r>
          </a:p>
          <a:p>
            <a:pPr marL="400792" lvl="1" indent="0">
              <a:buNone/>
            </a:pPr>
            <a:endParaRPr lang="en-US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5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A9D365D-40DA-924E-AA18-C032C4028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979461"/>
              </p:ext>
            </p:extLst>
          </p:nvPr>
        </p:nvGraphicFramePr>
        <p:xfrm>
          <a:off x="3512231" y="285403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854A66-6605-0141-192C-1B7B6A63A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083815"/>
              </p:ext>
            </p:extLst>
          </p:nvPr>
        </p:nvGraphicFramePr>
        <p:xfrm>
          <a:off x="3516519" y="261309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37CF47-ADB7-0BBE-BFB7-AF69B0748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591475"/>
              </p:ext>
            </p:extLst>
          </p:nvPr>
        </p:nvGraphicFramePr>
        <p:xfrm>
          <a:off x="3512231" y="3433595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564ED97-E19B-CAB9-24C4-581953ABF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39871"/>
              </p:ext>
            </p:extLst>
          </p:nvPr>
        </p:nvGraphicFramePr>
        <p:xfrm>
          <a:off x="3512231" y="367757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AC8E32E-D3EA-63FE-946F-3533EAEAF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989653"/>
              </p:ext>
            </p:extLst>
          </p:nvPr>
        </p:nvGraphicFramePr>
        <p:xfrm>
          <a:off x="3512231" y="426244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B466215-4022-1657-633C-C5040FD93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99295"/>
              </p:ext>
            </p:extLst>
          </p:nvPr>
        </p:nvGraphicFramePr>
        <p:xfrm>
          <a:off x="3512231" y="450587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8BBA535-35B8-A6E2-F6C6-812B83906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769408"/>
              </p:ext>
            </p:extLst>
          </p:nvPr>
        </p:nvGraphicFramePr>
        <p:xfrm>
          <a:off x="3512231" y="50690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A342491-601A-B1B4-B31A-697E9CC72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923086"/>
              </p:ext>
            </p:extLst>
          </p:nvPr>
        </p:nvGraphicFramePr>
        <p:xfrm>
          <a:off x="3512231" y="53130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71A6B2E-6453-8FCE-B8AF-CB79B46AA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693309"/>
              </p:ext>
            </p:extLst>
          </p:nvPr>
        </p:nvGraphicFramePr>
        <p:xfrm>
          <a:off x="4759402" y="506932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77BBFA5-38F5-51F7-45B5-535719BFB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10281"/>
              </p:ext>
            </p:extLst>
          </p:nvPr>
        </p:nvGraphicFramePr>
        <p:xfrm>
          <a:off x="4759402" y="261309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CD56BDA-1D77-67F6-2B85-838702D4D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617455"/>
              </p:ext>
            </p:extLst>
          </p:nvPr>
        </p:nvGraphicFramePr>
        <p:xfrm>
          <a:off x="4759402" y="34333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32B038FD-5481-EB14-7A6D-9230103A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068768"/>
              </p:ext>
            </p:extLst>
          </p:nvPr>
        </p:nvGraphicFramePr>
        <p:xfrm>
          <a:off x="4759402" y="42591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CDFDC35-AB36-5240-EEF5-C224F0314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832373"/>
              </p:ext>
            </p:extLst>
          </p:nvPr>
        </p:nvGraphicFramePr>
        <p:xfrm>
          <a:off x="4759402" y="285403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126A84A-2E0F-35F1-9DFD-52D59E199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149505"/>
              </p:ext>
            </p:extLst>
          </p:nvPr>
        </p:nvGraphicFramePr>
        <p:xfrm>
          <a:off x="4759402" y="36808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85B421E-626C-9494-9D1E-C1F9C4FDA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792600"/>
              </p:ext>
            </p:extLst>
          </p:nvPr>
        </p:nvGraphicFramePr>
        <p:xfrm>
          <a:off x="4759402" y="450587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D525A5-E995-CBE5-8F9C-AF86A2803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020337"/>
              </p:ext>
            </p:extLst>
          </p:nvPr>
        </p:nvGraphicFramePr>
        <p:xfrm>
          <a:off x="4759402" y="53123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16F4E9FF-CAB1-83A5-F668-D16343B6EB20}"/>
              </a:ext>
            </a:extLst>
          </p:cNvPr>
          <p:cNvSpPr/>
          <p:nvPr/>
        </p:nvSpPr>
        <p:spPr>
          <a:xfrm>
            <a:off x="3450917" y="236317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40DDB0-5051-111C-B500-42B23009E872}"/>
              </a:ext>
            </a:extLst>
          </p:cNvPr>
          <p:cNvSpPr/>
          <p:nvPr/>
        </p:nvSpPr>
        <p:spPr>
          <a:xfrm>
            <a:off x="3450916" y="318479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5B4D800-8437-9CED-BA67-CCD6B6CDBD1B}"/>
              </a:ext>
            </a:extLst>
          </p:cNvPr>
          <p:cNvSpPr/>
          <p:nvPr/>
        </p:nvSpPr>
        <p:spPr>
          <a:xfrm>
            <a:off x="3450915" y="40064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F9DB34-660D-31CD-98E8-20E6544136C4}"/>
              </a:ext>
            </a:extLst>
          </p:cNvPr>
          <p:cNvSpPr/>
          <p:nvPr/>
        </p:nvSpPr>
        <p:spPr>
          <a:xfrm>
            <a:off x="3450915" y="482208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083957-634F-36B3-1890-1DB0D67C0E66}"/>
              </a:ext>
            </a:extLst>
          </p:cNvPr>
          <p:cNvSpPr/>
          <p:nvPr/>
        </p:nvSpPr>
        <p:spPr>
          <a:xfrm>
            <a:off x="4698090" y="236317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726F0F9-6CD3-1897-17E2-C0456907A3F7}"/>
              </a:ext>
            </a:extLst>
          </p:cNvPr>
          <p:cNvSpPr/>
          <p:nvPr/>
        </p:nvSpPr>
        <p:spPr>
          <a:xfrm>
            <a:off x="4698089" y="318479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AC6539A-F475-56B2-1059-C46A23280729}"/>
              </a:ext>
            </a:extLst>
          </p:cNvPr>
          <p:cNvSpPr/>
          <p:nvPr/>
        </p:nvSpPr>
        <p:spPr>
          <a:xfrm>
            <a:off x="4698088" y="40064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DD5F66-AD85-F948-5072-84886B083A51}"/>
              </a:ext>
            </a:extLst>
          </p:cNvPr>
          <p:cNvSpPr/>
          <p:nvPr/>
        </p:nvSpPr>
        <p:spPr>
          <a:xfrm>
            <a:off x="4698088" y="482208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4A7B3C0-1D51-13C9-ECE2-95D3B7756C1E}"/>
              </a:ext>
            </a:extLst>
          </p:cNvPr>
          <p:cNvSpPr/>
          <p:nvPr/>
        </p:nvSpPr>
        <p:spPr>
          <a:xfrm>
            <a:off x="5945263" y="236317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776EF5-AA5C-B543-5EE3-711804F59302}"/>
              </a:ext>
            </a:extLst>
          </p:cNvPr>
          <p:cNvSpPr/>
          <p:nvPr/>
        </p:nvSpPr>
        <p:spPr>
          <a:xfrm>
            <a:off x="5945262" y="318479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D67508A-0323-3448-C213-C6B6AA91AFCF}"/>
              </a:ext>
            </a:extLst>
          </p:cNvPr>
          <p:cNvSpPr/>
          <p:nvPr/>
        </p:nvSpPr>
        <p:spPr>
          <a:xfrm>
            <a:off x="5945261" y="40064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99F8542-B355-D181-3791-4A9E42F40C1A}"/>
              </a:ext>
            </a:extLst>
          </p:cNvPr>
          <p:cNvSpPr/>
          <p:nvPr/>
        </p:nvSpPr>
        <p:spPr>
          <a:xfrm>
            <a:off x="5945261" y="482208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D8D9DF6-560A-8958-685C-53FC28EB669C}"/>
              </a:ext>
            </a:extLst>
          </p:cNvPr>
          <p:cNvSpPr/>
          <p:nvPr/>
        </p:nvSpPr>
        <p:spPr>
          <a:xfrm>
            <a:off x="7192436" y="2363802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339D9B-D22C-7A0B-A8F2-0D0052457990}"/>
              </a:ext>
            </a:extLst>
          </p:cNvPr>
          <p:cNvSpPr/>
          <p:nvPr/>
        </p:nvSpPr>
        <p:spPr>
          <a:xfrm>
            <a:off x="7192435" y="318542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0EF6104-6DEE-EFCC-7D1E-74373F28348F}"/>
              </a:ext>
            </a:extLst>
          </p:cNvPr>
          <p:cNvSpPr/>
          <p:nvPr/>
        </p:nvSpPr>
        <p:spPr>
          <a:xfrm>
            <a:off x="7192434" y="400704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542FBD1-CC3D-777D-1C0F-34EE12DD8FA4}"/>
              </a:ext>
            </a:extLst>
          </p:cNvPr>
          <p:cNvSpPr/>
          <p:nvPr/>
        </p:nvSpPr>
        <p:spPr>
          <a:xfrm>
            <a:off x="7192434" y="482271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778C77A-3EFF-C5A8-2ECE-9E1954F0A1BB}"/>
              </a:ext>
            </a:extLst>
          </p:cNvPr>
          <p:cNvSpPr/>
          <p:nvPr/>
        </p:nvSpPr>
        <p:spPr>
          <a:xfrm>
            <a:off x="8439609" y="236317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59E8570-E7A8-94C2-4986-74566AC8164A}"/>
              </a:ext>
            </a:extLst>
          </p:cNvPr>
          <p:cNvSpPr/>
          <p:nvPr/>
        </p:nvSpPr>
        <p:spPr>
          <a:xfrm>
            <a:off x="8439608" y="318479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BA1AA2-82CA-3D3A-0432-CCB599247C83}"/>
              </a:ext>
            </a:extLst>
          </p:cNvPr>
          <p:cNvSpPr/>
          <p:nvPr/>
        </p:nvSpPr>
        <p:spPr>
          <a:xfrm>
            <a:off x="8439607" y="40064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7BDBBD7-8FB9-C0F7-DACA-F2FA76C23509}"/>
              </a:ext>
            </a:extLst>
          </p:cNvPr>
          <p:cNvSpPr/>
          <p:nvPr/>
        </p:nvSpPr>
        <p:spPr>
          <a:xfrm>
            <a:off x="8439607" y="482208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C3F7D101-A71F-2B05-309F-B1B7013D9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73814"/>
              </p:ext>
            </p:extLst>
          </p:nvPr>
        </p:nvGraphicFramePr>
        <p:xfrm>
          <a:off x="6006575" y="261309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C4C05B88-E1DF-69E4-36C3-70F52BEC6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96190"/>
              </p:ext>
            </p:extLst>
          </p:nvPr>
        </p:nvGraphicFramePr>
        <p:xfrm>
          <a:off x="6006575" y="285352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1975978C-877B-EC1F-EF16-8EA2222E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57471"/>
              </p:ext>
            </p:extLst>
          </p:nvPr>
        </p:nvGraphicFramePr>
        <p:xfrm>
          <a:off x="7253750" y="285283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A5D66833-B97C-6685-4F0D-5640E1311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37216"/>
              </p:ext>
            </p:extLst>
          </p:nvPr>
        </p:nvGraphicFramePr>
        <p:xfrm>
          <a:off x="8500921" y="285283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68786BC7-5E01-4B78-0628-429E95D94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410467"/>
              </p:ext>
            </p:extLst>
          </p:nvPr>
        </p:nvGraphicFramePr>
        <p:xfrm>
          <a:off x="6006575" y="368372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59E8EFA5-9AD5-0554-2374-BB98A4104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229062"/>
              </p:ext>
            </p:extLst>
          </p:nvPr>
        </p:nvGraphicFramePr>
        <p:xfrm>
          <a:off x="6006575" y="450871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30D0586D-DBF2-93D1-D9E8-529616EC4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210521"/>
              </p:ext>
            </p:extLst>
          </p:nvPr>
        </p:nvGraphicFramePr>
        <p:xfrm>
          <a:off x="6006575" y="531518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BB0665F2-1690-6F82-2C1E-DB49793DB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602897"/>
              </p:ext>
            </p:extLst>
          </p:nvPr>
        </p:nvGraphicFramePr>
        <p:xfrm>
          <a:off x="7249775" y="368918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5A3319F9-9162-A56C-ED33-4FC896BA5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046818"/>
              </p:ext>
            </p:extLst>
          </p:nvPr>
        </p:nvGraphicFramePr>
        <p:xfrm>
          <a:off x="7249775" y="451416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EC07CCCE-EDD5-443C-555F-7C536E9D1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787382"/>
              </p:ext>
            </p:extLst>
          </p:nvPr>
        </p:nvGraphicFramePr>
        <p:xfrm>
          <a:off x="7249775" y="53206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00455281-FAD1-A47C-0CB1-67080DB6A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042321"/>
              </p:ext>
            </p:extLst>
          </p:nvPr>
        </p:nvGraphicFramePr>
        <p:xfrm>
          <a:off x="8494814" y="36808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C6DE8A5A-DCA5-AB6A-D17D-5CB6D8498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324433"/>
              </p:ext>
            </p:extLst>
          </p:nvPr>
        </p:nvGraphicFramePr>
        <p:xfrm>
          <a:off x="8494814" y="450587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C60D7C91-0945-3AAA-9665-7F46E3C6F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765652"/>
              </p:ext>
            </p:extLst>
          </p:nvPr>
        </p:nvGraphicFramePr>
        <p:xfrm>
          <a:off x="8494814" y="53123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355FD883-304E-CDA6-F1BB-A8ECA00F6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29316"/>
              </p:ext>
            </p:extLst>
          </p:nvPr>
        </p:nvGraphicFramePr>
        <p:xfrm>
          <a:off x="6006575" y="3436915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B108A2C9-450F-BD54-AD3E-18D4261F5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011795"/>
              </p:ext>
            </p:extLst>
          </p:nvPr>
        </p:nvGraphicFramePr>
        <p:xfrm>
          <a:off x="7249775" y="261309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815B6027-E2F8-C946-0793-184D82F8F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184939"/>
              </p:ext>
            </p:extLst>
          </p:nvPr>
        </p:nvGraphicFramePr>
        <p:xfrm>
          <a:off x="6006575" y="42591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966096B1-FF1D-C2C5-E094-64D9ADE7E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836489"/>
              </p:ext>
            </p:extLst>
          </p:nvPr>
        </p:nvGraphicFramePr>
        <p:xfrm>
          <a:off x="7249775" y="344297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03F4E7DE-9B2F-1D4C-AAD7-3EACA7971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356728"/>
              </p:ext>
            </p:extLst>
          </p:nvPr>
        </p:nvGraphicFramePr>
        <p:xfrm>
          <a:off x="8494814" y="260921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6A66361B-BC2F-01E7-68B3-B80BBEBB5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91160"/>
              </p:ext>
            </p:extLst>
          </p:nvPr>
        </p:nvGraphicFramePr>
        <p:xfrm>
          <a:off x="8494814" y="50690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C75A72A7-04F5-1730-FA7B-CEA1A1AF0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657506"/>
              </p:ext>
            </p:extLst>
          </p:nvPr>
        </p:nvGraphicFramePr>
        <p:xfrm>
          <a:off x="7249775" y="50690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4901A6CC-370C-B707-3EF6-D7167E616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14805"/>
              </p:ext>
            </p:extLst>
          </p:nvPr>
        </p:nvGraphicFramePr>
        <p:xfrm>
          <a:off x="6006575" y="50690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FF942DA1-9432-7D5E-7AA0-3F0B9D468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65653"/>
              </p:ext>
            </p:extLst>
          </p:nvPr>
        </p:nvGraphicFramePr>
        <p:xfrm>
          <a:off x="7249775" y="42591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62C20AB5-A901-3BBC-EC2A-C68EAA3E1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461020"/>
              </p:ext>
            </p:extLst>
          </p:nvPr>
        </p:nvGraphicFramePr>
        <p:xfrm>
          <a:off x="8494814" y="343470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4F05E2F7-9EFE-ECE9-503F-A690202BA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10423"/>
              </p:ext>
            </p:extLst>
          </p:nvPr>
        </p:nvGraphicFramePr>
        <p:xfrm>
          <a:off x="8494814" y="425870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173F94E3-8627-7C40-ACB4-F485770A9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232024"/>
              </p:ext>
            </p:extLst>
          </p:nvPr>
        </p:nvGraphicFramePr>
        <p:xfrm>
          <a:off x="3844435" y="5757370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28815657-1AFB-B31A-0A8E-21716CF95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37624"/>
              </p:ext>
            </p:extLst>
          </p:nvPr>
        </p:nvGraphicFramePr>
        <p:xfrm>
          <a:off x="5091608" y="575165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D7172080-E127-80BD-54B7-DF9A1F884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58688"/>
              </p:ext>
            </p:extLst>
          </p:nvPr>
        </p:nvGraphicFramePr>
        <p:xfrm>
          <a:off x="6338781" y="5751650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4740FFDF-588C-BC60-63C0-7228D7D0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794557"/>
              </p:ext>
            </p:extLst>
          </p:nvPr>
        </p:nvGraphicFramePr>
        <p:xfrm>
          <a:off x="7585954" y="5751649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F98B770B-F11E-E8F4-CC60-D2B8AD176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918239"/>
              </p:ext>
            </p:extLst>
          </p:nvPr>
        </p:nvGraphicFramePr>
        <p:xfrm>
          <a:off x="8833127" y="5751649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E8672A4-1F87-0C9F-6952-CB367D2E8586}"/>
              </a:ext>
            </a:extLst>
          </p:cNvPr>
          <p:cNvCxnSpPr>
            <a:cxnSpLocks/>
          </p:cNvCxnSpPr>
          <p:nvPr/>
        </p:nvCxnSpPr>
        <p:spPr>
          <a:xfrm flipV="1">
            <a:off x="3450915" y="2530446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E932E15-E566-6BFB-E4FE-A995E50DAFF3}"/>
              </a:ext>
            </a:extLst>
          </p:cNvPr>
          <p:cNvCxnSpPr>
            <a:cxnSpLocks/>
          </p:cNvCxnSpPr>
          <p:nvPr/>
        </p:nvCxnSpPr>
        <p:spPr>
          <a:xfrm flipV="1">
            <a:off x="4698088" y="2522772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EE1302A8-F312-6EFD-121F-25718115F5E8}"/>
              </a:ext>
            </a:extLst>
          </p:cNvPr>
          <p:cNvCxnSpPr>
            <a:cxnSpLocks/>
          </p:cNvCxnSpPr>
          <p:nvPr/>
        </p:nvCxnSpPr>
        <p:spPr>
          <a:xfrm flipV="1">
            <a:off x="5944928" y="3346755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C187A6E-FD2A-3EC4-6473-84B1A918A8F0}"/>
              </a:ext>
            </a:extLst>
          </p:cNvPr>
          <p:cNvCxnSpPr>
            <a:cxnSpLocks/>
          </p:cNvCxnSpPr>
          <p:nvPr/>
        </p:nvCxnSpPr>
        <p:spPr>
          <a:xfrm flipV="1">
            <a:off x="7185752" y="4167749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ABB03FA-F1CA-3FE7-1EF7-168C22BB2104}"/>
              </a:ext>
            </a:extLst>
          </p:cNvPr>
          <p:cNvCxnSpPr>
            <a:cxnSpLocks/>
          </p:cNvCxnSpPr>
          <p:nvPr/>
        </p:nvCxnSpPr>
        <p:spPr>
          <a:xfrm flipV="1">
            <a:off x="8433008" y="4964965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143DDA8-BA54-8CD0-5E07-9BE3AF9C8BF0}"/>
              </a:ext>
            </a:extLst>
          </p:cNvPr>
          <p:cNvCxnSpPr>
            <a:cxnSpLocks/>
          </p:cNvCxnSpPr>
          <p:nvPr/>
        </p:nvCxnSpPr>
        <p:spPr>
          <a:xfrm flipV="1">
            <a:off x="3443668" y="2531424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0A318DF5-DB8E-AC71-B4AC-57F0B5FBF88E}"/>
              </a:ext>
            </a:extLst>
          </p:cNvPr>
          <p:cNvCxnSpPr>
            <a:cxnSpLocks/>
          </p:cNvCxnSpPr>
          <p:nvPr/>
        </p:nvCxnSpPr>
        <p:spPr>
          <a:xfrm flipV="1">
            <a:off x="3447260" y="2532456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13CD92F1-9E90-E00B-B1F5-CAD51C038298}"/>
              </a:ext>
            </a:extLst>
          </p:cNvPr>
          <p:cNvCxnSpPr>
            <a:cxnSpLocks/>
          </p:cNvCxnSpPr>
          <p:nvPr/>
        </p:nvCxnSpPr>
        <p:spPr>
          <a:xfrm flipV="1">
            <a:off x="3446346" y="2518905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E5D8968-B3BA-814B-0A19-C9BF9B2C9B90}"/>
              </a:ext>
            </a:extLst>
          </p:cNvPr>
          <p:cNvCxnSpPr>
            <a:cxnSpLocks/>
          </p:cNvCxnSpPr>
          <p:nvPr/>
        </p:nvCxnSpPr>
        <p:spPr>
          <a:xfrm>
            <a:off x="3448573" y="3005280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B3F32648-1A27-EEC7-715F-07ADC5EF5354}"/>
              </a:ext>
            </a:extLst>
          </p:cNvPr>
          <p:cNvCxnSpPr>
            <a:cxnSpLocks/>
          </p:cNvCxnSpPr>
          <p:nvPr/>
        </p:nvCxnSpPr>
        <p:spPr>
          <a:xfrm>
            <a:off x="3443656" y="3831898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AFB0F3C-8BEA-BF40-8865-9CDB10A4F4B3}"/>
              </a:ext>
            </a:extLst>
          </p:cNvPr>
          <p:cNvCxnSpPr>
            <a:cxnSpLocks/>
          </p:cNvCxnSpPr>
          <p:nvPr/>
        </p:nvCxnSpPr>
        <p:spPr>
          <a:xfrm>
            <a:off x="3444037" y="4662822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86845CFC-0771-8B1B-7319-94B42A4B40AB}"/>
              </a:ext>
            </a:extLst>
          </p:cNvPr>
          <p:cNvCxnSpPr>
            <a:cxnSpLocks/>
          </p:cNvCxnSpPr>
          <p:nvPr/>
        </p:nvCxnSpPr>
        <p:spPr>
          <a:xfrm>
            <a:off x="3445192" y="5466343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0122E46D-9ACD-DDC5-A91B-37C1839DB9E8}"/>
              </a:ext>
            </a:extLst>
          </p:cNvPr>
          <p:cNvCxnSpPr>
            <a:stCxn id="27" idx="2"/>
            <a:endCxn id="68" idx="0"/>
          </p:cNvCxnSpPr>
          <p:nvPr/>
        </p:nvCxnSpPr>
        <p:spPr>
          <a:xfrm flipH="1">
            <a:off x="3970444" y="5555371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2F7A5E94-2EEB-F8D0-1549-2E57AC3DEB42}"/>
              </a:ext>
            </a:extLst>
          </p:cNvPr>
          <p:cNvCxnSpPr>
            <a:cxnSpLocks/>
            <a:stCxn id="31" idx="2"/>
            <a:endCxn id="69" idx="0"/>
          </p:cNvCxnSpPr>
          <p:nvPr/>
        </p:nvCxnSpPr>
        <p:spPr>
          <a:xfrm flipH="1">
            <a:off x="5217617" y="5555371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2329D758-E18A-A0C1-301A-FE2FFFEDE478}"/>
              </a:ext>
            </a:extLst>
          </p:cNvPr>
          <p:cNvCxnSpPr>
            <a:cxnSpLocks/>
            <a:stCxn id="35" idx="2"/>
            <a:endCxn id="70" idx="0"/>
          </p:cNvCxnSpPr>
          <p:nvPr/>
        </p:nvCxnSpPr>
        <p:spPr>
          <a:xfrm flipH="1">
            <a:off x="6464790" y="5555371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FA879DE2-F63E-0A6A-82F8-F833FA41B88E}"/>
              </a:ext>
            </a:extLst>
          </p:cNvPr>
          <p:cNvCxnSpPr>
            <a:cxnSpLocks/>
            <a:stCxn id="39" idx="2"/>
            <a:endCxn id="71" idx="0"/>
          </p:cNvCxnSpPr>
          <p:nvPr/>
        </p:nvCxnSpPr>
        <p:spPr>
          <a:xfrm flipH="1">
            <a:off x="7711963" y="5555999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DFB38CD8-145F-81FF-AD51-D36C9D61E800}"/>
              </a:ext>
            </a:extLst>
          </p:cNvPr>
          <p:cNvCxnSpPr>
            <a:cxnSpLocks/>
            <a:stCxn id="43" idx="2"/>
            <a:endCxn id="72" idx="0"/>
          </p:cNvCxnSpPr>
          <p:nvPr/>
        </p:nvCxnSpPr>
        <p:spPr>
          <a:xfrm flipH="1">
            <a:off x="8959136" y="5555371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5AAE6426-94FD-F40B-D51C-8143E917B79D}"/>
              </a:ext>
            </a:extLst>
          </p:cNvPr>
          <p:cNvSpPr txBox="1"/>
          <p:nvPr/>
        </p:nvSpPr>
        <p:spPr>
          <a:xfrm>
            <a:off x="2582975" y="2760375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23D6828-36E9-F58D-E8AF-A8A304FE1C5E}"/>
              </a:ext>
            </a:extLst>
          </p:cNvPr>
          <p:cNvSpPr txBox="1"/>
          <p:nvPr/>
        </p:nvSpPr>
        <p:spPr>
          <a:xfrm>
            <a:off x="2582975" y="3433358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C98AED7-F719-F804-C297-8EEFE06AF434}"/>
              </a:ext>
            </a:extLst>
          </p:cNvPr>
          <p:cNvSpPr txBox="1"/>
          <p:nvPr/>
        </p:nvSpPr>
        <p:spPr>
          <a:xfrm>
            <a:off x="2582756" y="4258707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0646DD4-38D6-D920-5076-0CBFF6F13C4F}"/>
              </a:ext>
            </a:extLst>
          </p:cNvPr>
          <p:cNvSpPr txBox="1"/>
          <p:nvPr/>
        </p:nvSpPr>
        <p:spPr>
          <a:xfrm>
            <a:off x="2576551" y="5113986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BE5DC05-4363-1F4D-2D3B-A939127EF703}"/>
              </a:ext>
            </a:extLst>
          </p:cNvPr>
          <p:cNvSpPr txBox="1"/>
          <p:nvPr/>
        </p:nvSpPr>
        <p:spPr>
          <a:xfrm>
            <a:off x="4230131" y="5608197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0E2A705-CB97-51A6-66B8-3E5BCCE069A0}"/>
              </a:ext>
            </a:extLst>
          </p:cNvPr>
          <p:cNvSpPr txBox="1"/>
          <p:nvPr/>
        </p:nvSpPr>
        <p:spPr>
          <a:xfrm>
            <a:off x="5556772" y="5614407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IFM_5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DA1764A-562A-50A6-CC3C-54437E3A7551}"/>
              </a:ext>
            </a:extLst>
          </p:cNvPr>
          <p:cNvSpPr txBox="1"/>
          <p:nvPr/>
        </p:nvSpPr>
        <p:spPr>
          <a:xfrm>
            <a:off x="6797491" y="5604366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99EC1D6-698C-1437-AE56-625FA76280A7}"/>
              </a:ext>
            </a:extLst>
          </p:cNvPr>
          <p:cNvSpPr txBox="1"/>
          <p:nvPr/>
        </p:nvSpPr>
        <p:spPr>
          <a:xfrm>
            <a:off x="8166207" y="5573097"/>
            <a:ext cx="70628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IFM_7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36368F2-C887-B6DB-3D46-EACC93C67C1F}"/>
              </a:ext>
            </a:extLst>
          </p:cNvPr>
          <p:cNvSpPr txBox="1"/>
          <p:nvPr/>
        </p:nvSpPr>
        <p:spPr>
          <a:xfrm>
            <a:off x="1753949" y="2760375"/>
            <a:ext cx="82169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WGT_0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409F330-0910-A9E5-09D9-8F83871A0EA3}"/>
              </a:ext>
            </a:extLst>
          </p:cNvPr>
          <p:cNvSpPr txBox="1"/>
          <p:nvPr/>
        </p:nvSpPr>
        <p:spPr>
          <a:xfrm>
            <a:off x="1746608" y="3426516"/>
            <a:ext cx="82169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WGT_1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46B0918-1387-869E-0D91-F26CA22DAB1A}"/>
              </a:ext>
            </a:extLst>
          </p:cNvPr>
          <p:cNvSpPr txBox="1"/>
          <p:nvPr/>
        </p:nvSpPr>
        <p:spPr>
          <a:xfrm>
            <a:off x="1746734" y="4263180"/>
            <a:ext cx="82169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WGT_2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3C2D83B-61A6-9266-8961-35AFBA887DED}"/>
              </a:ext>
            </a:extLst>
          </p:cNvPr>
          <p:cNvSpPr txBox="1"/>
          <p:nvPr/>
        </p:nvSpPr>
        <p:spPr>
          <a:xfrm>
            <a:off x="1753402" y="5113986"/>
            <a:ext cx="82169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WGT_3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0648954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1273034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dirty="0">
                <a:latin typeface="맑은 고딕"/>
                <a:ea typeface="맑은 고딕"/>
              </a:rPr>
              <a:t>CONV_ACC</a:t>
            </a:r>
            <a:endParaRPr lang="en-US" sz="1500" dirty="0">
              <a:latin typeface="Malgun Gothic"/>
              <a:ea typeface="Malgun Gothic"/>
            </a:endParaRPr>
          </a:p>
          <a:p>
            <a:pPr marL="586212" lvl="1" indent="-185420"/>
            <a:r>
              <a:rPr lang="en-US" sz="1500" dirty="0">
                <a:latin typeface="Malgun Gothic"/>
                <a:ea typeface="Malgun Gothic"/>
              </a:rPr>
              <a:t>With PE_FSM module, control the operation of CONV_ACC</a:t>
            </a:r>
          </a:p>
          <a:p>
            <a:pPr marL="586105" lvl="1" indent="-185420"/>
            <a:r>
              <a:rPr lang="en-US" altLang="ko-KR" sz="1500" dirty="0" err="1">
                <a:latin typeface="Malgun Gothic"/>
                <a:ea typeface="Malgun Gothic"/>
              </a:rPr>
              <a:t>start_conv</a:t>
            </a:r>
            <a:r>
              <a:rPr lang="en-US" altLang="ko-KR" sz="1500" dirty="0">
                <a:latin typeface="Malgun Gothic"/>
                <a:ea typeface="Malgun Gothic"/>
              </a:rPr>
              <a:t> signal rises when all transactions are done, </a:t>
            </a:r>
            <a:r>
              <a:rPr lang="en-US" altLang="ko-KR" sz="1500" dirty="0" err="1">
                <a:latin typeface="Malgun Gothic"/>
                <a:ea typeface="Malgun Gothic"/>
              </a:rPr>
              <a:t>cfg_ci</a:t>
            </a:r>
            <a:r>
              <a:rPr lang="en-US" altLang="ko-KR" sz="1500" dirty="0">
                <a:latin typeface="Malgun Gothic"/>
                <a:ea typeface="Malgun Gothic"/>
              </a:rPr>
              <a:t> and </a:t>
            </a:r>
            <a:r>
              <a:rPr lang="en-US" altLang="ko-KR" sz="1500" dirty="0" err="1">
                <a:latin typeface="Malgun Gothic"/>
                <a:ea typeface="Malgun Gothic"/>
              </a:rPr>
              <a:t>cfg_co</a:t>
            </a:r>
            <a:r>
              <a:rPr lang="en-US" altLang="ko-KR" sz="1500" dirty="0">
                <a:latin typeface="Malgun Gothic"/>
                <a:ea typeface="Malgun Gothic"/>
              </a:rPr>
              <a:t> are sent from the host.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586105" lvl="1" indent="-185420"/>
            <a:r>
              <a:rPr lang="en-US" altLang="ko-KR" sz="1500" dirty="0" err="1">
                <a:latin typeface="Malgun Gothic"/>
                <a:ea typeface="Malgun Gothic"/>
              </a:rPr>
              <a:t>ifm_read</a:t>
            </a:r>
            <a:r>
              <a:rPr lang="en-US" altLang="ko-KR" sz="1500" dirty="0">
                <a:latin typeface="Malgun Gothic"/>
                <a:ea typeface="Malgun Gothic"/>
              </a:rPr>
              <a:t> and </a:t>
            </a:r>
            <a:r>
              <a:rPr lang="en-US" altLang="ko-KR" sz="1500" dirty="0" err="1">
                <a:latin typeface="Malgun Gothic"/>
                <a:ea typeface="Malgun Gothic"/>
              </a:rPr>
              <a:t>wgt_read</a:t>
            </a:r>
            <a:r>
              <a:rPr lang="en-US" altLang="ko-KR" sz="1500" dirty="0">
                <a:latin typeface="Malgun Gothic"/>
                <a:ea typeface="Malgun Gothic"/>
              </a:rPr>
              <a:t> signals generated in </a:t>
            </a:r>
            <a:r>
              <a:rPr lang="en-US" altLang="ko-KR" sz="1500" dirty="0" err="1">
                <a:latin typeface="Malgun Gothic"/>
                <a:ea typeface="Malgun Gothic"/>
              </a:rPr>
              <a:t>conv_acc</a:t>
            </a:r>
            <a:r>
              <a:rPr lang="en-US" altLang="ko-KR" sz="1500" dirty="0">
                <a:latin typeface="Malgun Gothic"/>
                <a:ea typeface="Malgun Gothic"/>
              </a:rPr>
              <a:t> module requesting </a:t>
            </a:r>
            <a:r>
              <a:rPr lang="en-US" altLang="ko-KR" sz="1500" dirty="0" err="1">
                <a:latin typeface="Malgun Gothic"/>
                <a:ea typeface="Malgun Gothic"/>
              </a:rPr>
              <a:t>ifm</a:t>
            </a:r>
            <a:r>
              <a:rPr lang="en-US" altLang="ko-KR" sz="1500" dirty="0">
                <a:latin typeface="Malgun Gothic"/>
                <a:ea typeface="Malgun Gothic"/>
              </a:rPr>
              <a:t> and </a:t>
            </a:r>
            <a:r>
              <a:rPr lang="en-US" altLang="ko-KR" sz="1500" dirty="0" err="1">
                <a:latin typeface="Malgun Gothic"/>
                <a:ea typeface="Malgun Gothic"/>
              </a:rPr>
              <a:t>wgt</a:t>
            </a:r>
            <a:r>
              <a:rPr lang="en-US" altLang="ko-KR" sz="1500" dirty="0">
                <a:latin typeface="Malgun Gothic"/>
                <a:ea typeface="Malgun Gothic"/>
              </a:rPr>
              <a:t> input</a:t>
            </a:r>
          </a:p>
          <a:p>
            <a:pPr marL="586105" lvl="1" indent="-185420"/>
            <a:r>
              <a:rPr lang="en-US" altLang="ko-KR" sz="1500" dirty="0" err="1">
                <a:latin typeface="Malgun Gothic"/>
                <a:ea typeface="Malgun Gothic"/>
              </a:rPr>
              <a:t>end_conv</a:t>
            </a:r>
            <a:r>
              <a:rPr lang="en-US" altLang="ko-KR" sz="1500" dirty="0">
                <a:latin typeface="Malgun Gothic"/>
                <a:ea typeface="Malgun Gothic"/>
              </a:rPr>
              <a:t> </a:t>
            </a:r>
            <a:r>
              <a:rPr lang="en-US" altLang="ko-KR" sz="1500" dirty="0" err="1">
                <a:latin typeface="Malgun Gothic"/>
                <a:ea typeface="Malgun Gothic"/>
              </a:rPr>
              <a:t>singal</a:t>
            </a:r>
            <a:r>
              <a:rPr lang="en-US" altLang="ko-KR" sz="1500" dirty="0">
                <a:latin typeface="Malgun Gothic"/>
                <a:ea typeface="Malgun Gothic"/>
              </a:rPr>
              <a:t> indicates all convolution for designated input and output size and channel are done</a:t>
            </a:r>
          </a:p>
          <a:p>
            <a:pPr marL="586212" lvl="1" indent="-185420"/>
            <a:endParaRPr lang="en-US" sz="1500" dirty="0">
              <a:latin typeface="Malgun Gothic"/>
              <a:ea typeface="Malgun Gothic"/>
            </a:endParaRPr>
          </a:p>
          <a:p>
            <a:pPr marL="586212" lvl="1" indent="-185420"/>
            <a:endParaRPr lang="en-US" sz="1500" dirty="0">
              <a:latin typeface="Malgun Gothic"/>
              <a:ea typeface="Malgun Gothic"/>
            </a:endParaRPr>
          </a:p>
          <a:p>
            <a:pPr marL="586212" lvl="1" indent="-185420"/>
            <a:endParaRPr lang="en-US" sz="1500" dirty="0">
              <a:latin typeface="Malgun Gothic"/>
              <a:ea typeface="Malgun Gothic"/>
            </a:endParaRPr>
          </a:p>
          <a:p>
            <a:pPr marL="586212" lvl="1" indent="-185420"/>
            <a:endParaRPr lang="en-US" sz="1500" dirty="0">
              <a:latin typeface="Malgun Gothic"/>
              <a:ea typeface="Malgun Gothic"/>
            </a:endParaRPr>
          </a:p>
          <a:p>
            <a:pPr marL="586212" lvl="1" indent="-185420"/>
            <a:endParaRPr lang="en-US" sz="1500" dirty="0">
              <a:latin typeface="Malgun Gothic"/>
              <a:ea typeface="Malgun Gothic"/>
            </a:endParaRPr>
          </a:p>
          <a:p>
            <a:pPr marL="586212" lvl="1" indent="-185420"/>
            <a:endParaRPr lang="en-US" sz="1500" dirty="0">
              <a:latin typeface="Malgun Gothic"/>
              <a:ea typeface="Malgun Gothic"/>
            </a:endParaRPr>
          </a:p>
          <a:p>
            <a:pPr marL="586212" lvl="1" indent="-185420"/>
            <a:r>
              <a:rPr lang="en-US" sz="1500" dirty="0">
                <a:latin typeface="Malgun Gothic"/>
                <a:ea typeface="Malgun Gothic"/>
              </a:rPr>
              <a:t>Modify cnt3 to actual number of tiles </a:t>
            </a:r>
          </a:p>
          <a:p>
            <a:pPr marL="998001" lvl="2" indent="-185420"/>
            <a:r>
              <a:rPr lang="en-US" sz="1200" dirty="0">
                <a:latin typeface="Malgun Gothic"/>
                <a:ea typeface="Malgun Gothic"/>
              </a:rPr>
              <a:t>(cnt1 = 19, initialize buffer for 3 cycle, process </a:t>
            </a:r>
            <a:r>
              <a:rPr lang="en-US" sz="1200" dirty="0" err="1">
                <a:latin typeface="Malgun Gothic"/>
                <a:ea typeface="Malgun Gothic"/>
              </a:rPr>
              <a:t>ifm</a:t>
            </a:r>
            <a:r>
              <a:rPr lang="en-US" sz="1200" dirty="0">
                <a:latin typeface="Malgun Gothic"/>
                <a:ea typeface="Malgun Gothic"/>
              </a:rPr>
              <a:t> and </a:t>
            </a:r>
            <a:r>
              <a:rPr lang="en-US" sz="1200" dirty="0" err="1">
                <a:latin typeface="Malgun Gothic"/>
                <a:ea typeface="Malgun Gothic"/>
              </a:rPr>
              <a:t>wgt</a:t>
            </a:r>
            <a:r>
              <a:rPr lang="en-US" sz="1200" dirty="0">
                <a:latin typeface="Malgun Gothic"/>
                <a:ea typeface="Malgun Gothic"/>
              </a:rPr>
              <a:t> for tile length(width = 16), 19 = 3 + 16)</a:t>
            </a:r>
          </a:p>
          <a:p>
            <a:pPr marL="998001" lvl="2" indent="-185420"/>
            <a:r>
              <a:rPr lang="en-US" altLang="ko-KR" sz="1200" dirty="0">
                <a:latin typeface="Malgun Gothic"/>
                <a:ea typeface="Malgun Gothic"/>
              </a:rPr>
              <a:t>cnt2 = 8 = input channel #</a:t>
            </a:r>
          </a:p>
          <a:p>
            <a:pPr marL="998001" lvl="2" indent="-185420"/>
            <a:r>
              <a:rPr lang="en-US" altLang="ko-KR" sz="1200" dirty="0">
                <a:latin typeface="Malgun Gothic"/>
                <a:ea typeface="Malgun Gothic"/>
              </a:rPr>
              <a:t>cnt3 = 8 * 52 = output channel # * required tile #,  required tile # = 52 = 13 * 4 (5 rows / tile, 4 columns / tile, -&gt; [61/5] , [61/16]) </a:t>
            </a:r>
          </a:p>
          <a:p>
            <a:pPr marL="998001" lvl="2" indent="-185420"/>
            <a:r>
              <a:rPr lang="en-US" altLang="ko-KR" sz="1200" dirty="0">
                <a:latin typeface="Malgun Gothic"/>
                <a:ea typeface="Malgun Gothic"/>
              </a:rPr>
              <a:t>, cnt1 * cnt2 * cnt3 = 19 * 8 * 8 * (4 * 13) = 63232 (total cycle)</a:t>
            </a:r>
            <a:endParaRPr lang="en-US" sz="1200" dirty="0">
              <a:latin typeface="Malgun Gothic"/>
              <a:ea typeface="Malgun Gothic"/>
            </a:endParaRPr>
          </a:p>
          <a:p>
            <a:pPr marL="400792" lvl="1" indent="0">
              <a:buNone/>
            </a:pPr>
            <a:endParaRPr lang="en-US" sz="1500" dirty="0">
              <a:latin typeface="Malgun Gothic"/>
              <a:ea typeface="Malgun Gothic"/>
            </a:endParaRPr>
          </a:p>
          <a:p>
            <a:pPr marL="400792" lvl="1" indent="0">
              <a:buNone/>
            </a:pPr>
            <a:endParaRPr lang="en-US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185420" indent="-185420"/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6</a:t>
            </a:fld>
            <a:endParaRPr lang="ko-KR" altLang="en-US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8DC8F065-B5F1-1C76-A1EF-B570217B3133}"/>
              </a:ext>
            </a:extLst>
          </p:cNvPr>
          <p:cNvGrpSpPr/>
          <p:nvPr/>
        </p:nvGrpSpPr>
        <p:grpSpPr>
          <a:xfrm>
            <a:off x="921329" y="2897540"/>
            <a:ext cx="9806245" cy="1238423"/>
            <a:chOff x="838202" y="3429000"/>
            <a:chExt cx="9806245" cy="123842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6FE4038-CFB8-07B2-929C-7A1A521B0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2" y="3429000"/>
              <a:ext cx="9716856" cy="123842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04C1F40-4675-0647-767D-EFDC461AC974}"/>
                </a:ext>
              </a:extLst>
            </p:cNvPr>
            <p:cNvSpPr/>
            <p:nvPr/>
          </p:nvSpPr>
          <p:spPr>
            <a:xfrm>
              <a:off x="4364182" y="3574473"/>
              <a:ext cx="989214" cy="224443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D7D4FA4-0D67-FF98-64A3-73ACA1151A12}"/>
                </a:ext>
              </a:extLst>
            </p:cNvPr>
            <p:cNvSpPr/>
            <p:nvPr/>
          </p:nvSpPr>
          <p:spPr>
            <a:xfrm>
              <a:off x="9655233" y="3935989"/>
              <a:ext cx="989214" cy="224443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7994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1098874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IFM / WGT buffer</a:t>
            </a:r>
          </a:p>
          <a:p>
            <a:pPr marL="586212" lvl="1" indent="-185420"/>
            <a:r>
              <a:rPr lang="en-US" altLang="ko-KR" sz="1500" dirty="0">
                <a:latin typeface="Malgun Gothic"/>
                <a:ea typeface="Malgun Gothic"/>
              </a:rPr>
              <a:t>Using ‘</a:t>
            </a:r>
            <a:r>
              <a:rPr lang="en-US" altLang="ko-KR" sz="1500" dirty="0" err="1">
                <a:latin typeface="Malgun Gothic"/>
                <a:ea typeface="Malgun Gothic"/>
              </a:rPr>
              <a:t>rmst_req</a:t>
            </a:r>
            <a:r>
              <a:rPr lang="en-US" altLang="ko-KR" sz="1500" dirty="0">
                <a:latin typeface="Malgun Gothic"/>
                <a:ea typeface="Malgun Gothic"/>
              </a:rPr>
              <a:t>’, receive data from Global memory by 512-bit width</a:t>
            </a:r>
          </a:p>
          <a:p>
            <a:pPr marL="586212" lvl="1" indent="-185420"/>
            <a:endParaRPr lang="en-US" altLang="ko-KR" dirty="0">
              <a:latin typeface="Malgun Gothic"/>
              <a:ea typeface="Malgun Gothic"/>
            </a:endParaRPr>
          </a:p>
          <a:p>
            <a:pPr marL="586212" lvl="1" indent="-185420"/>
            <a:endParaRPr lang="en-US" altLang="ko-KR" dirty="0">
              <a:latin typeface="Malgun Gothic"/>
              <a:ea typeface="Malgun Gothic"/>
            </a:endParaRPr>
          </a:p>
          <a:p>
            <a:pPr marL="586212" lvl="1" indent="-185420"/>
            <a:r>
              <a:rPr lang="en-US" altLang="ko-KR" sz="1500" dirty="0">
                <a:latin typeface="Malgun Gothic"/>
                <a:ea typeface="Malgun Gothic"/>
              </a:rPr>
              <a:t>Using </a:t>
            </a:r>
            <a:r>
              <a:rPr lang="en-US" altLang="ko-KR" sz="1500" dirty="0" err="1">
                <a:latin typeface="Malgun Gothic"/>
                <a:ea typeface="Malgun Gothic"/>
              </a:rPr>
              <a:t>addr_cnt</a:t>
            </a:r>
            <a:r>
              <a:rPr lang="ko-KR" altLang="en-US" sz="1500" dirty="0">
                <a:latin typeface="Malgun Gothic"/>
                <a:ea typeface="Malgun Gothic"/>
              </a:rPr>
              <a:t> </a:t>
            </a:r>
            <a:r>
              <a:rPr lang="en-US" altLang="ko-KR" sz="1500" dirty="0">
                <a:latin typeface="Malgun Gothic"/>
                <a:ea typeface="Malgun Gothic"/>
              </a:rPr>
              <a:t>to</a:t>
            </a:r>
            <a:r>
              <a:rPr lang="ko-KR" altLang="en-US" sz="1500" dirty="0">
                <a:latin typeface="Malgun Gothic"/>
                <a:ea typeface="Malgun Gothic"/>
              </a:rPr>
              <a:t> </a:t>
            </a:r>
            <a:r>
              <a:rPr lang="en-US" altLang="ko-KR" sz="1500" dirty="0">
                <a:latin typeface="Malgun Gothic"/>
                <a:ea typeface="Malgun Gothic"/>
              </a:rPr>
              <a:t>receive data sequentially (Cannot receive full data in one time)</a:t>
            </a:r>
          </a:p>
          <a:p>
            <a:pPr marL="586212" lvl="1" indent="-185420"/>
            <a:r>
              <a:rPr lang="en-US" altLang="ko-KR" sz="1500" dirty="0">
                <a:latin typeface="Malgun Gothic"/>
                <a:ea typeface="Malgun Gothic"/>
              </a:rPr>
              <a:t>To provide </a:t>
            </a:r>
            <a:r>
              <a:rPr lang="en-US" altLang="ko-KR" sz="1500" dirty="0" err="1">
                <a:latin typeface="Malgun Gothic"/>
                <a:ea typeface="Malgun Gothic"/>
              </a:rPr>
              <a:t>ifm</a:t>
            </a:r>
            <a:r>
              <a:rPr lang="en-US" altLang="ko-KR" sz="1500" dirty="0">
                <a:latin typeface="Malgun Gothic"/>
                <a:ea typeface="Malgun Gothic"/>
              </a:rPr>
              <a:t> and </a:t>
            </a:r>
            <a:r>
              <a:rPr lang="en-US" altLang="ko-KR" sz="1500" dirty="0" err="1">
                <a:latin typeface="Malgun Gothic"/>
                <a:ea typeface="Malgun Gothic"/>
              </a:rPr>
              <a:t>wgt</a:t>
            </a:r>
            <a:r>
              <a:rPr lang="en-US" altLang="ko-KR" sz="1500" dirty="0">
                <a:latin typeface="Malgun Gothic"/>
                <a:ea typeface="Malgun Gothic"/>
              </a:rPr>
              <a:t> in each cycle, put all of </a:t>
            </a:r>
            <a:r>
              <a:rPr lang="en-US" altLang="ko-KR" sz="1500" dirty="0" err="1">
                <a:latin typeface="Malgun Gothic"/>
                <a:ea typeface="Malgun Gothic"/>
              </a:rPr>
              <a:t>ifm</a:t>
            </a:r>
            <a:r>
              <a:rPr lang="en-US" altLang="ko-KR" sz="1500" dirty="0">
                <a:latin typeface="Malgun Gothic"/>
                <a:ea typeface="Malgun Gothic"/>
              </a:rPr>
              <a:t> and </a:t>
            </a:r>
            <a:r>
              <a:rPr lang="en-US" altLang="ko-KR" sz="1500" dirty="0" err="1">
                <a:latin typeface="Malgun Gothic"/>
                <a:ea typeface="Malgun Gothic"/>
              </a:rPr>
              <a:t>wgt</a:t>
            </a:r>
            <a:r>
              <a:rPr lang="en-US" altLang="ko-KR" sz="1500" dirty="0">
                <a:latin typeface="Malgun Gothic"/>
                <a:ea typeface="Malgun Gothic"/>
              </a:rPr>
              <a:t> that need to operate into FIFO, then generate start signal</a:t>
            </a:r>
          </a:p>
          <a:p>
            <a:pPr marL="586212" lvl="1" indent="-185420"/>
            <a:r>
              <a:rPr lang="en-US" altLang="ko-KR" sz="1500" dirty="0">
                <a:latin typeface="Malgun Gothic"/>
                <a:ea typeface="Malgun Gothic"/>
              </a:rPr>
              <a:t>Based on 8 channel input, each buffer size is 64KB to accommodate 63232 byte of </a:t>
            </a:r>
            <a:r>
              <a:rPr lang="en-US" altLang="ko-KR" sz="1500" dirty="0" err="1">
                <a:latin typeface="Malgun Gothic"/>
                <a:ea typeface="Malgun Gothic"/>
              </a:rPr>
              <a:t>ifm</a:t>
            </a:r>
            <a:r>
              <a:rPr lang="en-US" altLang="ko-KR" sz="1500" dirty="0">
                <a:latin typeface="Malgun Gothic"/>
                <a:ea typeface="Malgun Gothic"/>
              </a:rPr>
              <a:t> and 53248 byte of </a:t>
            </a:r>
            <a:r>
              <a:rPr lang="en-US" altLang="ko-KR" sz="1500" dirty="0" err="1">
                <a:latin typeface="Malgun Gothic"/>
                <a:ea typeface="Malgun Gothic"/>
              </a:rPr>
              <a:t>wgt</a:t>
            </a:r>
            <a:r>
              <a:rPr lang="en-US" altLang="ko-KR" sz="1500" dirty="0">
                <a:latin typeface="Malgun Gothic"/>
                <a:ea typeface="Malgun Gothic"/>
              </a:rPr>
              <a:t> respectively</a:t>
            </a: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DAA136-4C0A-BFA8-8034-F4301B7E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88" y="3855594"/>
            <a:ext cx="8484223" cy="21232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16A5E9D-0C33-4C36-6089-00B494D91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643" y="1813625"/>
            <a:ext cx="6173061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637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66661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Parser</a:t>
            </a:r>
            <a:endParaRPr lang="en-US" altLang="ko-KR" sz="1500" dirty="0">
              <a:latin typeface="맑은 고딕"/>
              <a:ea typeface="맑은 고딕"/>
            </a:endParaRP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In </a:t>
            </a:r>
            <a:r>
              <a:rPr lang="en-US" altLang="ko-KR" sz="1500" dirty="0" err="1">
                <a:latin typeface="맑은 고딕"/>
                <a:ea typeface="맑은 고딕"/>
              </a:rPr>
              <a:t>Fifo</a:t>
            </a:r>
            <a:r>
              <a:rPr lang="en-US" altLang="ko-KR" sz="1500" dirty="0">
                <a:latin typeface="맑은 고딕"/>
                <a:ea typeface="맑은 고딕"/>
              </a:rPr>
              <a:t> buffer, </a:t>
            </a:r>
            <a:r>
              <a:rPr lang="en-US" altLang="ko-KR" sz="1500" dirty="0" err="1">
                <a:latin typeface="맑은 고딕"/>
                <a:ea typeface="맑은 고딕"/>
              </a:rPr>
              <a:t>ifm</a:t>
            </a:r>
            <a:r>
              <a:rPr lang="en-US" altLang="ko-KR" sz="1500" dirty="0">
                <a:latin typeface="맑은 고딕"/>
                <a:ea typeface="맑은 고딕"/>
              </a:rPr>
              <a:t> and </a:t>
            </a:r>
            <a:r>
              <a:rPr lang="en-US" altLang="ko-KR" sz="1500" dirty="0" err="1">
                <a:latin typeface="맑은 고딕"/>
                <a:ea typeface="맑은 고딕"/>
              </a:rPr>
              <a:t>wgt</a:t>
            </a:r>
            <a:r>
              <a:rPr lang="en-US" altLang="ko-KR" sz="1500" dirty="0">
                <a:latin typeface="맑은 고딕"/>
                <a:ea typeface="맑은 고딕"/>
              </a:rPr>
              <a:t> stored 512bit width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In CONV_ACC module, </a:t>
            </a:r>
            <a:r>
              <a:rPr lang="en-US" altLang="ko-KR" sz="1500" dirty="0" err="1">
                <a:latin typeface="맑은 고딕"/>
                <a:ea typeface="맑은 고딕"/>
              </a:rPr>
              <a:t>ifm</a:t>
            </a:r>
            <a:r>
              <a:rPr lang="en-US" altLang="ko-KR" sz="1500" dirty="0">
                <a:latin typeface="맑은 고딕"/>
                <a:ea typeface="맑은 고딕"/>
              </a:rPr>
              <a:t> &amp; </a:t>
            </a:r>
            <a:r>
              <a:rPr lang="en-US" altLang="ko-KR" sz="1500" dirty="0" err="1">
                <a:latin typeface="맑은 고딕"/>
                <a:ea typeface="맑은 고딕"/>
              </a:rPr>
              <a:t>wgt</a:t>
            </a:r>
            <a:r>
              <a:rPr lang="en-US" altLang="ko-KR" sz="1500" dirty="0">
                <a:latin typeface="맑은 고딕"/>
                <a:ea typeface="맑은 고딕"/>
              </a:rPr>
              <a:t> is 64-bit, 32-bit respectively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Divide 512-bit data to 64-bit, 32-bit and connect to CONV_ACC module</a:t>
            </a: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36A07E-B7C6-A205-047A-6DB5F436F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49" y="2723281"/>
            <a:ext cx="4855101" cy="268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671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288977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Flatter</a:t>
            </a:r>
            <a:endParaRPr lang="en-US" altLang="ko-KR" sz="1500" dirty="0">
              <a:latin typeface="맑은 고딕"/>
              <a:ea typeface="맑은 고딕"/>
            </a:endParaRP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Make 32 bits by adding 7'b000_000 to the incoming </a:t>
            </a:r>
            <a:r>
              <a:rPr lang="en-US" altLang="ko-KR" sz="1500" dirty="0" err="1">
                <a:latin typeface="맑은 고딕"/>
                <a:ea typeface="맑은 고딕"/>
              </a:rPr>
              <a:t>ofm_port</a:t>
            </a:r>
            <a:r>
              <a:rPr lang="en-US" altLang="ko-KR" sz="1500" dirty="0">
                <a:latin typeface="맑은 고딕"/>
                <a:ea typeface="맑은 고딕"/>
              </a:rPr>
              <a:t> (25 bit) value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Each output port send one row for 16 cycles, 4 bytes each</a:t>
            </a:r>
          </a:p>
          <a:p>
            <a:pPr marL="586212" lvl="1" indent="-185420"/>
            <a:r>
              <a:rPr lang="en-US" altLang="ko-KR" sz="1500" dirty="0"/>
              <a:t>Merge all the </a:t>
            </a:r>
            <a:r>
              <a:rPr lang="en-US" altLang="ko-KR" sz="1500" b="0" i="0" dirty="0">
                <a:solidFill>
                  <a:srgbClr val="000000"/>
                </a:solidFill>
                <a:effectLst/>
              </a:rPr>
              <a:t>output to FIFO and write it to global memory using 512bit AXI write channel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AXI write operations are performed through two bursts when more than one piece of data is stacked in the FIFO.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CFAEDB-2271-666C-FA12-C1483CC5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3159160"/>
            <a:ext cx="9821646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806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8806141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Read/Write master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Using 2 Read master to receive IFM (Input Feature Map) data and WGT (Weight) data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1 Write master to send 512-bit data to Global memory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946C21-7B1C-302D-8336-FE19545CF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020" y="2179991"/>
            <a:ext cx="4987960" cy="38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5825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824554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 err="1">
                <a:latin typeface="맑은 고딕"/>
                <a:ea typeface="맑은 고딕"/>
              </a:rPr>
              <a:t>krnl_acc</a:t>
            </a:r>
            <a:r>
              <a:rPr lang="en-US" altLang="ko-KR" dirty="0">
                <a:latin typeface="맑은 고딕"/>
                <a:ea typeface="맑은 고딕"/>
              </a:rPr>
              <a:t> control signal (</a:t>
            </a:r>
            <a:r>
              <a:rPr lang="en-US" altLang="ko-KR" dirty="0"/>
              <a:t>Host to kernel communication by </a:t>
            </a:r>
            <a:r>
              <a:rPr lang="en-US" altLang="ko-KR" dirty="0" err="1"/>
              <a:t>axi</a:t>
            </a:r>
            <a:r>
              <a:rPr lang="en-US" altLang="ko-KR" dirty="0"/>
              <a:t>-lite control slave)</a:t>
            </a:r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맑은 고딕"/>
              <a:ea typeface="맑은 고딕"/>
            </a:endParaRP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Compatible with </a:t>
            </a:r>
            <a:r>
              <a:rPr lang="en-US" altLang="ko-KR" sz="1500" dirty="0" err="1">
                <a:latin typeface="맑은 고딕"/>
                <a:ea typeface="맑은 고딕"/>
              </a:rPr>
              <a:t>ap_chain</a:t>
            </a:r>
            <a:r>
              <a:rPr lang="en-US" altLang="ko-KR" sz="1500" dirty="0">
                <a:latin typeface="맑은 고딕"/>
                <a:ea typeface="맑은 고딕"/>
              </a:rPr>
              <a:t> block level control protocol, operating by </a:t>
            </a:r>
            <a:r>
              <a:rPr lang="en-US" altLang="ko-KR" sz="1500" dirty="0" err="1">
                <a:latin typeface="맑은 고딕"/>
                <a:ea typeface="맑은 고딕"/>
              </a:rPr>
              <a:t>ap_start</a:t>
            </a:r>
            <a:r>
              <a:rPr lang="en-US" altLang="ko-KR" sz="1500" dirty="0">
                <a:latin typeface="맑은 고딕"/>
                <a:ea typeface="맑은 고딕"/>
              </a:rPr>
              <a:t>, </a:t>
            </a:r>
            <a:r>
              <a:rPr lang="en-US" altLang="ko-KR" sz="1500" dirty="0" err="1">
                <a:latin typeface="맑은 고딕"/>
                <a:ea typeface="맑은 고딕"/>
              </a:rPr>
              <a:t>ap_continue</a:t>
            </a:r>
            <a:r>
              <a:rPr lang="en-US" altLang="ko-KR" sz="1500" dirty="0">
                <a:latin typeface="맑은 고딕"/>
                <a:ea typeface="맑은 고딕"/>
              </a:rPr>
              <a:t> , </a:t>
            </a:r>
            <a:r>
              <a:rPr lang="en-US" altLang="ko-KR" sz="1500" dirty="0" err="1">
                <a:latin typeface="맑은 고딕"/>
                <a:ea typeface="맑은 고딕"/>
              </a:rPr>
              <a:t>ap_ready</a:t>
            </a:r>
            <a:r>
              <a:rPr lang="en-US" altLang="ko-KR" sz="1500" dirty="0">
                <a:latin typeface="맑은 고딕"/>
                <a:ea typeface="맑은 고딕"/>
              </a:rPr>
              <a:t>, </a:t>
            </a:r>
            <a:r>
              <a:rPr lang="en-US" altLang="ko-KR" sz="1500" dirty="0" err="1">
                <a:latin typeface="맑은 고딕"/>
                <a:ea typeface="맑은 고딕"/>
              </a:rPr>
              <a:t>ap_idle</a:t>
            </a:r>
            <a:r>
              <a:rPr lang="en-US" altLang="ko-KR" sz="1500" dirty="0">
                <a:latin typeface="맑은 고딕"/>
                <a:ea typeface="맑은 고딕"/>
              </a:rPr>
              <a:t>, </a:t>
            </a:r>
            <a:r>
              <a:rPr lang="en-US" altLang="ko-KR" sz="1500" dirty="0" err="1">
                <a:latin typeface="맑은 고딕"/>
                <a:ea typeface="맑은 고딕"/>
              </a:rPr>
              <a:t>ap_done</a:t>
            </a:r>
            <a:r>
              <a:rPr lang="en-US" altLang="ko-KR" sz="1500" dirty="0">
                <a:latin typeface="맑은 고딕"/>
                <a:ea typeface="맑은 고딕"/>
              </a:rPr>
              <a:t> signals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When both </a:t>
            </a:r>
            <a:r>
              <a:rPr lang="en-US" altLang="ko-KR" sz="1500" dirty="0" err="1">
                <a:latin typeface="맑은 고딕"/>
                <a:ea typeface="맑은 고딕"/>
              </a:rPr>
              <a:t>ap_start</a:t>
            </a:r>
            <a:r>
              <a:rPr lang="en-US" altLang="ko-KR" sz="1500" dirty="0">
                <a:latin typeface="맑은 고딕"/>
                <a:ea typeface="맑은 고딕"/>
              </a:rPr>
              <a:t> and </a:t>
            </a:r>
            <a:r>
              <a:rPr lang="en-US" altLang="ko-KR" sz="1500" dirty="0" err="1">
                <a:latin typeface="맑은 고딕"/>
                <a:ea typeface="맑은 고딕"/>
              </a:rPr>
              <a:t>ap_ready</a:t>
            </a:r>
            <a:r>
              <a:rPr lang="en-US" altLang="ko-KR" sz="1500" dirty="0">
                <a:latin typeface="맑은 고딕"/>
                <a:ea typeface="맑은 고딕"/>
              </a:rPr>
              <a:t> are asserted, reset </a:t>
            </a:r>
            <a:r>
              <a:rPr lang="en-US" altLang="ko-KR" sz="1500" dirty="0" err="1">
                <a:latin typeface="맑은 고딕"/>
                <a:ea typeface="맑은 고딕"/>
              </a:rPr>
              <a:t>ifm</a:t>
            </a:r>
            <a:r>
              <a:rPr lang="en-US" altLang="ko-KR" sz="1500" dirty="0">
                <a:latin typeface="맑은 고딕"/>
                <a:ea typeface="맑은 고딕"/>
              </a:rPr>
              <a:t> and </a:t>
            </a:r>
            <a:r>
              <a:rPr lang="en-US" altLang="ko-KR" sz="1500" dirty="0" err="1">
                <a:latin typeface="맑은 고딕"/>
                <a:ea typeface="맑은 고딕"/>
              </a:rPr>
              <a:t>wgt</a:t>
            </a:r>
            <a:r>
              <a:rPr lang="en-US" altLang="ko-KR" sz="1500" dirty="0">
                <a:latin typeface="맑은 고딕"/>
                <a:ea typeface="맑은 고딕"/>
              </a:rPr>
              <a:t> buffer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When </a:t>
            </a:r>
            <a:r>
              <a:rPr lang="en-US" altLang="ko-KR" sz="1500" dirty="0" err="1">
                <a:latin typeface="맑은 고딕"/>
                <a:ea typeface="맑은 고딕"/>
              </a:rPr>
              <a:t>ifm</a:t>
            </a:r>
            <a:r>
              <a:rPr lang="en-US" altLang="ko-KR" sz="1500" dirty="0">
                <a:latin typeface="맑은 고딕"/>
                <a:ea typeface="맑은 고딕"/>
              </a:rPr>
              <a:t> buffer and </a:t>
            </a:r>
            <a:r>
              <a:rPr lang="en-US" altLang="ko-KR" sz="1500" dirty="0" err="1">
                <a:latin typeface="맑은 고딕"/>
                <a:ea typeface="맑은 고딕"/>
              </a:rPr>
              <a:t>wgt</a:t>
            </a:r>
            <a:r>
              <a:rPr lang="en-US" altLang="ko-KR" sz="1500" dirty="0">
                <a:latin typeface="맑은 고딕"/>
                <a:ea typeface="맑은 고딕"/>
              </a:rPr>
              <a:t> buffer are ready, asserting </a:t>
            </a:r>
            <a:r>
              <a:rPr lang="en-US" altLang="ko-KR" sz="1500" dirty="0" err="1">
                <a:latin typeface="맑은 고딕"/>
                <a:ea typeface="맑은 고딕"/>
              </a:rPr>
              <a:t>start_conv</a:t>
            </a:r>
            <a:r>
              <a:rPr lang="en-US" altLang="ko-KR" sz="1500" dirty="0">
                <a:latin typeface="맑은 고딕"/>
                <a:ea typeface="맑은 고딕"/>
              </a:rPr>
              <a:t> to start operation</a:t>
            </a:r>
          </a:p>
          <a:p>
            <a:pPr marL="586212" lvl="1" indent="-185420"/>
            <a:r>
              <a:rPr lang="en-US" altLang="ko-KR" sz="1500" dirty="0">
                <a:latin typeface="맑은 고딕"/>
                <a:ea typeface="맑은 고딕"/>
              </a:rPr>
              <a:t>Save the output in the </a:t>
            </a:r>
            <a:r>
              <a:rPr lang="en-US" altLang="ko-KR" sz="1500" dirty="0" err="1">
                <a:latin typeface="맑은 고딕"/>
                <a:ea typeface="맑은 고딕"/>
              </a:rPr>
              <a:t>ofm</a:t>
            </a:r>
            <a:r>
              <a:rPr lang="en-US" altLang="ko-KR" sz="1500" dirty="0">
                <a:latin typeface="맑은 고딕"/>
                <a:ea typeface="맑은 고딕"/>
              </a:rPr>
              <a:t> buffer, and write the output to the global memory through the write master when more than one output is stacked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37619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824554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Re arrange data</a:t>
            </a: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Data order needs to be rearranged for sequential use of data</a:t>
            </a: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Resolving the problem of redundant use of rearranged data will reduce the buffer size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12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B1173B-D2C5-57C6-AAFB-DFC5D384C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43" y="2533169"/>
            <a:ext cx="5175157" cy="13914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C6ADF7-8972-A715-9EAB-315C4A523E9F}"/>
              </a:ext>
            </a:extLst>
          </p:cNvPr>
          <p:cNvSpPr txBox="1"/>
          <p:nvPr/>
        </p:nvSpPr>
        <p:spPr>
          <a:xfrm>
            <a:off x="964795" y="3868641"/>
            <a:ext cx="5281625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Tile # rows = [64/5] = 13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Tile # </a:t>
            </a:r>
            <a:r>
              <a:rPr kumimoji="0" lang="en-US" altLang="ko-KR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colums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= </a:t>
            </a:r>
            <a:r>
              <a:rPr lang="en-US" altLang="ko-KR" dirty="0"/>
              <a:t>64/16 = 4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 err="1"/>
              <a:t>Tile_length</a:t>
            </a:r>
            <a:r>
              <a:rPr lang="en-US" altLang="ko-KR" dirty="0"/>
              <a:t> + (</a:t>
            </a:r>
            <a:r>
              <a:rPr lang="en-US" altLang="ko-KR" dirty="0" err="1"/>
              <a:t>kernel_size</a:t>
            </a:r>
            <a:r>
              <a:rPr lang="en-US" altLang="ko-KR" dirty="0"/>
              <a:t> – 1) = 19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Total rearrange input size = 63232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Input size before rearrange = 64*64*8 = 32768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37F19-BE8B-87FB-3EE9-C12FD50ADD38}"/>
              </a:ext>
            </a:extLst>
          </p:cNvPr>
          <p:cNvSpPr txBox="1"/>
          <p:nvPr/>
        </p:nvSpPr>
        <p:spPr>
          <a:xfrm>
            <a:off x="6609226" y="3924635"/>
            <a:ext cx="5281625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kk = kernel size (4)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Total rearranged weight size = 53248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Weight size before rearrange = 4*4*8*8= 1024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1FF82A3-8BB4-AE6E-EAF6-DB2D86C2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652" y="2533169"/>
            <a:ext cx="4769146" cy="14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6789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577041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Re arrange data</a:t>
            </a: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Also, output data need to be rearranged</a:t>
            </a:r>
          </a:p>
          <a:p>
            <a:pPr marL="586212" lvl="1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The output size of the kernel is 133,120 byte</a:t>
            </a:r>
          </a:p>
          <a:p>
            <a:pPr marL="400792" lvl="1" indent="0">
              <a:buNone/>
            </a:pPr>
            <a:r>
              <a:rPr lang="en-US" altLang="ko-KR" sz="1600" dirty="0">
                <a:latin typeface="맑은 고딕"/>
                <a:ea typeface="맑은 고딕"/>
              </a:rPr>
              <a:t>= (# of tile * # of output channel * output / tile * 4 byte</a:t>
            </a:r>
          </a:p>
          <a:p>
            <a:pPr marL="400792" lvl="1" indent="0">
              <a:buNone/>
            </a:pPr>
            <a:r>
              <a:rPr lang="en-US" altLang="ko-KR" sz="1600" dirty="0">
                <a:latin typeface="맑은 고딕"/>
                <a:ea typeface="맑은 고딕"/>
              </a:rPr>
              <a:t>= 52 * 8 * 16 * 5 * 4 = 133,120</a:t>
            </a:r>
          </a:p>
          <a:p>
            <a:pPr marL="400792" lvl="1" indent="0">
              <a:buNone/>
            </a:pPr>
            <a:endParaRPr lang="en-US" altLang="ko-KR" dirty="0">
              <a:latin typeface="맑은 고딕"/>
              <a:ea typeface="맑은 고딕"/>
            </a:endParaRPr>
          </a:p>
          <a:p>
            <a:pPr marL="686542" lvl="1" indent="-285750"/>
            <a:r>
              <a:rPr lang="en-US" altLang="ko-KR" dirty="0">
                <a:latin typeface="맑은 고딕"/>
                <a:ea typeface="맑은 고딕"/>
              </a:rPr>
              <a:t>Actual output data is 61 * 61 * 8 * 4 = 119,072</a:t>
            </a:r>
          </a:p>
          <a:p>
            <a:pPr marL="400792" lvl="1" indent="0">
              <a:buNone/>
            </a:pPr>
            <a:r>
              <a:rPr lang="en-US" altLang="ko-KR" sz="1500" dirty="0">
                <a:latin typeface="맑은 고딕"/>
                <a:ea typeface="맑은 고딕"/>
              </a:rPr>
              <a:t>(output height * output width * output channel * 4 byte)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13</a:t>
            </a:fld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E934491-46DF-100D-0DAF-F8F92B399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978" y="1792288"/>
            <a:ext cx="4500957" cy="32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8782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971808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Does the Buffer have to contain all the data?</a:t>
            </a: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Kernel’s data requirement - </a:t>
            </a:r>
            <a:r>
              <a:rPr lang="en-US" altLang="ko-KR" dirty="0" err="1">
                <a:latin typeface="맑은 고딕"/>
                <a:ea typeface="맑은 고딕"/>
              </a:rPr>
              <a:t>ifm</a:t>
            </a:r>
            <a:r>
              <a:rPr lang="en-US" altLang="ko-KR" dirty="0">
                <a:latin typeface="맑은 고딕"/>
                <a:ea typeface="맑은 고딕"/>
              </a:rPr>
              <a:t> : 8 byte / cycle = 2.4Gb/s (for 300Mhz)</a:t>
            </a: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Kernel’s output - </a:t>
            </a:r>
            <a:r>
              <a:rPr lang="en-US" altLang="ko-KR" dirty="0" err="1">
                <a:latin typeface="맑은 고딕"/>
                <a:ea typeface="맑은 고딕"/>
              </a:rPr>
              <a:t>ofm</a:t>
            </a:r>
            <a:r>
              <a:rPr lang="en-US" altLang="ko-KR" dirty="0">
                <a:latin typeface="맑은 고딕"/>
                <a:ea typeface="맑은 고딕"/>
              </a:rPr>
              <a:t> : 320 byte / 19*8 cycle = 631Mb/s</a:t>
            </a:r>
          </a:p>
          <a:p>
            <a:pPr marL="586212" lvl="1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All less than the bandwidth of the AXI interface</a:t>
            </a:r>
          </a:p>
          <a:p>
            <a:pPr marL="586212" lvl="1" indent="-185420"/>
            <a:r>
              <a:rPr lang="en-US" altLang="ko-KR" dirty="0">
                <a:latin typeface="맑은 고딕"/>
                <a:ea typeface="맑은 고딕"/>
              </a:rPr>
              <a:t>Designing with Global memory -&gt; small buffer -&gt; kernel will reduce buffer size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39300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971808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Hardware emulation result</a:t>
            </a:r>
          </a:p>
          <a:p>
            <a:pPr marL="3420760" lvl="8" indent="-342900"/>
            <a:r>
              <a:rPr lang="en-US" altLang="ko-KR" dirty="0">
                <a:latin typeface="맑은 고딕"/>
                <a:ea typeface="맑은 고딕"/>
              </a:rPr>
              <a:t>                 </a:t>
            </a:r>
          </a:p>
          <a:p>
            <a:pPr marL="3420760" lvl="8" indent="-342900"/>
            <a:endParaRPr lang="en-US" altLang="ko-KR" dirty="0">
              <a:latin typeface="맑은 고딕"/>
              <a:ea typeface="맑은 고딕"/>
            </a:endParaRPr>
          </a:p>
          <a:p>
            <a:pPr marL="3420760" lvl="8" indent="-342900"/>
            <a:endParaRPr lang="en-US" altLang="ko-KR" dirty="0">
              <a:latin typeface="맑은 고딕"/>
              <a:ea typeface="맑은 고딕"/>
            </a:endParaRPr>
          </a:p>
          <a:p>
            <a:pPr marL="3077860" lvl="8" indent="0">
              <a:buNone/>
            </a:pPr>
            <a:r>
              <a:rPr lang="en-US" altLang="ko-KR" dirty="0">
                <a:latin typeface="맑은 고딕"/>
                <a:ea typeface="맑은 고딕"/>
              </a:rPr>
              <a:t>                    Validate results</a:t>
            </a:r>
          </a:p>
          <a:p>
            <a:pPr marL="3077860" lvl="8" indent="0">
              <a:buNone/>
            </a:pPr>
            <a:endParaRPr lang="en-US" altLang="ko-KR" dirty="0">
              <a:latin typeface="맑은 고딕"/>
              <a:ea typeface="맑은 고딕"/>
            </a:endParaRP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D0B8D2-1340-FFA4-100E-B3A759733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1542318"/>
            <a:ext cx="4435897" cy="397261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5FB358D-9076-B997-187F-603FE30DA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935" y="3095400"/>
            <a:ext cx="5934075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82534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971808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Result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0" indent="0">
              <a:buNone/>
            </a:pPr>
            <a:r>
              <a:rPr lang="en-US" altLang="ko-KR" dirty="0">
                <a:latin typeface="맑은 고딕"/>
                <a:ea typeface="맑은 고딕"/>
              </a:rPr>
              <a:t>Total # of </a:t>
            </a:r>
            <a:r>
              <a:rPr lang="en-US" altLang="ko-KR" dirty="0" err="1">
                <a:latin typeface="맑은 고딕"/>
                <a:ea typeface="맑은 고딕"/>
              </a:rPr>
              <a:t>precessing</a:t>
            </a:r>
            <a:r>
              <a:rPr lang="en-US" altLang="ko-KR" dirty="0">
                <a:latin typeface="맑은 고딕"/>
                <a:ea typeface="맑은 고딕"/>
              </a:rPr>
              <a:t> / group : 61 * 61 * 16 * 8 * 8 = 3721 KB</a:t>
            </a:r>
          </a:p>
          <a:p>
            <a:pPr marL="0" indent="0">
              <a:buNone/>
            </a:pPr>
            <a:r>
              <a:rPr lang="en-US" altLang="ko-KR" dirty="0">
                <a:latin typeface="맑은 고딕"/>
                <a:ea typeface="맑은 고딕"/>
              </a:rPr>
              <a:t>Group # : 1024</a:t>
            </a:r>
          </a:p>
          <a:p>
            <a:pPr marL="0" indent="0">
              <a:buNone/>
            </a:pPr>
            <a:r>
              <a:rPr lang="en-US" altLang="ko-KR" dirty="0">
                <a:latin typeface="맑은 고딕"/>
                <a:ea typeface="맑은 고딕"/>
              </a:rPr>
              <a:t>Execution time = 304.233 </a:t>
            </a:r>
            <a:r>
              <a:rPr lang="en-US" altLang="ko-KR" dirty="0" err="1">
                <a:latin typeface="맑은 고딕"/>
                <a:ea typeface="맑은 고딕"/>
              </a:rPr>
              <a:t>ms</a:t>
            </a:r>
            <a:r>
              <a:rPr lang="en-US" altLang="ko-KR" dirty="0">
                <a:latin typeface="맑은 고딕"/>
                <a:ea typeface="맑은 고딕"/>
              </a:rPr>
              <a:t> (1024 group)</a:t>
            </a:r>
          </a:p>
          <a:p>
            <a:pPr marL="0" indent="0">
              <a:buNone/>
            </a:pPr>
            <a:r>
              <a:rPr lang="en-US" altLang="ko-KR" dirty="0">
                <a:latin typeface="맑은 고딕"/>
                <a:ea typeface="맑은 고딕"/>
              </a:rPr>
              <a:t>Throughput = 12230.8 MB/s</a:t>
            </a:r>
          </a:p>
          <a:p>
            <a:pPr marL="3420760" lvl="8" indent="-342900"/>
            <a:endParaRPr lang="en-US" altLang="ko-KR" dirty="0">
              <a:latin typeface="맑은 고딕"/>
              <a:ea typeface="맑은 고딕"/>
            </a:endParaRPr>
          </a:p>
          <a:p>
            <a:pPr marL="3420760" lvl="8" indent="-342900"/>
            <a:endParaRPr lang="en-US" altLang="ko-KR" dirty="0">
              <a:latin typeface="맑은 고딕"/>
              <a:ea typeface="맑은 고딕"/>
            </a:endParaRPr>
          </a:p>
          <a:p>
            <a:pPr marL="3077860" lvl="8" indent="0">
              <a:buNone/>
            </a:pPr>
            <a:r>
              <a:rPr lang="en-US" altLang="ko-KR" dirty="0">
                <a:latin typeface="맑은 고딕"/>
                <a:ea typeface="맑은 고딕"/>
              </a:rPr>
              <a:t>                    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FBC7B1-E0AB-AAC7-B9CF-1F78A987B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50" y="3501872"/>
            <a:ext cx="6652161" cy="23952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FB544CB-9BF5-6A68-A492-0FA7DA6DF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187" y="2309787"/>
            <a:ext cx="3496163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1650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CONV_ACC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971808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Result</a:t>
            </a:r>
          </a:p>
          <a:p>
            <a:pPr marL="3077860" lvl="8" indent="0">
              <a:buNone/>
            </a:pPr>
            <a:endParaRPr lang="en-US" altLang="ko-KR" dirty="0">
              <a:latin typeface="맑은 고딕"/>
              <a:ea typeface="맑은 고딕"/>
            </a:endParaRPr>
          </a:p>
          <a:p>
            <a:pPr marL="3420760" lvl="8" indent="-342900"/>
            <a:endParaRPr lang="en-US" altLang="ko-KR" dirty="0">
              <a:latin typeface="맑은 고딕"/>
              <a:ea typeface="맑은 고딕"/>
            </a:endParaRPr>
          </a:p>
          <a:p>
            <a:pPr marL="3077860" lvl="8" indent="0">
              <a:buNone/>
            </a:pPr>
            <a:r>
              <a:rPr lang="en-US" altLang="ko-KR" dirty="0">
                <a:latin typeface="맑은 고딕"/>
                <a:ea typeface="맑은 고딕"/>
              </a:rPr>
              <a:t>                    </a:t>
            </a:r>
          </a:p>
          <a:p>
            <a:pPr marL="185420" indent="-185420"/>
            <a:endParaRPr lang="en-US" altLang="ko-KR" dirty="0">
              <a:latin typeface="맑은 고딕"/>
              <a:ea typeface="맑은 고딕"/>
            </a:endParaRPr>
          </a:p>
          <a:p>
            <a:pPr marL="586212" lvl="1" indent="-185420"/>
            <a:endParaRPr lang="en-US" altLang="ko-KR" sz="1500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185420" indent="-185420"/>
            <a:endParaRPr lang="en-US" altLang="ko-KR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>
              <a:buFont typeface="Calibri" panose="020B0503020000020004" pitchFamily="50" charset="-127"/>
              <a:buChar char="-"/>
            </a:pPr>
            <a:endParaRPr lang="en-US" altLang="ko-KR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E9DF5D-CD8C-DFA0-9EDC-92B48B750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1656608"/>
            <a:ext cx="10534465" cy="19208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FDA2F9-33A6-CFAD-FC86-F178A7ECD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614" y="3662138"/>
            <a:ext cx="8415647" cy="218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9903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Possible improvements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18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CA085E5-C564-F0FD-5C87-5FB25A688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515601" cy="4909103"/>
          </a:xfrm>
        </p:spPr>
        <p:txBody>
          <a:bodyPr lIns="45719" tIns="45720" rIns="45719" bIns="45720" anchor="t">
            <a:normAutofit lnSpcReduction="10000"/>
          </a:bodyPr>
          <a:lstStyle/>
          <a:p>
            <a:pPr marL="185420" indent="-185420"/>
            <a:r>
              <a:rPr lang="ko-KR" altLang="en-US" dirty="0" err="1"/>
              <a:t>Reducing</a:t>
            </a:r>
            <a:r>
              <a:rPr lang="ko-KR" altLang="en-US" dirty="0"/>
              <a:t> </a:t>
            </a:r>
            <a:r>
              <a:rPr lang="ko-KR" altLang="en-US" dirty="0" err="1"/>
              <a:t>buffer</a:t>
            </a:r>
            <a:r>
              <a:rPr lang="ko-KR" altLang="en-US" dirty="0"/>
              <a:t> </a:t>
            </a:r>
            <a:r>
              <a:rPr lang="ko-KR" altLang="en-US" dirty="0" err="1"/>
              <a:t>size</a:t>
            </a:r>
            <a:endParaRPr lang="ko-KR" altLang="en-US" dirty="0"/>
          </a:p>
          <a:p>
            <a:pPr marL="586105" lvl="1" indent="-214630"/>
            <a:r>
              <a:rPr lang="ko-KR" altLang="en-US" dirty="0" err="1"/>
              <a:t>Throuput</a:t>
            </a:r>
            <a:r>
              <a:rPr lang="ko-KR" altLang="en-US" dirty="0"/>
              <a:t> of </a:t>
            </a:r>
            <a:r>
              <a:rPr lang="ko-KR" altLang="en-US" dirty="0" err="1"/>
              <a:t>kernel</a:t>
            </a:r>
            <a:r>
              <a:rPr lang="ko-KR" altLang="en-US" dirty="0"/>
              <a:t> </a:t>
            </a:r>
            <a:r>
              <a:rPr lang="ko-KR" altLang="en-US" dirty="0" err="1"/>
              <a:t>is</a:t>
            </a:r>
            <a:r>
              <a:rPr lang="ko-KR" altLang="en-US" dirty="0"/>
              <a:t> </a:t>
            </a:r>
            <a:r>
              <a:rPr lang="ko-KR" altLang="en-US" dirty="0" err="1"/>
              <a:t>relatively</a:t>
            </a:r>
            <a:r>
              <a:rPr lang="ko-KR" altLang="en-US" dirty="0"/>
              <a:t> </a:t>
            </a:r>
            <a:r>
              <a:rPr lang="ko-KR" altLang="en-US" dirty="0" err="1"/>
              <a:t>small</a:t>
            </a:r>
            <a:r>
              <a:rPr lang="ko-KR" altLang="en-US" dirty="0"/>
              <a:t> </a:t>
            </a:r>
            <a:r>
              <a:rPr lang="ko-KR" altLang="en-US" dirty="0" err="1"/>
              <a:t>so</a:t>
            </a:r>
            <a:r>
              <a:rPr lang="ko-KR" altLang="en-US" dirty="0"/>
              <a:t> </a:t>
            </a:r>
            <a:r>
              <a:rPr lang="ko-KR" altLang="en-US" dirty="0" err="1"/>
              <a:t>kernel</a:t>
            </a:r>
            <a:r>
              <a:rPr lang="ko-KR" altLang="en-US" dirty="0"/>
              <a:t> </a:t>
            </a:r>
            <a:r>
              <a:rPr lang="ko-KR" altLang="en-US" dirty="0" err="1"/>
              <a:t>operation</a:t>
            </a:r>
            <a:r>
              <a:rPr lang="ko-KR" altLang="en-US" dirty="0"/>
              <a:t> </a:t>
            </a:r>
            <a:r>
              <a:rPr lang="ko-KR" altLang="en-US" dirty="0" err="1"/>
              <a:t>can</a:t>
            </a:r>
            <a:r>
              <a:rPr lang="ko-KR" altLang="en-US" dirty="0"/>
              <a:t> </a:t>
            </a:r>
            <a:r>
              <a:rPr lang="ko-KR" altLang="en-US" dirty="0" err="1"/>
              <a:t>be</a:t>
            </a:r>
            <a:r>
              <a:rPr lang="ko-KR" altLang="en-US" dirty="0"/>
              <a:t> </a:t>
            </a:r>
            <a:r>
              <a:rPr lang="ko-KR" altLang="en-US" dirty="0" err="1"/>
              <a:t>done</a:t>
            </a:r>
            <a:r>
              <a:rPr lang="ko-KR" altLang="en-US" dirty="0"/>
              <a:t> </a:t>
            </a:r>
            <a:r>
              <a:rPr lang="ko-KR" altLang="en-US" dirty="0" err="1"/>
              <a:t>by</a:t>
            </a:r>
            <a:r>
              <a:rPr lang="ko-KR" altLang="en-US" dirty="0"/>
              <a:t> </a:t>
            </a:r>
            <a:r>
              <a:rPr lang="ko-KR" altLang="en-US" dirty="0" err="1"/>
              <a:t>much</a:t>
            </a:r>
            <a:r>
              <a:rPr lang="ko-KR" altLang="en-US" dirty="0"/>
              <a:t> </a:t>
            </a:r>
            <a:r>
              <a:rPr lang="ko-KR" altLang="en-US" dirty="0" err="1"/>
              <a:t>smaller</a:t>
            </a:r>
            <a:r>
              <a:rPr lang="ko-KR" altLang="en-US" dirty="0"/>
              <a:t> </a:t>
            </a:r>
            <a:r>
              <a:rPr lang="ko-KR" altLang="en-US" dirty="0" err="1"/>
              <a:t>buffer</a:t>
            </a:r>
            <a:r>
              <a:rPr lang="ko-KR" altLang="en-US" dirty="0"/>
              <a:t> </a:t>
            </a:r>
            <a:r>
              <a:rPr lang="ko-KR" altLang="en-US" dirty="0" err="1"/>
              <a:t>size</a:t>
            </a:r>
            <a:endParaRPr lang="ko-KR" altLang="en-US" dirty="0"/>
          </a:p>
          <a:p>
            <a:pPr marL="586105" lvl="1" indent="-214630"/>
            <a:endParaRPr lang="ko-KR" altLang="en-US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altLang="ko-KR" dirty="0">
                <a:latin typeface="Malgun Gothic"/>
                <a:ea typeface="Malgun Gothic"/>
              </a:rPr>
              <a:t>DSP utilization</a:t>
            </a:r>
          </a:p>
          <a:p>
            <a:pPr marL="586105" lvl="1" indent="-214630"/>
            <a:r>
              <a:rPr lang="en-US" altLang="ko-KR" dirty="0">
                <a:latin typeface="Malgun Gothic"/>
                <a:ea typeface="Malgun Gothic"/>
              </a:rPr>
              <a:t>DSP modules could be used to combine the currently pipelined multiplication steps into one step.</a:t>
            </a:r>
          </a:p>
          <a:p>
            <a:pPr marL="586105" lvl="1" indent="-214630"/>
            <a:endParaRPr lang="en-US" altLang="ko-KR" dirty="0">
              <a:latin typeface="Malgun Gothic"/>
              <a:ea typeface="Malgun Gothic"/>
            </a:endParaRPr>
          </a:p>
          <a:p>
            <a:pPr marL="185313" indent="-214630"/>
            <a:r>
              <a:rPr lang="en-US" altLang="ko-KR" dirty="0">
                <a:latin typeface="Malgun Gothic"/>
                <a:ea typeface="Malgun Gothic"/>
              </a:rPr>
              <a:t>Increase clock speed</a:t>
            </a:r>
          </a:p>
          <a:p>
            <a:pPr marL="586105" lvl="1" indent="-214630"/>
            <a:r>
              <a:rPr lang="en-US" altLang="ko-KR" dirty="0">
                <a:latin typeface="Malgun Gothic"/>
                <a:ea typeface="Malgun Gothic"/>
              </a:rPr>
              <a:t>It may be possible to change the clock, which is currently 300Mhz, to 500MHz through the clock converter</a:t>
            </a:r>
          </a:p>
          <a:p>
            <a:pPr marL="586105" lvl="1" indent="-214630"/>
            <a:endParaRPr lang="en-US" altLang="ko-KR" dirty="0">
              <a:latin typeface="Malgun Gothic"/>
              <a:ea typeface="Malgun Gothic"/>
            </a:endParaRPr>
          </a:p>
          <a:p>
            <a:pPr marL="185420" indent="-185420">
              <a:buFont typeface="Arial,Sans-Serif" panose="020B0503020000020004" pitchFamily="50" charset="-127"/>
              <a:buChar char="•"/>
            </a:pPr>
            <a:r>
              <a:rPr lang="en-US" altLang="ko-KR" dirty="0">
                <a:latin typeface="Malgun Gothic"/>
                <a:ea typeface="Malgun Gothic"/>
              </a:rPr>
              <a:t>Optimizing tiling to reduce overhead</a:t>
            </a:r>
          </a:p>
          <a:p>
            <a:pPr marL="586105" lvl="1" indent="-214630">
              <a:buFont typeface="Calibri" panose="020B0503020000020004" pitchFamily="50" charset="-127"/>
              <a:buChar char="-"/>
            </a:pPr>
            <a:r>
              <a:rPr lang="en-US" dirty="0">
                <a:latin typeface="Malgun Gothic"/>
                <a:ea typeface="Malgun Gothic"/>
              </a:rPr>
              <a:t>Tile size and </a:t>
            </a:r>
            <a:r>
              <a:rPr lang="en-US" dirty="0" err="1">
                <a:latin typeface="Malgun Gothic"/>
                <a:ea typeface="Malgun Gothic"/>
              </a:rPr>
              <a:t>ifm</a:t>
            </a:r>
            <a:r>
              <a:rPr lang="en-US" dirty="0">
                <a:latin typeface="Malgun Gothic"/>
                <a:ea typeface="Malgun Gothic"/>
              </a:rPr>
              <a:t>/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 size are not optimized and many meaningless calculations are done</a:t>
            </a:r>
          </a:p>
          <a:p>
            <a:pPr marL="586105" lvl="1" indent="-214630">
              <a:buFont typeface="Calibri" panose="020B0503020000020004" pitchFamily="50" charset="-127"/>
              <a:buChar char="-"/>
            </a:pPr>
            <a:r>
              <a:rPr lang="en-US" dirty="0">
                <a:latin typeface="Malgun Gothic"/>
                <a:ea typeface="Malgun Gothic"/>
              </a:rPr>
              <a:t>Tile length, number of pe arrays, </a:t>
            </a:r>
            <a:r>
              <a:rPr lang="en-US" dirty="0" err="1">
                <a:latin typeface="Malgun Gothic"/>
                <a:ea typeface="Malgun Gothic"/>
              </a:rPr>
              <a:t>ifm</a:t>
            </a:r>
            <a:r>
              <a:rPr lang="en-US" dirty="0">
                <a:latin typeface="Malgun Gothic"/>
                <a:ea typeface="Malgun Gothic"/>
              </a:rPr>
              <a:t>/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 size might be optimized</a:t>
            </a:r>
          </a:p>
          <a:p>
            <a:pPr marL="586105" lvl="1" indent="-214630">
              <a:buFont typeface="Arial,Sans-Serif" panose="020B0503020000020004" pitchFamily="50" charset="-127"/>
              <a:buChar char="•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Arial,Sans-Serif" panose="020B0503020000020004" pitchFamily="50" charset="-127"/>
              <a:buChar char="•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Arial,Sans-Serif" panose="020B0503020000020004" pitchFamily="50" charset="-127"/>
              <a:buChar char="•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1411233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22936</TotalTime>
  <Words>1190</Words>
  <Application>Microsoft Office PowerPoint</Application>
  <PresentationFormat>와이드스크린</PresentationFormat>
  <Paragraphs>439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Arial,Sans-Serif</vt:lpstr>
      <vt:lpstr>나눔스퀘어 ExtraBold</vt:lpstr>
      <vt:lpstr>맑은 고딕</vt:lpstr>
      <vt:lpstr>맑은 고딕</vt:lpstr>
      <vt:lpstr>Arial</vt:lpstr>
      <vt:lpstr>Calibri</vt:lpstr>
      <vt:lpstr>Helvetica</vt:lpstr>
      <vt:lpstr>Office 테마</vt:lpstr>
      <vt:lpstr>CNN Accelerator on FPGA</vt:lpstr>
      <vt:lpstr>Table of Contents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CONV_ACC Design</vt:lpstr>
      <vt:lpstr>Possible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동범 손</cp:lastModifiedBy>
  <cp:revision>820</cp:revision>
  <dcterms:created xsi:type="dcterms:W3CDTF">2020-05-23T05:02:16Z</dcterms:created>
  <dcterms:modified xsi:type="dcterms:W3CDTF">2023-09-07T06:13:46Z</dcterms:modified>
</cp:coreProperties>
</file>