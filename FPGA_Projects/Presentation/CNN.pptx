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758" r:id="rId2"/>
    <p:sldId id="757" r:id="rId3"/>
    <p:sldId id="751" r:id="rId4"/>
    <p:sldId id="752" r:id="rId5"/>
    <p:sldId id="750" r:id="rId6"/>
    <p:sldId id="753" r:id="rId7"/>
    <p:sldId id="760" r:id="rId8"/>
    <p:sldId id="759" r:id="rId9"/>
    <p:sldId id="754" r:id="rId10"/>
    <p:sldId id="755" r:id="rId11"/>
    <p:sldId id="756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0AFF"/>
    <a:srgbClr val="34805D"/>
    <a:srgbClr val="98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2941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Main Title</a:t>
            </a:r>
            <a:endParaRPr dirty="0"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 dirty="0"/>
              <a:t>이름</a:t>
            </a:r>
            <a:endParaRPr dirty="0"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 dirty="0"/>
              <a:t>Sub title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 dirty="0"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umin35@hanya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lbiog3025@hanyang.ac.kr" TargetMode="External"/><Relationship Id="rId4" Type="http://schemas.openxmlformats.org/officeDocument/2006/relationships/hyperlink" Target="mailto:kkyou123@hanyang.ac.k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CNN Accelerator</a:t>
            </a:r>
            <a:endParaRPr lang="ko-KR" altLang="en-US" sz="4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AIHA-Intern-2023-NPU</a:t>
            </a:r>
          </a:p>
          <a:p>
            <a:endParaRPr lang="en-US" altLang="ko-KR" sz="2800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D5C8AE0E-B703-F753-449B-C0A76C88AA37}"/>
              </a:ext>
            </a:extLst>
          </p:cNvPr>
          <p:cNvSpPr txBox="1">
            <a:spLocks/>
          </p:cNvSpPr>
          <p:nvPr/>
        </p:nvSpPr>
        <p:spPr>
          <a:xfrm>
            <a:off x="1676400" y="3814318"/>
            <a:ext cx="9144000" cy="182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371465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742932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114397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485863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sz="2800"/>
              <a:t>Dongbeom Son / Wonbin Seo / Sumin Lee</a:t>
            </a:r>
          </a:p>
          <a:p>
            <a:pPr hangingPunct="1"/>
            <a:r>
              <a:rPr lang="en-US" altLang="ko-KR" sz="1600">
                <a:hlinkClick r:id="rId3"/>
              </a:rPr>
              <a:t>bumin35@hanyang.ac.kr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4"/>
              </a:rPr>
              <a:t>kkyou123@hanyang.ac.kr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5"/>
              </a:rPr>
              <a:t>slbiog3025@hanyang.ac.kr</a:t>
            </a:r>
            <a:endParaRPr lang="en-US" altLang="ko-KR" sz="2000"/>
          </a:p>
          <a:p>
            <a:pPr hangingPunct="1"/>
            <a:r>
              <a:rPr lang="en-US" altLang="ko-KR" sz="2000"/>
              <a:t>2023 aiha-intern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922197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CF5-727C-405F-A1C0-1E7FA145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0855-1356-4CA7-A5CD-4D7CA0E4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7111" y="1299713"/>
            <a:ext cx="5155274" cy="5029650"/>
          </a:xfrm>
        </p:spPr>
        <p:txBody>
          <a:bodyPr lIns="45719" tIns="45720" rIns="45719" bIns="45720" anchor="t">
            <a:normAutofit/>
          </a:bodyPr>
          <a:lstStyle/>
          <a:p>
            <a:pPr marL="313583" indent="-342900"/>
            <a:r>
              <a:rPr lang="en-US" altLang="ko-KR" dirty="0"/>
              <a:t>Consideration for </a:t>
            </a:r>
            <a:r>
              <a:rPr lang="en-US" altLang="ko-KR" dirty="0" err="1"/>
              <a:t>Alveo</a:t>
            </a:r>
            <a:r>
              <a:rPr lang="en-US" altLang="ko-KR" dirty="0"/>
              <a:t> implementation</a:t>
            </a:r>
          </a:p>
          <a:p>
            <a:pPr marL="313583" indent="-342900"/>
            <a:endParaRPr lang="en-US" altLang="ko-KR" dirty="0"/>
          </a:p>
          <a:p>
            <a:pPr marL="313583" indent="-342900"/>
            <a:r>
              <a:rPr lang="en-US" altLang="ko-KR" dirty="0"/>
              <a:t>Possible methods for optimizing</a:t>
            </a:r>
            <a:endParaRPr lang="ko-KR" altLang="en-US" dirty="0"/>
          </a:p>
          <a:p>
            <a:pPr marL="714375" lvl="1" indent="-342900"/>
            <a:endParaRPr lang="en-US" altLang="ko-KR" dirty="0"/>
          </a:p>
          <a:p>
            <a:pPr marL="714375" lvl="1" indent="-34290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185420" indent="-185420"/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4844-DA11-4845-9D48-C83CC6607D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ko-KR" alt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32BA3D-5980-4490-2308-F08D9F45CDB3}"/>
              </a:ext>
            </a:extLst>
          </p:cNvPr>
          <p:cNvSpPr txBox="1">
            <a:spLocks/>
          </p:cNvSpPr>
          <p:nvPr/>
        </p:nvSpPr>
        <p:spPr>
          <a:xfrm>
            <a:off x="990602" y="1299713"/>
            <a:ext cx="502227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313583" indent="-342900" hangingPunct="1"/>
            <a:r>
              <a:rPr lang="en-US" altLang="ko-KR"/>
              <a:t>CNN-Accelerator architecture overview</a:t>
            </a:r>
          </a:p>
          <a:p>
            <a:pPr marL="714375" lvl="1" indent="-342900" hangingPunct="1"/>
            <a:r>
              <a:rPr lang="en-US" altLang="ko-KR"/>
              <a:t>Design requirements</a:t>
            </a:r>
          </a:p>
          <a:p>
            <a:pPr marL="714375" lvl="1" indent="-342900" hangingPunct="1"/>
            <a:r>
              <a:rPr lang="en-US" altLang="ko-KR"/>
              <a:t>Design overview</a:t>
            </a:r>
          </a:p>
          <a:p>
            <a:pPr marL="714375" lvl="1" indent="-342900" hangingPunct="1"/>
            <a:endParaRPr lang="en-US" altLang="ko-KR"/>
          </a:p>
          <a:p>
            <a:pPr marL="313583" indent="-342900" hangingPunct="1"/>
            <a:r>
              <a:rPr lang="en-US" altLang="ko-KR"/>
              <a:t>Components</a:t>
            </a:r>
          </a:p>
          <a:p>
            <a:pPr marL="714375" lvl="1" indent="-342900" hangingPunct="1"/>
            <a:r>
              <a:rPr lang="en-US" altLang="ko-KR"/>
              <a:t>Processing elements</a:t>
            </a:r>
            <a:endParaRPr lang="ko-KR" altLang="en-US"/>
          </a:p>
          <a:p>
            <a:pPr marL="714375" lvl="1" indent="-342900" hangingPunct="1"/>
            <a:r>
              <a:rPr lang="en-US" altLang="ko-KR"/>
              <a:t>Write Back Buffer</a:t>
            </a:r>
          </a:p>
          <a:p>
            <a:pPr marL="714375" lvl="1" indent="-342900" hangingPunct="1"/>
            <a:endParaRPr lang="en-US" altLang="ko-KR"/>
          </a:p>
          <a:p>
            <a:pPr marL="313583" indent="-342900" hangingPunct="1"/>
            <a:r>
              <a:rPr lang="en-US" altLang="ko-KR"/>
              <a:t>Optimization</a:t>
            </a:r>
          </a:p>
          <a:p>
            <a:pPr marL="714375" lvl="1" indent="-342900" hangingPunct="1"/>
            <a:r>
              <a:rPr lang="en-US" altLang="ko-KR"/>
              <a:t>Row stationary PE array</a:t>
            </a:r>
            <a:endParaRPr lang="ko-KR" altLang="en-US"/>
          </a:p>
          <a:p>
            <a:pPr marL="714375" lvl="1" indent="-342900" hangingPunct="1"/>
            <a:r>
              <a:rPr lang="en-US" altLang="ko-KR">
                <a:latin typeface="Malgun Gothic"/>
                <a:ea typeface="Malgun Gothic"/>
              </a:rPr>
              <a:t>Ping pong buffer</a:t>
            </a:r>
          </a:p>
          <a:p>
            <a:pPr marL="714375" lvl="1" indent="-342900" hangingPunct="1"/>
            <a:r>
              <a:rPr lang="en-US" altLang="ko-KR">
                <a:latin typeface="Malgun Gothic"/>
                <a:ea typeface="Malgun Gothic"/>
              </a:rPr>
              <a:t>Tiling the inputs and weights</a:t>
            </a:r>
          </a:p>
          <a:p>
            <a:pPr marL="714375" lvl="1" indent="-342900" hangingPunct="1"/>
            <a:endParaRPr lang="ko-KR" altLang="en-US"/>
          </a:p>
          <a:p>
            <a:pPr marL="714375" lvl="1" indent="-342900" hangingPunct="1"/>
            <a:endParaRPr lang="en-US" altLang="ko-KR"/>
          </a:p>
          <a:p>
            <a:pPr marL="714375" lvl="1" indent="-342900" hangingPunct="1"/>
            <a:endParaRPr lang="en-US" altLang="ko-KR"/>
          </a:p>
          <a:p>
            <a:pPr marL="586105" lvl="1" indent="-214630" hangingPunct="1"/>
            <a:endParaRPr lang="en-US" altLang="ko-KR"/>
          </a:p>
          <a:p>
            <a:pPr marL="185420" indent="-185420" hangingPunct="1"/>
            <a:endParaRPr lang="en-US" altLang="ko-KR"/>
          </a:p>
          <a:p>
            <a:pPr marL="185420" indent="-185420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05945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CF5-727C-405F-A1C0-1E7FA145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CNN-Accelerator architecture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0855-1356-4CA7-A5CD-4D7CA0E4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51278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Design requirements</a:t>
            </a:r>
          </a:p>
          <a:p>
            <a:pPr marL="586105" lvl="1" indent="-214630"/>
            <a:r>
              <a:rPr lang="en-US" altLang="ko-KR" dirty="0"/>
              <a:t>8bits input </a:t>
            </a:r>
            <a:r>
              <a:rPr lang="en-US" altLang="ko-KR" dirty="0" err="1"/>
              <a:t>input</a:t>
            </a:r>
            <a:r>
              <a:rPr lang="en-US" altLang="ko-KR" dirty="0"/>
              <a:t> feature map and weight</a:t>
            </a:r>
          </a:p>
          <a:p>
            <a:pPr marL="586105" lvl="1" indent="-214630"/>
            <a:r>
              <a:rPr lang="en-US" altLang="ko-KR" dirty="0"/>
              <a:t>25bits output data</a:t>
            </a:r>
          </a:p>
          <a:p>
            <a:pPr marL="586105" lvl="1" indent="-214630"/>
            <a:r>
              <a:rPr lang="en-US" altLang="ko-KR" dirty="0"/>
              <a:t>8x8bit input feature map and weight bandwidth</a:t>
            </a:r>
          </a:p>
          <a:p>
            <a:pPr marL="586105" lvl="1" indent="-214630"/>
            <a:r>
              <a:rPr lang="en-US" altLang="ko-KR" dirty="0"/>
              <a:t>2x25 bits output bandwidth</a:t>
            </a:r>
          </a:p>
          <a:p>
            <a:pPr marL="586105" lvl="1" indent="-214630"/>
            <a:r>
              <a:rPr lang="en-US" altLang="ko-KR" dirty="0"/>
              <a:t>64x64xI input feature map(8&lt;I&lt;32)</a:t>
            </a:r>
          </a:p>
          <a:p>
            <a:pPr marL="997894" lvl="2" indent="-214630"/>
            <a:r>
              <a:rPr lang="en-US" altLang="ko-KR" dirty="0"/>
              <a:t>8x64x64 IFM</a:t>
            </a:r>
          </a:p>
          <a:p>
            <a:pPr marL="586105" lvl="1" indent="-214630"/>
            <a:r>
              <a:rPr lang="en-US" altLang="ko-KR" dirty="0"/>
              <a:t>4x4xF filter size(8&lt;F&lt;32)</a:t>
            </a:r>
          </a:p>
          <a:p>
            <a:pPr marL="997894" lvl="2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185420" indent="-185420"/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4844-DA11-4845-9D48-C83CC6607D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ko-KR" altLang="en-US" dirty="0"/>
          </a:p>
        </p:txBody>
      </p:sp>
      <p:pic>
        <p:nvPicPr>
          <p:cNvPr id="5" name="그림 4" descr="design overview">
            <a:extLst>
              <a:ext uri="{FF2B5EF4-FFF2-40B4-BE49-F238E27FC236}">
                <a16:creationId xmlns:a16="http://schemas.microsoft.com/office/drawing/2014/main" id="{DF3F6D18-3E25-ED6D-A622-D104B615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495" y="1009370"/>
            <a:ext cx="6069103" cy="308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731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CF5-727C-405F-A1C0-1E7FA145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CNN-Accelerator architecture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0855-1356-4CA7-A5CD-4D7CA0E4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51278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Design overview</a:t>
            </a:r>
          </a:p>
          <a:p>
            <a:pPr marL="586105" lvl="1" indent="-214630"/>
            <a:r>
              <a:rPr lang="en-US" altLang="ko-KR" dirty="0"/>
              <a:t>4x5 processing elements array</a:t>
            </a:r>
          </a:p>
          <a:p>
            <a:pPr marL="586105" lvl="1" indent="-214630"/>
            <a:r>
              <a:rPr lang="en-US" altLang="ko-KR" dirty="0"/>
              <a:t>4 8bits weight buffer </a:t>
            </a:r>
          </a:p>
          <a:p>
            <a:pPr marL="586105" lvl="1" indent="-214630"/>
            <a:r>
              <a:rPr lang="en-US" altLang="ko-KR" dirty="0"/>
              <a:t>8 8bits input feature map buffer</a:t>
            </a:r>
          </a:p>
          <a:p>
            <a:pPr marL="586105" lvl="1" indent="-214630"/>
            <a:r>
              <a:rPr lang="en-US" altLang="ko-KR" dirty="0"/>
              <a:t>5 ping pong buffer storing partial sum</a:t>
            </a:r>
          </a:p>
          <a:p>
            <a:pPr marL="586105" lvl="1" indent="-214630"/>
            <a:r>
              <a:rPr lang="en-US" altLang="ko-KR" dirty="0"/>
              <a:t>All components are communicated through the handshake protocol</a:t>
            </a:r>
          </a:p>
          <a:p>
            <a:pPr marL="586105" lvl="1" indent="-214630"/>
            <a:r>
              <a:rPr lang="en-US" altLang="ko-KR" dirty="0"/>
              <a:t>All connections are hard wired</a:t>
            </a:r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185420" indent="-185420"/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4844-DA11-4845-9D48-C83CC6607D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ko-KR" altLang="en-US" dirty="0"/>
          </a:p>
        </p:txBody>
      </p:sp>
      <p:pic>
        <p:nvPicPr>
          <p:cNvPr id="5" name="그림 4" descr="design overview">
            <a:extLst>
              <a:ext uri="{FF2B5EF4-FFF2-40B4-BE49-F238E27FC236}">
                <a16:creationId xmlns:a16="http://schemas.microsoft.com/office/drawing/2014/main" id="{DF3F6D18-3E25-ED6D-A622-D104B615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495" y="1009370"/>
            <a:ext cx="6069103" cy="30821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EAF41B-34A7-4B27-C0B5-5D385C0A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76" y="4282418"/>
            <a:ext cx="6640859" cy="170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3626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Components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45607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Processing elements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Each adder and multiplier outputs are pipelined</a:t>
            </a:r>
          </a:p>
          <a:p>
            <a:pPr marL="586105" lvl="1" indent="-214630"/>
            <a:r>
              <a:rPr lang="en-US" dirty="0"/>
              <a:t>8 </a:t>
            </a:r>
            <a:r>
              <a:rPr lang="en-US" dirty="0" err="1"/>
              <a:t>ifm</a:t>
            </a:r>
            <a:r>
              <a:rPr lang="en-US" dirty="0"/>
              <a:t> buffer connected diagonally</a:t>
            </a:r>
          </a:p>
          <a:p>
            <a:pPr marL="586105" lvl="1" indent="-214630"/>
            <a:r>
              <a:rPr lang="en-US" altLang="ko-KR" dirty="0"/>
              <a:t>Weight buffer is stationary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5</a:t>
            </a:fld>
            <a:endParaRPr lang="ko-KR" altLang="en-US"/>
          </a:p>
        </p:txBody>
      </p:sp>
      <p:pic>
        <p:nvPicPr>
          <p:cNvPr id="5" name="그림 4" descr="design overview">
            <a:extLst>
              <a:ext uri="{FF2B5EF4-FFF2-40B4-BE49-F238E27FC236}">
                <a16:creationId xmlns:a16="http://schemas.microsoft.com/office/drawing/2014/main" id="{32F7131A-3F08-D3F3-370D-33F680478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735" y="3165478"/>
            <a:ext cx="6581419" cy="284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720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design overview">
            <a:extLst>
              <a:ext uri="{FF2B5EF4-FFF2-40B4-BE49-F238E27FC236}">
                <a16:creationId xmlns:a16="http://schemas.microsoft.com/office/drawing/2014/main" id="{3DF7B7C1-CC79-324D-EA0F-998E35FDA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845" y="3261210"/>
            <a:ext cx="6454419" cy="3059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Components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45607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Write Back Buffer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Two synchronous FIFOs</a:t>
            </a:r>
          </a:p>
          <a:p>
            <a:pPr marL="586105" lvl="1" indent="-214630"/>
            <a:r>
              <a:rPr lang="en-US" altLang="ko-KR" dirty="0"/>
              <a:t>One adder tree</a:t>
            </a:r>
          </a:p>
          <a:p>
            <a:pPr marL="586105" lvl="1" indent="-214630"/>
            <a:r>
              <a:rPr lang="en-US" altLang="ko-KR" dirty="0"/>
              <a:t>One FIFO control signal</a:t>
            </a:r>
          </a:p>
          <a:p>
            <a:pPr marL="586105" lvl="1" indent="-214630"/>
            <a:r>
              <a:rPr lang="en-US" altLang="ko-KR" dirty="0"/>
              <a:t>Each pop of FIFO is added to addition result of current partial sum and pushed back to the same FIFO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0026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Components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45607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Write Back Buffer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Controlled by FSM</a:t>
            </a:r>
          </a:p>
          <a:p>
            <a:pPr marL="586105" lvl="1" indent="-214630"/>
            <a:endParaRPr lang="en-US" altLang="ko-KR" dirty="0"/>
          </a:p>
          <a:p>
            <a:pPr marL="657225" lvl="1" indent="-285750"/>
            <a:r>
              <a:rPr lang="en-US" altLang="ko-KR" dirty="0"/>
              <a:t>With 5 </a:t>
            </a:r>
            <a:r>
              <a:rPr lang="en-US" altLang="ko-KR" dirty="0" err="1"/>
              <a:t>row#_valid</a:t>
            </a:r>
            <a:r>
              <a:rPr lang="en-US" altLang="ko-KR" dirty="0"/>
              <a:t>, determine output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916B3C-F2FD-9284-7F3D-465AB8A5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675" y="2327607"/>
            <a:ext cx="4046666" cy="8949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66B1E1D-ABDF-82E3-890C-32D65A16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675" y="561520"/>
            <a:ext cx="2133898" cy="9526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F3DA95A-C8E7-24EC-0FEE-4A0D59BC0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044" y="3429000"/>
            <a:ext cx="7884152" cy="26096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1EA76A4-EEFF-CAEB-BEA5-53350CAF5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8675" y="323362"/>
            <a:ext cx="2305372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6617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0963D760-D153-FA59-E69B-E3A1A8849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665" y="3479488"/>
            <a:ext cx="7123763" cy="29066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Components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45607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 err="1"/>
              <a:t>Psum</a:t>
            </a:r>
            <a:r>
              <a:rPr lang="en-US" altLang="ko-KR" dirty="0"/>
              <a:t> Buffer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Using 2 signals to select when to write</a:t>
            </a:r>
          </a:p>
          <a:p>
            <a:pPr marL="997894" lvl="2" indent="-214630"/>
            <a:r>
              <a:rPr lang="en-US" altLang="ko-KR" dirty="0" err="1"/>
              <a:t>d_odd_cnt</a:t>
            </a:r>
            <a:r>
              <a:rPr lang="en-US" altLang="ko-KR" dirty="0"/>
              <a:t> &amp; </a:t>
            </a:r>
            <a:r>
              <a:rPr lang="en-US" altLang="ko-KR" dirty="0" err="1"/>
              <a:t>write_zero</a:t>
            </a:r>
            <a:endParaRPr lang="en-US" altLang="ko-KR" dirty="0"/>
          </a:p>
          <a:p>
            <a:pPr marL="997894" lvl="2" indent="-214630"/>
            <a:endParaRPr lang="en-US" altLang="ko-KR" dirty="0"/>
          </a:p>
          <a:p>
            <a:pPr marL="586105" lvl="1" indent="-214630"/>
            <a:r>
              <a:rPr lang="en-US" altLang="ko-KR" dirty="0"/>
              <a:t>Apply </a:t>
            </a:r>
            <a:r>
              <a:rPr lang="en-US" altLang="ko-KR" dirty="0" err="1"/>
              <a:t>ReLU</a:t>
            </a:r>
            <a:r>
              <a:rPr lang="en-US" altLang="ko-KR" dirty="0"/>
              <a:t> function to output data</a:t>
            </a:r>
          </a:p>
          <a:p>
            <a:pPr marL="997894" lvl="2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C4D75C-A03B-BCC0-C867-887B892EC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3103610"/>
            <a:ext cx="4525006" cy="32389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2E0203-9056-EF70-2114-AB1DF02D877E}"/>
              </a:ext>
            </a:extLst>
          </p:cNvPr>
          <p:cNvSpPr/>
          <p:nvPr/>
        </p:nvSpPr>
        <p:spPr>
          <a:xfrm>
            <a:off x="6122930" y="5702531"/>
            <a:ext cx="440575" cy="16878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B6B4FD7-DFB4-2537-DDED-FE4A97324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613" y="1427713"/>
            <a:ext cx="2915057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4167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Optimization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45607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Row stationary PE array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Computing 5 rows simultaneously</a:t>
            </a:r>
          </a:p>
          <a:p>
            <a:pPr marL="586105" lvl="1" indent="-214630"/>
            <a:r>
              <a:rPr lang="en-US" altLang="ko-KR" dirty="0"/>
              <a:t>Reduce DRAM access</a:t>
            </a: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dirty="0">
                <a:latin typeface="Malgun Gothic"/>
                <a:ea typeface="Malgun Gothic"/>
              </a:rPr>
              <a:t>Ping pong buffer</a:t>
            </a: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Overlap memory accesses and computing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Using 2 FIFOs to write &amp; compute data</a:t>
            </a:r>
            <a:endParaRPr lang="en-US" dirty="0"/>
          </a:p>
          <a:p>
            <a:pPr marL="185420" indent="-185420">
              <a:buFont typeface="Arial,Sans-Serif" panose="020B0503020000020004" pitchFamily="50" charset="-127"/>
              <a:buChar char="•"/>
            </a:pPr>
            <a:r>
              <a:rPr lang="en-US" dirty="0">
                <a:latin typeface="Malgun Gothic"/>
                <a:ea typeface="Malgun Gothic"/>
              </a:rPr>
              <a:t>Tiling the inputs and weights</a:t>
            </a:r>
          </a:p>
          <a:p>
            <a:pPr marL="586105" lvl="1" indent="-214630">
              <a:buFont typeface="Arial,Sans-Serif" panose="020B0503020000020004" pitchFamily="50" charset="-127"/>
              <a:buChar char="•"/>
            </a:pPr>
            <a:r>
              <a:rPr lang="en-US" dirty="0">
                <a:latin typeface="Malgun Gothic"/>
                <a:ea typeface="Malgun Gothic"/>
              </a:rPr>
              <a:t>Overlap memory accesses and computing</a:t>
            </a:r>
            <a:endParaRPr lang="en-US" dirty="0"/>
          </a:p>
          <a:p>
            <a:pPr marL="586105" lvl="1" indent="-214630">
              <a:buFont typeface="Calibri" panose="020B0503020000020004" pitchFamily="50" charset="-127"/>
              <a:buChar char="-"/>
            </a:pPr>
            <a:r>
              <a:rPr lang="en-US" dirty="0">
                <a:latin typeface="Malgun Gothic"/>
                <a:ea typeface="Malgun Gothic"/>
              </a:rPr>
              <a:t>Tiling algorithm </a:t>
            </a:r>
            <a:r>
              <a:rPr lang="ko-KR" altLang="en-US" dirty="0">
                <a:latin typeface="Malgun Gothic"/>
                <a:ea typeface="Malgun Gothic"/>
              </a:rPr>
              <a:t>추가</a:t>
            </a: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9</a:t>
            </a:fld>
            <a:endParaRPr lang="ko-KR" altLang="en-US"/>
          </a:p>
        </p:txBody>
      </p:sp>
      <p:pic>
        <p:nvPicPr>
          <p:cNvPr id="5" name="그림 4" descr="design overview">
            <a:extLst>
              <a:ext uri="{FF2B5EF4-FFF2-40B4-BE49-F238E27FC236}">
                <a16:creationId xmlns:a16="http://schemas.microsoft.com/office/drawing/2014/main" id="{6530A5EB-27A3-3518-686E-DAAB9D72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383" y="2851203"/>
            <a:ext cx="6468532" cy="293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7931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Consideration for Alveo implementation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8806141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AXI master port for DRAM access</a:t>
            </a:r>
          </a:p>
          <a:p>
            <a:pPr marL="586105" lvl="1" indent="-214630"/>
            <a:r>
              <a:rPr lang="en-US" altLang="ko-KR" dirty="0"/>
              <a:t>Separating IFM reading port and Weight reading port to utilize two DDR Banks simultaneously</a:t>
            </a: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dirty="0">
                <a:latin typeface="Malgun Gothic"/>
                <a:ea typeface="Malgun Gothic"/>
              </a:rPr>
              <a:t>AXI lite slave interface for host to kernel communication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No kernel variables must be set 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Kernel running signals and base address for global memory buffer</a:t>
            </a:r>
          </a:p>
          <a:p>
            <a:pPr marL="586105" lvl="1" indent="-214630"/>
            <a:endParaRPr lang="en-US" dirty="0">
              <a:latin typeface="Malgun Gothic"/>
              <a:ea typeface="Malgun Gothic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dirty="0">
                <a:latin typeface="Malgun Gothic"/>
                <a:ea typeface="Malgun Gothic"/>
              </a:rPr>
              <a:t>No kernel-to-kernel communication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All components combined in one top module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AXI stream ports are not required</a:t>
            </a:r>
          </a:p>
          <a:p>
            <a:pPr marL="586105" lvl="1" indent="-214630"/>
            <a:endParaRPr lang="en-US" dirty="0">
              <a:latin typeface="Malgun Gothic"/>
              <a:ea typeface="Malgun Gothic"/>
            </a:endParaRPr>
          </a:p>
          <a:p>
            <a:pPr marL="185420" indent="-185420">
              <a:buFont typeface="Arial,Sans-Serif"/>
              <a:buChar char="•"/>
            </a:pPr>
            <a:r>
              <a:rPr lang="en-US" dirty="0">
                <a:latin typeface="Malgun Gothic"/>
                <a:ea typeface="Malgun Gothic"/>
              </a:rPr>
              <a:t>Host applications writing IFM and Weight to Global memory</a:t>
            </a: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94275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Possible methods for optimizing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8806141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Separate IFM buffer, Weight buffer, output buffer into different DDR</a:t>
            </a:r>
            <a:r>
              <a:rPr lang="en-US" altLang="ko-KR" dirty="0"/>
              <a:t> </a:t>
            </a:r>
            <a:r>
              <a:rPr lang="en-US" altLang="ko-KR" dirty="0">
                <a:latin typeface="맑은 고딕"/>
                <a:ea typeface="맑은 고딕"/>
              </a:rPr>
              <a:t>banks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Adding more computing units inside kernel to maximize DRAM access</a:t>
            </a: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Using multiple kernels in different SLRs</a:t>
            </a: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Additional MUX to clock gating</a:t>
            </a: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3959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22404</TotalTime>
  <Words>418</Words>
  <Application>Microsoft Office PowerPoint</Application>
  <PresentationFormat>와이드스크린</PresentationFormat>
  <Paragraphs>160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Arial,Sans-Serif</vt:lpstr>
      <vt:lpstr>나눔스퀘어 ExtraBold</vt:lpstr>
      <vt:lpstr>맑은 고딕</vt:lpstr>
      <vt:lpstr>맑은 고딕</vt:lpstr>
      <vt:lpstr>Arial</vt:lpstr>
      <vt:lpstr>Calibri</vt:lpstr>
      <vt:lpstr>Helvetica</vt:lpstr>
      <vt:lpstr>Office 테마</vt:lpstr>
      <vt:lpstr>CNN Accelerator</vt:lpstr>
      <vt:lpstr>Table of Contents</vt:lpstr>
      <vt:lpstr>CNN-Accelerator architecture overview</vt:lpstr>
      <vt:lpstr>CNN-Accelerator architecture overview</vt:lpstr>
      <vt:lpstr>Components</vt:lpstr>
      <vt:lpstr>Components</vt:lpstr>
      <vt:lpstr>Components</vt:lpstr>
      <vt:lpstr>Components</vt:lpstr>
      <vt:lpstr>Optimization</vt:lpstr>
      <vt:lpstr>Consideration for Alveo implementation</vt:lpstr>
      <vt:lpstr>Possible methods for optimizing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서원빈</cp:lastModifiedBy>
  <cp:revision>792</cp:revision>
  <dcterms:created xsi:type="dcterms:W3CDTF">2020-05-23T05:02:16Z</dcterms:created>
  <dcterms:modified xsi:type="dcterms:W3CDTF">2023-08-16T07:08:04Z</dcterms:modified>
</cp:coreProperties>
</file>