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311" r:id="rId2"/>
    <p:sldId id="769" r:id="rId3"/>
    <p:sldId id="752" r:id="rId4"/>
    <p:sldId id="750" r:id="rId5"/>
    <p:sldId id="754" r:id="rId6"/>
    <p:sldId id="757" r:id="rId7"/>
    <p:sldId id="758" r:id="rId8"/>
    <p:sldId id="753" r:id="rId9"/>
    <p:sldId id="755" r:id="rId10"/>
    <p:sldId id="756" r:id="rId11"/>
    <p:sldId id="760" r:id="rId12"/>
    <p:sldId id="768" r:id="rId13"/>
    <p:sldId id="761" r:id="rId14"/>
    <p:sldId id="762" r:id="rId15"/>
    <p:sldId id="763" r:id="rId16"/>
    <p:sldId id="764" r:id="rId17"/>
    <p:sldId id="765" r:id="rId18"/>
    <p:sldId id="766" r:id="rId19"/>
    <p:sldId id="767" r:id="rId20"/>
    <p:sldId id="759" r:id="rId21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맑은 고딕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ungwook Choi" initials="JC" lastIdx="3" clrIdx="0">
    <p:extLst>
      <p:ext uri="{19B8F6BF-5375-455C-9EA6-DF929625EA0E}">
        <p15:presenceInfo xmlns:p15="http://schemas.microsoft.com/office/powerpoint/2012/main" userId="c4e6a04d4233cab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80AFF"/>
    <a:srgbClr val="34805D"/>
    <a:srgbClr val="9804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1522F3-56AA-AD31-4DB0-AA8B70429D4E}" v="973" dt="2023-08-01T18:28:43.34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600" autoAdjust="0"/>
    <p:restoredTop sz="92941" autoAdjust="0"/>
  </p:normalViewPr>
  <p:slideViewPr>
    <p:cSldViewPr snapToGrid="0">
      <p:cViewPr varScale="1">
        <p:scale>
          <a:sx n="115" d="100"/>
          <a:sy n="115" d="100"/>
        </p:scale>
        <p:origin x="738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378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30" name="Shape 13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4649871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08424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>
            <a:spLocks noGrp="1"/>
          </p:cNvSpPr>
          <p:nvPr>
            <p:ph type="title" hasCustomPrompt="1"/>
          </p:nvPr>
        </p:nvSpPr>
        <p:spPr>
          <a:xfrm>
            <a:off x="1524000" y="1104645"/>
            <a:ext cx="9144000" cy="1456936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Main Title</a:t>
            </a:r>
            <a:endParaRPr dirty="0"/>
          </a:p>
        </p:txBody>
      </p:sp>
      <p:sp>
        <p:nvSpPr>
          <p:cNvPr id="12" name="본문 첫 번째 줄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524000" y="3661918"/>
            <a:ext cx="9144000" cy="1828799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SzTx/>
              <a:buFontTx/>
              <a:buNone/>
              <a:defRPr sz="2400" b="1"/>
            </a:lvl1pPr>
            <a:lvl2pPr marL="0" indent="371465" algn="ctr">
              <a:buSzTx/>
              <a:buFontTx/>
              <a:buNone/>
              <a:defRPr sz="1900"/>
            </a:lvl2pPr>
            <a:lvl3pPr marL="0" indent="742932" algn="ctr">
              <a:buSzTx/>
              <a:buFontTx/>
              <a:buNone/>
              <a:defRPr sz="1900"/>
            </a:lvl3pPr>
            <a:lvl4pPr marL="0" indent="1114397" algn="ctr">
              <a:buSzTx/>
              <a:buFontTx/>
              <a:buNone/>
              <a:defRPr sz="1900"/>
            </a:lvl4pPr>
            <a:lvl5pPr marL="0" indent="1485863" algn="ctr">
              <a:buSzTx/>
              <a:buFontTx/>
              <a:buNone/>
              <a:defRPr sz="1900"/>
            </a:lvl5pPr>
          </a:lstStyle>
          <a:p>
            <a:r>
              <a:rPr lang="ko-KR" altLang="en-US" dirty="0"/>
              <a:t>이름</a:t>
            </a:r>
            <a:endParaRPr dirty="0"/>
          </a:p>
        </p:txBody>
      </p:sp>
      <p:sp>
        <p:nvSpPr>
          <p:cNvPr id="13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001726" y="6559962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  <p:sp>
        <p:nvSpPr>
          <p:cNvPr id="5" name="본문 첫 번째 줄…">
            <a:extLst>
              <a:ext uri="{FF2B5EF4-FFF2-40B4-BE49-F238E27FC236}">
                <a16:creationId xmlns:a16="http://schemas.microsoft.com/office/drawing/2014/main" id="{73BC6E9D-21D3-4B95-B362-AC4B8C825FA0}"/>
              </a:ext>
            </a:extLst>
          </p:cNvPr>
          <p:cNvSpPr txBox="1">
            <a:spLocks noGrp="1"/>
          </p:cNvSpPr>
          <p:nvPr>
            <p:ph type="body" sz="quarter" idx="10" hasCustomPrompt="1"/>
          </p:nvPr>
        </p:nvSpPr>
        <p:spPr>
          <a:xfrm>
            <a:off x="1524000" y="2561581"/>
            <a:ext cx="9144000" cy="88420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SzTx/>
              <a:buFontTx/>
              <a:buNone/>
              <a:defRPr sz="3200" b="1"/>
            </a:lvl1pPr>
            <a:lvl2pPr marL="0" indent="371465" algn="ctr">
              <a:buSzTx/>
              <a:buFontTx/>
              <a:buNone/>
              <a:defRPr sz="1900"/>
            </a:lvl2pPr>
            <a:lvl3pPr marL="0" indent="742932" algn="ctr">
              <a:buSzTx/>
              <a:buFontTx/>
              <a:buNone/>
              <a:defRPr sz="1900"/>
            </a:lvl3pPr>
            <a:lvl4pPr marL="0" indent="1114397" algn="ctr">
              <a:buSzTx/>
              <a:buFontTx/>
              <a:buNone/>
              <a:defRPr sz="1900"/>
            </a:lvl4pPr>
            <a:lvl5pPr marL="0" indent="1485863" algn="ctr">
              <a:buSzTx/>
              <a:buFontTx/>
              <a:buNone/>
              <a:defRPr sz="1900"/>
            </a:lvl5pPr>
          </a:lstStyle>
          <a:p>
            <a:r>
              <a:rPr lang="en-US" altLang="ko-KR" dirty="0"/>
              <a:t>Sub title</a:t>
            </a:r>
            <a:endParaRPr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제목</a:t>
            </a:r>
            <a:r>
              <a:rPr dirty="0"/>
              <a:t> </a:t>
            </a:r>
            <a:r>
              <a:rPr dirty="0" err="1"/>
              <a:t>텍스트</a:t>
            </a:r>
            <a:endParaRPr dirty="0"/>
          </a:p>
        </p:txBody>
      </p:sp>
      <p:sp>
        <p:nvSpPr>
          <p:cNvPr id="21" name="본문 첫 번째 줄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 err="1"/>
              <a:t>본문</a:t>
            </a:r>
            <a:r>
              <a:rPr dirty="0"/>
              <a:t> 첫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1"/>
            <a:r>
              <a:rPr dirty="0" err="1"/>
              <a:t>본문</a:t>
            </a:r>
            <a:r>
              <a:rPr dirty="0"/>
              <a:t> 두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2"/>
            <a:r>
              <a:rPr dirty="0" err="1"/>
              <a:t>본문</a:t>
            </a:r>
            <a:r>
              <a:rPr dirty="0"/>
              <a:t> 세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3"/>
            <a:r>
              <a:rPr dirty="0" err="1"/>
              <a:t>본문</a:t>
            </a:r>
            <a:r>
              <a:rPr dirty="0"/>
              <a:t> 네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4"/>
            <a:r>
              <a:rPr dirty="0" err="1"/>
              <a:t>본문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줄</a:t>
            </a:r>
          </a:p>
        </p:txBody>
      </p:sp>
      <p:sp>
        <p:nvSpPr>
          <p:cNvPr id="22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874635" y="6423497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altLang="ko-KR" smtClean="0"/>
              <a:t>‹#›</a:t>
            </a:fld>
            <a:endParaRPr dirty="0"/>
          </a:p>
        </p:txBody>
      </p:sp>
    </p:spTree>
  </p:cSld>
  <p:clrMapOvr>
    <a:masterClrMapping/>
  </p:clrMapOvr>
  <p:transition spd="med"/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39" name="본문 첫 번째 줄…"/>
          <p:cNvSpPr txBox="1">
            <a:spLocks noGrp="1"/>
          </p:cNvSpPr>
          <p:nvPr>
            <p:ph type="body" sz="half" idx="1"/>
          </p:nvPr>
        </p:nvSpPr>
        <p:spPr>
          <a:xfrm>
            <a:off x="838202" y="1825625"/>
            <a:ext cx="5181601" cy="4351338"/>
          </a:xfrm>
          <a:prstGeom prst="rect">
            <a:avLst/>
          </a:prstGeom>
        </p:spPr>
        <p:txBody>
          <a:bodyPr/>
          <a:lstStyle/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>
            <a:spLocks noGrp="1"/>
          </p:cNvSpPr>
          <p:nvPr>
            <p:ph type="title"/>
          </p:nvPr>
        </p:nvSpPr>
        <p:spPr>
          <a:xfrm>
            <a:off x="839790" y="365125"/>
            <a:ext cx="10515601" cy="1325564"/>
          </a:xfrm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48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839789" y="1681166"/>
            <a:ext cx="5157787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900" b="1"/>
            </a:lvl1pPr>
            <a:lvl2pPr marL="0" indent="371465">
              <a:buSzTx/>
              <a:buFontTx/>
              <a:buNone/>
              <a:defRPr sz="1900" b="1"/>
            </a:lvl2pPr>
            <a:lvl3pPr marL="0" indent="742932">
              <a:buSzTx/>
              <a:buFontTx/>
              <a:buNone/>
              <a:defRPr sz="1900" b="1"/>
            </a:lvl3pPr>
            <a:lvl4pPr marL="0" indent="1114397">
              <a:buSzTx/>
              <a:buFontTx/>
              <a:buNone/>
              <a:defRPr sz="1900" b="1"/>
            </a:lvl4pPr>
            <a:lvl5pPr marL="0" indent="1485863">
              <a:buSzTx/>
              <a:buFontTx/>
              <a:buNone/>
              <a:defRPr sz="1900" b="1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텍스트 개체 틀 4"/>
          <p:cNvSpPr>
            <a:spLocks noGrp="1"/>
          </p:cNvSpPr>
          <p:nvPr>
            <p:ph type="body" sz="quarter" idx="13"/>
          </p:nvPr>
        </p:nvSpPr>
        <p:spPr>
          <a:xfrm>
            <a:off x="6172200" y="1681166"/>
            <a:ext cx="51831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1900" b="1"/>
            </a:lvl1pPr>
          </a:lstStyle>
          <a:p>
            <a:pPr marL="0" indent="0">
              <a:buSzTx/>
              <a:buFontTx/>
              <a:buNone/>
              <a:defRPr sz="1900" b="1"/>
            </a:pPr>
            <a:endParaRPr/>
          </a:p>
        </p:txBody>
      </p:sp>
      <p:sp>
        <p:nvSpPr>
          <p:cNvPr id="50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제목 텍스트</a:t>
            </a:r>
          </a:p>
        </p:txBody>
      </p:sp>
      <p:sp>
        <p:nvSpPr>
          <p:cNvPr id="58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>
            <a:spLocks noGrp="1"/>
          </p:cNvSpPr>
          <p:nvPr>
            <p:ph type="title"/>
          </p:nvPr>
        </p:nvSpPr>
        <p:spPr>
          <a:xfrm>
            <a:off x="839791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2600"/>
            </a:lvl1pPr>
          </a:lstStyle>
          <a:p>
            <a:r>
              <a:t>제목 텍스트</a:t>
            </a:r>
          </a:p>
        </p:txBody>
      </p:sp>
      <p:sp>
        <p:nvSpPr>
          <p:cNvPr id="73" name="본문 첫 번째 줄…"/>
          <p:cNvSpPr txBox="1">
            <a:spLocks noGrp="1"/>
          </p:cNvSpPr>
          <p:nvPr>
            <p:ph type="body" sz="half" idx="1"/>
          </p:nvPr>
        </p:nvSpPr>
        <p:spPr>
          <a:xfrm>
            <a:off x="5183185" y="987425"/>
            <a:ext cx="6172203" cy="4873626"/>
          </a:xfrm>
          <a:prstGeom prst="rect">
            <a:avLst/>
          </a:prstGeom>
        </p:spPr>
        <p:txBody>
          <a:bodyPr/>
          <a:lstStyle>
            <a:lvl1pPr marL="185733" indent="-185733">
              <a:defRPr sz="2600"/>
            </a:lvl1pPr>
            <a:lvl2pPr marL="590968" indent="-219503">
              <a:defRPr sz="2600"/>
            </a:lvl2pPr>
            <a:lvl3pPr marL="997092" indent="-254160">
              <a:defRPr sz="2600"/>
            </a:lvl3pPr>
            <a:lvl4pPr marL="1416214" indent="-301816">
              <a:defRPr sz="2600"/>
            </a:lvl4pPr>
            <a:lvl5pPr marL="1787679" indent="-301816">
              <a:defRPr sz="2600"/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839791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300"/>
            </a:lvl1pPr>
          </a:lstStyle>
          <a:p>
            <a:pPr marL="0" indent="0">
              <a:buSzTx/>
              <a:buFontTx/>
              <a:buNone/>
              <a:defRPr sz="1300"/>
            </a:pPr>
            <a:endParaRPr/>
          </a:p>
        </p:txBody>
      </p:sp>
      <p:sp>
        <p:nvSpPr>
          <p:cNvPr id="7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532016" y="2969549"/>
            <a:ext cx="2132133" cy="273514"/>
          </a:xfrm>
          <a:prstGeom prst="rect">
            <a:avLst/>
          </a:prstGeom>
        </p:spPr>
        <p:txBody>
          <a:bodyPr/>
          <a:lstStyle>
            <a:lvl1pPr marL="0" indent="0" defTabSz="914377">
              <a:lnSpc>
                <a:spcPct val="100000"/>
              </a:lnSpc>
              <a:spcBef>
                <a:spcPts val="300"/>
              </a:spcBef>
              <a:buSzTx/>
              <a:buFontTx/>
              <a:buNone/>
              <a:defRPr sz="1300">
                <a:solidFill>
                  <a:srgbClr val="004C86"/>
                </a:solidFill>
              </a:defRPr>
            </a:lvl1pPr>
            <a:lvl2pPr marL="498546" indent="-127079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2pPr>
            <a:lvl3pPr marL="893840" indent="-150908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3pPr>
            <a:lvl4pPr marL="1286862" indent="-172466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4pPr>
            <a:lvl5pPr marL="1658329" indent="-172466" defTabSz="914377">
              <a:lnSpc>
                <a:spcPct val="100000"/>
              </a:lnSpc>
              <a:spcBef>
                <a:spcPts val="300"/>
              </a:spcBef>
              <a:buFontTx/>
              <a:defRPr sz="1300">
                <a:solidFill>
                  <a:srgbClr val="004C86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93" name="제목 텍스트"/>
          <p:cNvSpPr txBox="1">
            <a:spLocks noGrp="1"/>
          </p:cNvSpPr>
          <p:nvPr>
            <p:ph type="title"/>
          </p:nvPr>
        </p:nvSpPr>
        <p:spPr>
          <a:xfrm>
            <a:off x="534630" y="1799999"/>
            <a:ext cx="6522097" cy="1169552"/>
          </a:xfrm>
          <a:prstGeom prst="rect">
            <a:avLst/>
          </a:prstGeom>
        </p:spPr>
        <p:txBody>
          <a:bodyPr/>
          <a:lstStyle>
            <a:lvl1pPr>
              <a:defRPr b="1">
                <a:solidFill>
                  <a:srgbClr val="004C86"/>
                </a:solidFill>
                <a:latin typeface="+mn-lt"/>
                <a:ea typeface="+mn-ea"/>
                <a:cs typeface="+mn-cs"/>
                <a:sym typeface="Helvetica"/>
              </a:defRPr>
            </a:lvl1pPr>
          </a:lstStyle>
          <a:p>
            <a:r>
              <a:t>제목 텍스트</a:t>
            </a:r>
          </a:p>
        </p:txBody>
      </p:sp>
      <p:sp>
        <p:nvSpPr>
          <p:cNvPr id="9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11117205" y="6423499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95" name="직사각형 5"/>
          <p:cNvSpPr/>
          <p:nvPr/>
        </p:nvSpPr>
        <p:spPr>
          <a:xfrm>
            <a:off x="532019" y="6237313"/>
            <a:ext cx="1435527" cy="484164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800"/>
          </a:p>
        </p:txBody>
      </p:sp>
      <p:sp>
        <p:nvSpPr>
          <p:cNvPr id="96" name="직사각형 8"/>
          <p:cNvSpPr txBox="1"/>
          <p:nvPr/>
        </p:nvSpPr>
        <p:spPr>
          <a:xfrm>
            <a:off x="448273" y="6381333"/>
            <a:ext cx="1674495" cy="276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200" spc="-50">
                <a:solidFill>
                  <a:srgbClr val="004C86"/>
                </a:solidFill>
                <a:latin typeface="나눔스퀘어 ExtraBold"/>
                <a:ea typeface="나눔스퀘어 ExtraBold"/>
                <a:cs typeface="나눔스퀘어 ExtraBold"/>
                <a:sym typeface="나눔스퀘어 ExtraBold"/>
              </a:defRPr>
            </a:lvl1pPr>
          </a:lstStyle>
          <a:p>
            <a:r>
              <a:rPr sz="1200"/>
              <a:t>http://esoc.hanyang.ac.kr</a:t>
            </a:r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본문 첫 번째 줄…"/>
          <p:cNvSpPr txBox="1">
            <a:spLocks noGrp="1"/>
          </p:cNvSpPr>
          <p:nvPr>
            <p:ph type="body" sz="quarter" idx="1"/>
          </p:nvPr>
        </p:nvSpPr>
        <p:spPr>
          <a:xfrm>
            <a:off x="532801" y="1232102"/>
            <a:ext cx="8251499" cy="536720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800" b="1" spc="-60">
                <a:solidFill>
                  <a:srgbClr val="FFFFFF"/>
                </a:solidFill>
              </a:defRPr>
            </a:lvl1pPr>
            <a:lvl2pPr marL="645179" indent="-273712">
              <a:buFontTx/>
              <a:defRPr sz="2800" b="1" spc="-60">
                <a:solidFill>
                  <a:srgbClr val="FFFFFF"/>
                </a:solidFill>
              </a:defRPr>
            </a:lvl2pPr>
            <a:lvl3pPr marL="1067964" indent="-325033">
              <a:buFontTx/>
              <a:defRPr sz="2800" b="1" spc="-60">
                <a:solidFill>
                  <a:srgbClr val="FFFFFF"/>
                </a:solidFill>
              </a:defRPr>
            </a:lvl3pPr>
            <a:lvl4pPr marL="1485863" indent="-371465">
              <a:buFontTx/>
              <a:defRPr sz="2800" b="1" spc="-60">
                <a:solidFill>
                  <a:srgbClr val="FFFFFF"/>
                </a:solidFill>
              </a:defRPr>
            </a:lvl4pPr>
            <a:lvl5pPr marL="1857330" indent="-371467">
              <a:buFontTx/>
              <a:defRPr sz="2800" b="1" spc="-60">
                <a:solidFill>
                  <a:srgbClr val="FFFFFF"/>
                </a:solidFill>
              </a:defRPr>
            </a:lvl5pPr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04" name="TextBox 8"/>
          <p:cNvSpPr txBox="1"/>
          <p:nvPr/>
        </p:nvSpPr>
        <p:spPr>
          <a:xfrm>
            <a:off x="487641" y="6309326"/>
            <a:ext cx="2479749" cy="2462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000" spc="-50">
                <a:solidFill>
                  <a:srgbClr val="95A1AB"/>
                </a:solidFill>
                <a:latin typeface="나눔스퀘어 ExtraBold"/>
                <a:ea typeface="나눔스퀘어 ExtraBold"/>
                <a:cs typeface="나눔스퀘어 ExtraBold"/>
                <a:sym typeface="나눔스퀘어 ExtraBold"/>
              </a:defRPr>
            </a:lvl1pPr>
          </a:lstStyle>
          <a:p>
            <a:r>
              <a:rPr sz="1000"/>
              <a:t>Embedded System on Chip Lab</a:t>
            </a:r>
          </a:p>
        </p:txBody>
      </p:sp>
      <p:sp>
        <p:nvSpPr>
          <p:cNvPr id="105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8501001" y="6240935"/>
            <a:ext cx="236601" cy="23083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제목 텍스트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1" cy="1325564"/>
          </a:xfrm>
          <a:prstGeom prst="rect">
            <a:avLst/>
          </a:prstGeom>
        </p:spPr>
        <p:txBody>
          <a:bodyPr lIns="45718" tIns="45718" rIns="45718" bIns="45718"/>
          <a:lstStyle/>
          <a:p>
            <a:r>
              <a:t>제목 텍스트</a:t>
            </a:r>
          </a:p>
        </p:txBody>
      </p:sp>
      <p:sp>
        <p:nvSpPr>
          <p:cNvPr id="113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838202" y="1825625"/>
            <a:ext cx="10515601" cy="4351338"/>
          </a:xfrm>
          <a:prstGeom prst="rect">
            <a:avLst/>
          </a:prstGeom>
        </p:spPr>
        <p:txBody>
          <a:bodyPr lIns="45718" tIns="45718" rIns="45718" bIns="45718"/>
          <a:lstStyle>
            <a:lvl1pPr marL="185733" indent="-185733"/>
            <a:lvl2pPr marL="586525" indent="-215059"/>
            <a:lvl3pPr marL="998312" indent="-255380"/>
            <a:lvl4pPr marL="1406262" indent="-291865"/>
            <a:lvl5pPr indent="-291865"/>
          </a:lstStyle>
          <a:p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1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493012" y="6560022"/>
            <a:ext cx="236599" cy="230828"/>
          </a:xfrm>
          <a:prstGeom prst="rect">
            <a:avLst/>
          </a:prstGeom>
        </p:spPr>
        <p:txBody>
          <a:bodyPr lIns="45718" tIns="45718" rIns="45718" bIns="45718"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>
            <a:spLocks noGrp="1"/>
          </p:cNvSpPr>
          <p:nvPr>
            <p:ph type="title"/>
          </p:nvPr>
        </p:nvSpPr>
        <p:spPr>
          <a:xfrm>
            <a:off x="838202" y="365125"/>
            <a:ext cx="10515601" cy="644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/>
          <a:p>
            <a:r>
              <a:rPr dirty="0" err="1"/>
              <a:t>제목</a:t>
            </a:r>
            <a:r>
              <a:rPr dirty="0"/>
              <a:t> </a:t>
            </a:r>
            <a:r>
              <a:rPr dirty="0" err="1"/>
              <a:t>텍스트</a:t>
            </a:r>
            <a:endParaRPr dirty="0"/>
          </a:p>
        </p:txBody>
      </p:sp>
      <p:sp>
        <p:nvSpPr>
          <p:cNvPr id="3" name="본문 첫 번째 줄…"/>
          <p:cNvSpPr txBox="1">
            <a:spLocks noGrp="1"/>
          </p:cNvSpPr>
          <p:nvPr>
            <p:ph type="body" idx="1"/>
          </p:nvPr>
        </p:nvSpPr>
        <p:spPr>
          <a:xfrm>
            <a:off x="838202" y="1147313"/>
            <a:ext cx="10515601" cy="502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normAutofit/>
          </a:bodyPr>
          <a:lstStyle/>
          <a:p>
            <a:r>
              <a:rPr dirty="0" err="1"/>
              <a:t>본문</a:t>
            </a:r>
            <a:r>
              <a:rPr dirty="0"/>
              <a:t> 첫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1"/>
            <a:r>
              <a:rPr dirty="0" err="1"/>
              <a:t>본문</a:t>
            </a:r>
            <a:r>
              <a:rPr dirty="0"/>
              <a:t> 두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2"/>
            <a:r>
              <a:rPr dirty="0" err="1"/>
              <a:t>본문</a:t>
            </a:r>
            <a:r>
              <a:rPr dirty="0"/>
              <a:t> 세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3"/>
            <a:r>
              <a:rPr dirty="0" err="1"/>
              <a:t>본문</a:t>
            </a:r>
            <a:r>
              <a:rPr dirty="0"/>
              <a:t> 네 </a:t>
            </a:r>
            <a:r>
              <a:rPr dirty="0" err="1"/>
              <a:t>번째</a:t>
            </a:r>
            <a:r>
              <a:rPr dirty="0"/>
              <a:t> 줄</a:t>
            </a:r>
          </a:p>
          <a:p>
            <a:pPr lvl="4"/>
            <a:r>
              <a:rPr dirty="0" err="1"/>
              <a:t>본문</a:t>
            </a:r>
            <a:r>
              <a:rPr dirty="0"/>
              <a:t> </a:t>
            </a:r>
            <a:r>
              <a:rPr dirty="0" err="1"/>
              <a:t>다섯</a:t>
            </a:r>
            <a:r>
              <a:rPr dirty="0"/>
              <a:t> </a:t>
            </a:r>
            <a:r>
              <a:rPr dirty="0" err="1"/>
              <a:t>번째</a:t>
            </a:r>
            <a:r>
              <a:rPr dirty="0"/>
              <a:t> 줄</a:t>
            </a:r>
          </a:p>
        </p:txBody>
      </p:sp>
      <p:sp>
        <p:nvSpPr>
          <p:cNvPr id="4" name="슬라이드 번호"/>
          <p:cNvSpPr txBox="1">
            <a:spLocks noGrp="1"/>
          </p:cNvSpPr>
          <p:nvPr>
            <p:ph type="sldNum" sz="quarter" idx="2"/>
          </p:nvPr>
        </p:nvSpPr>
        <p:spPr>
          <a:xfrm>
            <a:off x="6001726" y="6560020"/>
            <a:ext cx="236601" cy="230832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8" r:id="rId8"/>
    <p:sldLayoutId id="2147483659" r:id="rId9"/>
    <p:sldLayoutId id="2147483660" r:id="rId10"/>
  </p:sldLayoutIdLst>
  <p:transition spd="med"/>
  <p:txStyles>
    <p:titleStyle>
      <a:lvl1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1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1pPr>
      <a:lvl2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2pPr>
      <a:lvl3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3pPr>
      <a:lvl4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4pPr>
      <a:lvl5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5pPr>
      <a:lvl6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6pPr>
      <a:lvl7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7pPr>
      <a:lvl8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8pPr>
      <a:lvl9pPr marL="0" marR="0" indent="0" algn="l" defTabSz="742932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5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9pPr>
    </p:titleStyle>
    <p:bodyStyle>
      <a:lvl1pPr marL="185733" marR="0" indent="-185733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0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1pPr>
      <a:lvl2pPr marL="586525" marR="0" indent="-215060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2pPr>
      <a:lvl3pPr marL="998314" marR="0" indent="-255383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3pPr>
      <a:lvl4pPr marL="1406264" marR="0" indent="-291866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4pPr>
      <a:lvl5pPr marL="1777730" marR="0" indent="-291866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맑은 고딕" panose="020B0503020000020004" pitchFamily="50" charset="-127"/>
        <a:buChar char="–"/>
        <a:tabLst/>
        <a:defRPr sz="16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5pPr>
      <a:lvl6pPr marL="2149196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6pPr>
      <a:lvl7pPr marL="2520661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7pPr>
      <a:lvl8pPr marL="2892126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8pPr>
      <a:lvl9pPr marL="3263593" marR="0" indent="-291867" algn="l" defTabSz="742932" rtl="0" latinLnBrk="0">
        <a:lnSpc>
          <a:spcPct val="90000"/>
        </a:lnSpc>
        <a:spcBef>
          <a:spcPts val="800"/>
        </a:spcBef>
        <a:spcAft>
          <a:spcPts val="0"/>
        </a:spcAft>
        <a:buClrTx/>
        <a:buSzPct val="100000"/>
        <a:buFont typeface="Arial"/>
        <a:buChar char="•"/>
        <a:tabLst/>
        <a:defRPr sz="2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맑은 고딕"/>
        </a:defRPr>
      </a:lvl9pPr>
    </p:bodyStyle>
    <p:otherStyle>
      <a:lvl1pPr marL="0" marR="0" indent="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1pPr>
      <a:lvl2pPr marL="0" marR="0" indent="457189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2pPr>
      <a:lvl3pPr marL="0" marR="0" indent="914377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3pPr>
      <a:lvl4pPr marL="0" marR="0" indent="1371566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4pPr>
      <a:lvl5pPr marL="0" marR="0" indent="1828754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5pPr>
      <a:lvl6pPr marL="0" marR="0" indent="2285943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6pPr>
      <a:lvl7pPr marL="0" marR="0" indent="2743131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7pPr>
      <a:lvl8pPr marL="0" marR="0" indent="3200320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8pPr>
      <a:lvl9pPr marL="0" marR="0" indent="3657509" algn="r" defTabSz="914377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9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맑은 고딕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bumin35@hanyang.ac.k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slbiog3025@hanyang.ac.kr" TargetMode="External"/><Relationship Id="rId4" Type="http://schemas.openxmlformats.org/officeDocument/2006/relationships/hyperlink" Target="mailto:kkyou123@hanyang.ac.kr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C825D4-4E72-43DB-9A22-D1B102EEB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z="4000" dirty="0"/>
              <a:t>DRAM Utilization</a:t>
            </a:r>
            <a:br>
              <a:rPr lang="en-US" altLang="ko-KR" sz="4000" dirty="0"/>
            </a:br>
            <a:r>
              <a:rPr lang="en-US" altLang="ko-KR" sz="4000" dirty="0"/>
              <a:t>How to maximize memory bandwidth</a:t>
            </a:r>
            <a:br>
              <a:rPr lang="en-US" altLang="ko-KR" sz="4000" dirty="0"/>
            </a:br>
            <a:endParaRPr lang="ko-KR" altLang="en-US" sz="400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4E2EA9-68B3-450D-B960-48AAF0A850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66800" y="2561581"/>
            <a:ext cx="10058400" cy="884208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AIHA-Intern-2023-NPU</a:t>
            </a:r>
          </a:p>
          <a:p>
            <a:endParaRPr lang="en-US" altLang="ko-KR" sz="2800" dirty="0"/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D5C8AE0E-B703-F753-449B-C0A76C88AA37}"/>
              </a:ext>
            </a:extLst>
          </p:cNvPr>
          <p:cNvSpPr txBox="1">
            <a:spLocks/>
          </p:cNvSpPr>
          <p:nvPr/>
        </p:nvSpPr>
        <p:spPr>
          <a:xfrm>
            <a:off x="1676400" y="3814318"/>
            <a:ext cx="9144000" cy="18287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normAutofit/>
          </a:bodyPr>
          <a:lstStyle>
            <a:lvl1pPr marL="0" marR="0" indent="0" algn="ctr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0" marR="0" indent="371465" algn="ctr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0" marR="0" indent="742932" algn="ctr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0" marR="0" indent="1114397" algn="ctr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0" marR="0" indent="1485863" algn="ctr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9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hangingPunct="1"/>
            <a:r>
              <a:rPr lang="en-US" altLang="ko-KR" sz="2800"/>
              <a:t>Dongbeom Son / Wonbin Seo / Sumin Lee</a:t>
            </a:r>
          </a:p>
          <a:p>
            <a:pPr hangingPunct="1"/>
            <a:r>
              <a:rPr lang="en-US" altLang="ko-KR" sz="1600">
                <a:hlinkClick r:id="rId3"/>
              </a:rPr>
              <a:t>bumin35@hanyang.ac.kr</a:t>
            </a:r>
            <a:r>
              <a:rPr lang="en-US" altLang="ko-KR" sz="1600"/>
              <a:t> / </a:t>
            </a:r>
            <a:r>
              <a:rPr lang="en-US" altLang="ko-KR" sz="1600">
                <a:hlinkClick r:id="rId4"/>
              </a:rPr>
              <a:t>kkyou123@hanyang.ac.kr</a:t>
            </a:r>
            <a:r>
              <a:rPr lang="en-US" altLang="ko-KR" sz="1600"/>
              <a:t> / </a:t>
            </a:r>
            <a:r>
              <a:rPr lang="en-US" altLang="ko-KR" sz="1600">
                <a:hlinkClick r:id="rId5"/>
              </a:rPr>
              <a:t>slbiog3025@hanyang.ac.kr</a:t>
            </a:r>
            <a:endParaRPr lang="en-US" altLang="ko-KR" sz="2000"/>
          </a:p>
          <a:p>
            <a:pPr hangingPunct="1"/>
            <a:r>
              <a:rPr lang="en-US" altLang="ko-KR" sz="2000"/>
              <a:t>2023 aiha-intern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823954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CDCF5-727C-405F-A1C0-1E7FA145D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Table of Contents</a:t>
            </a:r>
            <a:endParaRPr lang="ko-KR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B0855-1356-4CA7-A5CD-4D7CA0E4AE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4731325" cy="5029650"/>
          </a:xfrm>
        </p:spPr>
        <p:txBody>
          <a:bodyPr>
            <a:normAutofit/>
          </a:bodyPr>
          <a:lstStyle/>
          <a:p>
            <a:r>
              <a:rPr lang="en-US" altLang="ko-KR" dirty="0"/>
              <a:t>DDR4 Utilization</a:t>
            </a:r>
          </a:p>
          <a:p>
            <a:pPr lvl="1"/>
            <a:r>
              <a:rPr lang="en-US" altLang="ko-KR" dirty="0"/>
              <a:t>Background</a:t>
            </a:r>
          </a:p>
          <a:p>
            <a:pPr lvl="1"/>
            <a:r>
              <a:rPr lang="en-US" altLang="ko-KR" dirty="0"/>
              <a:t>Bandwidth optimization method</a:t>
            </a:r>
          </a:p>
          <a:p>
            <a:pPr lvl="1"/>
            <a:endParaRPr lang="en-US" altLang="ko-KR" dirty="0"/>
          </a:p>
          <a:p>
            <a:pPr marL="313573" indent="-342900"/>
            <a:r>
              <a:rPr lang="en-US" altLang="ko-KR" dirty="0"/>
              <a:t>Using multiple banks</a:t>
            </a:r>
          </a:p>
          <a:p>
            <a:pPr marL="714365" lvl="1" indent="-342900"/>
            <a:r>
              <a:rPr lang="en-US" altLang="ko-KR" sz="1800" dirty="0">
                <a:latin typeface="Malgun Gothic"/>
                <a:ea typeface="Malgun Gothic"/>
              </a:rPr>
              <a:t>Parallelizing with multiple banks</a:t>
            </a:r>
            <a:endParaRPr lang="en-US" altLang="ko-KR" dirty="0">
              <a:latin typeface="맑은 고딕"/>
              <a:ea typeface="맑은 고딕"/>
            </a:endParaRPr>
          </a:p>
          <a:p>
            <a:pPr marL="714365" lvl="1" indent="-342900"/>
            <a:r>
              <a:rPr lang="en-US" altLang="ko-KR" sz="1800" dirty="0">
                <a:latin typeface="Malgun Gothic"/>
                <a:ea typeface="Malgun Gothic"/>
              </a:rPr>
              <a:t>Before using multiple memory</a:t>
            </a:r>
            <a:endParaRPr lang="en-US" altLang="ko-KR" dirty="0">
              <a:latin typeface="맑은 고딕"/>
              <a:ea typeface="맑은 고딕"/>
            </a:endParaRPr>
          </a:p>
          <a:p>
            <a:pPr marL="714365" lvl="1" indent="-342900"/>
            <a:r>
              <a:rPr lang="en-US" altLang="ko-KR" sz="1800" dirty="0"/>
              <a:t>Using 2 different memory resources</a:t>
            </a:r>
          </a:p>
          <a:p>
            <a:pPr marL="714365" lvl="1" indent="-342900"/>
            <a:endParaRPr lang="en-US" altLang="ko-KR" dirty="0"/>
          </a:p>
          <a:p>
            <a:pPr marL="313573" indent="-342900"/>
            <a:r>
              <a:rPr lang="en-US" altLang="ko-KR" dirty="0"/>
              <a:t>Using maximum data width</a:t>
            </a:r>
          </a:p>
          <a:p>
            <a:pPr marL="313573" indent="-342900"/>
            <a:endParaRPr lang="en-US" altLang="ko-KR" dirty="0"/>
          </a:p>
          <a:p>
            <a:pPr marL="313573" indent="-342900"/>
            <a:r>
              <a:rPr lang="en-US" altLang="ko-KR" dirty="0"/>
              <a:t>AXI Burst transfer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54844-DA11-4845-9D48-C83CC6607DF8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2</a:t>
            </a:fld>
            <a:endParaRPr lang="ko-KR" altLang="en-US" dirty="0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17CC424E-4DF8-4471-E2B9-219165C9867D}"/>
              </a:ext>
            </a:extLst>
          </p:cNvPr>
          <p:cNvSpPr txBox="1">
            <a:spLocks/>
          </p:cNvSpPr>
          <p:nvPr/>
        </p:nvSpPr>
        <p:spPr>
          <a:xfrm>
            <a:off x="5883236" y="1009291"/>
            <a:ext cx="4731325" cy="502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hangingPunct="1"/>
            <a:r>
              <a:rPr lang="en-US" altLang="ko-KR" dirty="0"/>
              <a:t>Constraints</a:t>
            </a:r>
          </a:p>
          <a:p>
            <a:pPr hangingPunct="1"/>
            <a:endParaRPr lang="en-US" altLang="ko-KR" dirty="0"/>
          </a:p>
          <a:p>
            <a:pPr hangingPunct="1"/>
            <a:r>
              <a:rPr lang="en-US" altLang="ko-KR" dirty="0"/>
              <a:t>Use memory bandwidth at maximum</a:t>
            </a:r>
          </a:p>
          <a:p>
            <a:pPr lvl="1" hangingPunct="1"/>
            <a:r>
              <a:rPr lang="en-US" altLang="ko-KR" dirty="0">
                <a:latin typeface="맑은 고딕"/>
                <a:ea typeface="맑은 고딕"/>
              </a:rPr>
              <a:t>Modify kernel for 512-bit interface</a:t>
            </a:r>
          </a:p>
          <a:p>
            <a:pPr lvl="1" hangingPunct="1"/>
            <a:r>
              <a:rPr lang="en-US" altLang="ko-KR" dirty="0">
                <a:latin typeface="맑은 고딕"/>
                <a:ea typeface="맑은 고딕"/>
              </a:rPr>
              <a:t>Connect multiple bank for single kernel </a:t>
            </a:r>
            <a:endParaRPr lang="ko-KR" altLang="en-US" dirty="0">
              <a:latin typeface="맑은 고딕"/>
              <a:ea typeface="맑은 고딕"/>
            </a:endParaRPr>
          </a:p>
          <a:p>
            <a:pPr marL="586105" lvl="1" indent="-214630"/>
            <a:r>
              <a:rPr lang="en-US" altLang="ko-KR" dirty="0">
                <a:latin typeface="맑은 고딕"/>
                <a:ea typeface="맑은 고딕"/>
              </a:rPr>
              <a:t>Connect multiple bank for multiple kernel one by one</a:t>
            </a:r>
          </a:p>
          <a:p>
            <a:pPr marL="586105" lvl="1" indent="-214630"/>
            <a:endParaRPr lang="en-US" altLang="ko-KR" sz="1600" dirty="0">
              <a:latin typeface="맑은 고딕"/>
              <a:ea typeface="맑은 고딕"/>
            </a:endParaRPr>
          </a:p>
          <a:p>
            <a:pPr lvl="1" hangingPunct="1"/>
            <a:endParaRPr lang="en-US" altLang="ko-KR" dirty="0"/>
          </a:p>
          <a:p>
            <a:pPr hangingPunct="1"/>
            <a:r>
              <a:rPr lang="en-US" altLang="ko-KR" dirty="0"/>
              <a:t>Appendix</a:t>
            </a:r>
          </a:p>
          <a:p>
            <a:pPr hangingPunct="1"/>
            <a:endParaRPr lang="en-US" altLang="ko-KR" dirty="0"/>
          </a:p>
          <a:p>
            <a:pPr hangingPunct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83981833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DDR4 utilization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/>
              <a:t>Background</a:t>
            </a:r>
          </a:p>
          <a:p>
            <a:pPr marL="586105" lvl="1" indent="-214630"/>
            <a:r>
              <a:rPr lang="en-US" altLang="ko-KR" dirty="0"/>
              <a:t>Between kernel and global memory, data transferred with AXI4 Interface</a:t>
            </a:r>
          </a:p>
          <a:p>
            <a:pPr marL="586105" lvl="1" indent="-214630"/>
            <a:r>
              <a:rPr lang="en-US" altLang="ko-KR" dirty="0"/>
              <a:t>Global memory contains 4 DDR4 banks, each bank has one AXI slave Interface </a:t>
            </a:r>
          </a:p>
          <a:p>
            <a:pPr marL="586105" lvl="1" indent="-214630"/>
            <a:r>
              <a:rPr lang="en-US" dirty="0">
                <a:ea typeface="+mj-lt"/>
                <a:cs typeface="+mj-lt"/>
              </a:rPr>
              <a:t>Only one kernel at a time can read and write data from the global memory.</a:t>
            </a:r>
          </a:p>
          <a:p>
            <a:pPr marL="586105" lvl="1" indent="-214630"/>
            <a:r>
              <a:rPr lang="en-US" dirty="0">
                <a:ea typeface="+mj-lt"/>
                <a:cs typeface="+mj-lt"/>
              </a:rPr>
              <a:t>Reading and writing cannot occur simultaneously.</a:t>
            </a:r>
          </a:p>
          <a:p>
            <a:pPr marL="586105" lvl="1" indent="-214630"/>
            <a:endParaRPr lang="en-US" dirty="0"/>
          </a:p>
          <a:p>
            <a:pPr marL="185420" indent="-185420">
              <a:buFont typeface="Arial" panose="020B0503020000020004" pitchFamily="50" charset="-127"/>
              <a:buChar char="•"/>
            </a:pPr>
            <a:r>
              <a:rPr lang="en-US" sz="1800" dirty="0">
                <a:latin typeface="Malgun Gothic"/>
                <a:ea typeface="Malgun Gothic"/>
              </a:rPr>
              <a:t>DDR4 specifications</a:t>
            </a:r>
          </a:p>
          <a:p>
            <a:pPr marL="586105" lvl="1" indent="-214630"/>
            <a:r>
              <a:rPr lang="en-US" dirty="0">
                <a:latin typeface="Malgun Gothic"/>
                <a:ea typeface="Malgun Gothic"/>
              </a:rPr>
              <a:t>Maximum total bandwidth ~77GB/s (19GB/s for each bank)</a:t>
            </a:r>
          </a:p>
          <a:p>
            <a:pPr marL="586105" lvl="1" indent="-214630"/>
            <a:endParaRPr lang="en-US" altLang="ko-KR" dirty="0"/>
          </a:p>
          <a:p>
            <a:pPr marL="371475" lvl="1" indent="0">
              <a:buNone/>
            </a:pPr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568341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DDR4 utilization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dirty="0"/>
              <a:t>Bandwidth optimization method</a:t>
            </a:r>
          </a:p>
          <a:p>
            <a:pPr marL="586105" lvl="1" indent="-214630"/>
            <a:r>
              <a:rPr lang="en-US" altLang="ko-KR" dirty="0">
                <a:ea typeface="+mj-lt"/>
                <a:cs typeface="+mj-lt"/>
              </a:rPr>
              <a:t>Parallelizing with multiple banks</a:t>
            </a:r>
            <a:endParaRPr lang="en-US" altLang="ko-KR" dirty="0"/>
          </a:p>
          <a:p>
            <a:pPr marL="586105" lvl="1" indent="-214630"/>
            <a:r>
              <a:rPr lang="en-US" altLang="ko-KR" dirty="0"/>
              <a:t>Using maximum data width for AXI4 interface which is 512bits</a:t>
            </a:r>
          </a:p>
          <a:p>
            <a:pPr marL="586105" lvl="1" indent="-214630"/>
            <a:r>
              <a:rPr lang="en-US" altLang="ko-KR" dirty="0">
                <a:ea typeface="+mj-lt"/>
                <a:cs typeface="+mj-lt"/>
              </a:rPr>
              <a:t>Using AXI Burst transfers</a:t>
            </a:r>
          </a:p>
          <a:p>
            <a:pPr marL="586105" lvl="1" indent="-214630"/>
            <a:endParaRPr lang="en-US" dirty="0"/>
          </a:p>
          <a:p>
            <a:pPr marL="586105" lvl="1" indent="-214630"/>
            <a:endParaRPr lang="en-US" dirty="0">
              <a:latin typeface="맑은 고딕"/>
              <a:ea typeface="맑은 고딕"/>
            </a:endParaRPr>
          </a:p>
          <a:p>
            <a:pPr marL="185420" indent="-185420">
              <a:buFont typeface="Arial" panose="020B0503020000020004" pitchFamily="50" charset="-127"/>
              <a:buChar char="•"/>
            </a:pPr>
            <a:endParaRPr lang="ko-KR" alt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371475" lvl="1" indent="0">
              <a:buNone/>
            </a:pPr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1720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Using multiple banks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sz="1800" dirty="0">
                <a:latin typeface="Malgun Gothic"/>
                <a:ea typeface="Malgun Gothic"/>
              </a:rPr>
              <a:t>Parallelizing with multiple banks</a:t>
            </a:r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/>
            <a:r>
              <a:rPr lang="en-US" sz="1600" dirty="0">
                <a:ea typeface="+mj-lt"/>
                <a:cs typeface="+mj-lt"/>
              </a:rPr>
              <a:t>Each bank can handle only one transaction at a time.</a:t>
            </a:r>
          </a:p>
          <a:p>
            <a:pPr marL="586105" lvl="1" indent="-214630"/>
            <a:r>
              <a:rPr lang="en-US" sz="1600" dirty="0">
                <a:ea typeface="+mj-lt"/>
                <a:cs typeface="+mj-lt"/>
              </a:rPr>
              <a:t>Ideal bandwidth of each bank is 19.2GB/s, utilizing all four bank simultaneously results in bandwidth of ~77GB/s</a:t>
            </a:r>
          </a:p>
          <a:p>
            <a:pPr marL="586105" lvl="1" indent="-214630"/>
            <a:endParaRPr lang="en-US" sz="1600" dirty="0">
              <a:latin typeface="맑은 고딕"/>
              <a:ea typeface="맑은 고딕"/>
            </a:endParaRPr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5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B6F837E-2A3F-4541-8ECF-E048EAC5F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8183" y="2660095"/>
            <a:ext cx="5095634" cy="2741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34034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Using multiple banks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sz="1800" dirty="0">
                <a:latin typeface="Malgun Gothic"/>
                <a:ea typeface="Malgun Gothic"/>
              </a:rPr>
              <a:t>Before using multiple memory</a:t>
            </a:r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/>
            <a:r>
              <a:rPr lang="en-US" altLang="ko-KR" dirty="0"/>
              <a:t>Using same memory resources (DDR[0])</a:t>
            </a: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212" lvl="1" indent="-185420"/>
            <a:endParaRPr lang="en-US" altLang="ko-KR" dirty="0"/>
          </a:p>
          <a:p>
            <a:pPr marL="586212" lvl="1" indent="-185420"/>
            <a:endParaRPr lang="en-US" altLang="ko-KR" dirty="0"/>
          </a:p>
          <a:p>
            <a:pPr marL="586212" lvl="1" indent="-185420"/>
            <a:endParaRPr lang="en-US" altLang="ko-KR" dirty="0"/>
          </a:p>
          <a:p>
            <a:pPr marL="586212" lvl="1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6</a:t>
            </a:fld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D9E71E8-60CA-BBE5-12EF-4C1F4706CD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734" y="1900938"/>
            <a:ext cx="10274531" cy="1026094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7B428FAD-6C26-1D42-1589-D7EAE49C808D}"/>
              </a:ext>
            </a:extLst>
          </p:cNvPr>
          <p:cNvSpPr/>
          <p:nvPr/>
        </p:nvSpPr>
        <p:spPr>
          <a:xfrm>
            <a:off x="958735" y="2413985"/>
            <a:ext cx="820190" cy="475624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CCF183A-4B35-D41A-6D7F-173C72CAC2C2}"/>
              </a:ext>
            </a:extLst>
          </p:cNvPr>
          <p:cNvSpPr/>
          <p:nvPr/>
        </p:nvSpPr>
        <p:spPr>
          <a:xfrm>
            <a:off x="5669278" y="2413985"/>
            <a:ext cx="1188722" cy="513047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1A1905B-42B0-AF93-7B95-105A37D792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0785" y="3930969"/>
            <a:ext cx="7155960" cy="1237552"/>
          </a:xfrm>
          <a:prstGeom prst="rect">
            <a:avLst/>
          </a:prstGeom>
        </p:spPr>
      </p:pic>
      <p:sp>
        <p:nvSpPr>
          <p:cNvPr id="16" name="직사각형 15">
            <a:extLst>
              <a:ext uri="{FF2B5EF4-FFF2-40B4-BE49-F238E27FC236}">
                <a16:creationId xmlns:a16="http://schemas.microsoft.com/office/drawing/2014/main" id="{F873A990-A915-A62D-D7B4-BD4801161F01}"/>
              </a:ext>
            </a:extLst>
          </p:cNvPr>
          <p:cNvSpPr/>
          <p:nvPr/>
        </p:nvSpPr>
        <p:spPr>
          <a:xfrm>
            <a:off x="8778239" y="4678211"/>
            <a:ext cx="1064029" cy="299258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383505027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Using multiple banks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5719" tIns="45720" rIns="45719" bIns="45720" anchor="t">
            <a:normAutofit/>
          </a:bodyPr>
          <a:lstStyle/>
          <a:p>
            <a:pPr marL="657225" lvl="1" indent="-285750"/>
            <a:r>
              <a:rPr lang="en-US" altLang="ko-KR" sz="1600" dirty="0"/>
              <a:t>Using 2 different memory resources (DDR[1], DDR[2])</a:t>
            </a:r>
          </a:p>
          <a:p>
            <a:pPr marL="657225" lvl="1" indent="-285750"/>
            <a:r>
              <a:rPr lang="en-US" altLang="ko-KR" sz="1600" dirty="0"/>
              <a:t>CU placement is notable feature</a:t>
            </a:r>
          </a:p>
          <a:p>
            <a:pPr marL="657225" lvl="1" indent="-285750"/>
            <a:endParaRPr lang="en-US" altLang="ko-KR" sz="1600" dirty="0"/>
          </a:p>
          <a:p>
            <a:pPr marL="657225" lvl="1" indent="-285750"/>
            <a:endParaRPr lang="en-US" altLang="ko-KR" sz="1600" dirty="0"/>
          </a:p>
          <a:p>
            <a:pPr marL="657225" lvl="1" indent="-285750"/>
            <a:endParaRPr lang="en-US" altLang="ko-KR" sz="1600" dirty="0"/>
          </a:p>
          <a:p>
            <a:pPr marL="657225" lvl="1" indent="-285750"/>
            <a:endParaRPr lang="en-US" altLang="ko-KR" sz="1600" dirty="0"/>
          </a:p>
          <a:p>
            <a:pPr marL="657225" lvl="1" indent="-285750"/>
            <a:endParaRPr lang="en-US" altLang="ko-KR" sz="1600" dirty="0"/>
          </a:p>
          <a:p>
            <a:pPr marL="657225" lvl="1" indent="-285750"/>
            <a:endParaRPr lang="en-US" altLang="ko-KR" sz="1600" dirty="0"/>
          </a:p>
          <a:p>
            <a:pPr marL="657225" lvl="1" indent="-285750"/>
            <a:endParaRPr lang="en-US" altLang="ko-KR" sz="1600" dirty="0"/>
          </a:p>
          <a:p>
            <a:pPr marL="657225" lvl="1" indent="-285750"/>
            <a:endParaRPr lang="en-US" altLang="ko-KR" sz="1600" dirty="0"/>
          </a:p>
          <a:p>
            <a:pPr marL="657225" lvl="1" indent="-285750"/>
            <a:endParaRPr lang="en-US" altLang="ko-KR" sz="1600" dirty="0"/>
          </a:p>
          <a:p>
            <a:pPr marL="657225" lvl="1" indent="-285750"/>
            <a:endParaRPr lang="en-US" altLang="ko-KR" sz="1600" dirty="0"/>
          </a:p>
          <a:p>
            <a:pPr marL="657225" lvl="1" indent="-285750"/>
            <a:endParaRPr lang="en-US" altLang="ko-KR" sz="1600" dirty="0"/>
          </a:p>
          <a:p>
            <a:pPr marL="657225" lvl="1" indent="-285750"/>
            <a:endParaRPr lang="en-US" altLang="ko-KR" sz="1600" dirty="0"/>
          </a:p>
          <a:p>
            <a:pPr marL="657225" lvl="1" indent="-285750"/>
            <a:endParaRPr lang="en-US" altLang="ko-KR" sz="1600" dirty="0"/>
          </a:p>
          <a:p>
            <a:pPr marL="371475" lvl="1" indent="0">
              <a:buNone/>
            </a:pPr>
            <a:endParaRPr lang="en-US" altLang="ko-KR" sz="1600" dirty="0"/>
          </a:p>
          <a:p>
            <a:pPr marL="657225" lvl="1" indent="-285750"/>
            <a:endParaRPr lang="en-US" sz="1600" dirty="0">
              <a:latin typeface="Malgun Gothic"/>
              <a:ea typeface="Malgun Gothic"/>
              <a:cs typeface="+mj-lt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dirty="0">
              <a:latin typeface="맑은 고딕"/>
              <a:ea typeface="맑은 고딕"/>
            </a:endParaRPr>
          </a:p>
          <a:p>
            <a:pPr marL="586105" lvl="1" indent="-214630"/>
            <a:endParaRPr lang="en-US" altLang="ko-KR" dirty="0" err="1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7</a:t>
            </a:fld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268020B-1517-DFDA-C175-1B62EECAA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677" y="1767787"/>
            <a:ext cx="9640645" cy="762106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55B48F49-30B4-319A-4797-901ED05E9019}"/>
              </a:ext>
            </a:extLst>
          </p:cNvPr>
          <p:cNvSpPr/>
          <p:nvPr/>
        </p:nvSpPr>
        <p:spPr>
          <a:xfrm>
            <a:off x="1275677" y="2119390"/>
            <a:ext cx="794192" cy="410503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F35E1DD-EEBD-2B62-FD16-AE52DD1DB45F}"/>
              </a:ext>
            </a:extLst>
          </p:cNvPr>
          <p:cNvSpPr/>
          <p:nvPr/>
        </p:nvSpPr>
        <p:spPr>
          <a:xfrm>
            <a:off x="4387407" y="2119389"/>
            <a:ext cx="1273559" cy="410503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5C57C75E-2F84-70E4-100F-87B479DEE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869" y="4538955"/>
            <a:ext cx="7925906" cy="67636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056F2C5-2AA2-33B7-B104-8D0176E6F1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438" y="3948989"/>
            <a:ext cx="11079121" cy="35247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DE34957E-FC9D-1808-1F8F-D6C8BBEAFA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5206" y="2760274"/>
            <a:ext cx="6001588" cy="971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79332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Using maximum data width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sz="1800" dirty="0">
                <a:latin typeface="Malgun Gothic"/>
                <a:ea typeface="Malgun Gothic"/>
              </a:rPr>
              <a:t>Using maximum data width for AXI4</a:t>
            </a:r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/>
            <a:r>
              <a:rPr lang="en-US" sz="1600" dirty="0">
                <a:latin typeface="Malgun Gothic"/>
                <a:ea typeface="Malgun Gothic"/>
              </a:rPr>
              <a:t>AXI4 interface supports 32, 64, 128, 256, 512bit data width</a:t>
            </a:r>
          </a:p>
          <a:p>
            <a:pPr marL="586105" lvl="1" indent="-214630"/>
            <a:r>
              <a:rPr lang="en-US" sz="1600" dirty="0">
                <a:latin typeface="Malgun Gothic"/>
                <a:ea typeface="Malgun Gothic"/>
              </a:rPr>
              <a:t>Using 512bit width Ideally transfers 512bit per cycle which is 19.2GB/s</a:t>
            </a:r>
          </a:p>
          <a:p>
            <a:pPr marL="586105" lvl="1" indent="-214630"/>
            <a:endParaRPr lang="en-US" sz="1600" dirty="0">
              <a:latin typeface="Malgun Gothic"/>
              <a:ea typeface="Malgun Gothic"/>
              <a:cs typeface="+mj-lt"/>
            </a:endParaRPr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dirty="0">
              <a:latin typeface="맑은 고딕"/>
              <a:ea typeface="맑은 고딕"/>
            </a:endParaRPr>
          </a:p>
          <a:p>
            <a:pPr marL="185420" indent="-185420">
              <a:buFont typeface="Arial" panose="020B0503020000020004" pitchFamily="50" charset="-127"/>
              <a:buChar char="•"/>
            </a:pPr>
            <a:r>
              <a:rPr lang="ko-KR" altLang="en-US" dirty="0" err="1">
                <a:latin typeface="Malgun Gothic"/>
                <a:ea typeface="Malgun Gothic"/>
              </a:rPr>
              <a:t>Application</a:t>
            </a:r>
            <a:endParaRPr lang="ko-KR" altLang="en-US" dirty="0">
              <a:latin typeface="Malgun Gothic"/>
              <a:ea typeface="Malgun Gothic"/>
            </a:endParaRPr>
          </a:p>
          <a:p>
            <a:pPr marL="586105" lvl="1" indent="-214630"/>
            <a:r>
              <a:rPr lang="en-US" altLang="ko-KR" dirty="0"/>
              <a:t>Set AXI4 interface bit width = 512</a:t>
            </a:r>
          </a:p>
          <a:p>
            <a:pPr marL="586105" lvl="1" indent="-214630"/>
            <a:r>
              <a:rPr lang="en-US" altLang="ko-KR" dirty="0"/>
              <a:t>Set appropriate data width as 4KB</a:t>
            </a:r>
          </a:p>
          <a:p>
            <a:pPr marL="586105" lvl="1" indent="-214630"/>
            <a:endParaRPr lang="en-US" altLang="ko-KR" dirty="0" err="1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82937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AXI Burst transfer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sz="1800" dirty="0">
                <a:latin typeface="Malgun Gothic"/>
                <a:ea typeface="Malgun Gothic"/>
              </a:rPr>
              <a:t>Using AXI Burst transfers</a:t>
            </a:r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/>
            <a:r>
              <a:rPr lang="en-US" sz="1600" dirty="0">
                <a:ea typeface="+mj-lt"/>
                <a:cs typeface="+mj-lt"/>
              </a:rPr>
              <a:t>AXI4 interface supports a maximum burst length of 256.</a:t>
            </a:r>
          </a:p>
          <a:p>
            <a:pPr marL="586105" lvl="1" indent="-214630"/>
            <a:r>
              <a:rPr lang="en-US" sz="1600" dirty="0">
                <a:ea typeface="+mj-lt"/>
                <a:cs typeface="+mj-lt"/>
              </a:rPr>
              <a:t>It’s illegal in AXI to cross 4kB boundaries. For 512bit bandwidth, maximum burst length is 64 beats</a:t>
            </a:r>
            <a:endParaRPr lang="en-US" altLang="ko-KR" sz="1600" dirty="0">
              <a:ea typeface="+mj-lt"/>
              <a:cs typeface="+mj-lt"/>
            </a:endParaRPr>
          </a:p>
          <a:p>
            <a:pPr marL="586105" lvl="1" indent="-214630"/>
            <a:r>
              <a:rPr lang="ko-KR" altLang="en-US" sz="1600" dirty="0" err="1">
                <a:ea typeface="+mj-lt"/>
                <a:cs typeface="+mj-lt"/>
              </a:rPr>
              <a:t>Buffer</a:t>
            </a:r>
            <a:r>
              <a:rPr lang="ko-KR" altLang="en-US" sz="1600" dirty="0">
                <a:ea typeface="+mj-lt"/>
                <a:cs typeface="+mj-lt"/>
              </a:rPr>
              <a:t> </a:t>
            </a:r>
            <a:r>
              <a:rPr lang="ko-KR" altLang="en-US" sz="1600" dirty="0" err="1">
                <a:ea typeface="+mj-lt"/>
                <a:cs typeface="+mj-lt"/>
              </a:rPr>
              <a:t>allocated</a:t>
            </a:r>
            <a:r>
              <a:rPr lang="ko-KR" altLang="en-US" sz="1600" dirty="0">
                <a:ea typeface="+mj-lt"/>
                <a:cs typeface="+mj-lt"/>
              </a:rPr>
              <a:t> </a:t>
            </a:r>
            <a:r>
              <a:rPr lang="ko-KR" altLang="en-US" sz="1600" dirty="0" err="1">
                <a:ea typeface="+mj-lt"/>
                <a:cs typeface="+mj-lt"/>
              </a:rPr>
              <a:t>in</a:t>
            </a:r>
            <a:r>
              <a:rPr lang="ko-KR" altLang="en-US" sz="1600" dirty="0">
                <a:ea typeface="+mj-lt"/>
                <a:cs typeface="+mj-lt"/>
              </a:rPr>
              <a:t> </a:t>
            </a:r>
            <a:r>
              <a:rPr lang="ko-KR" altLang="en-US" sz="1600" dirty="0" err="1">
                <a:ea typeface="+mj-lt"/>
                <a:cs typeface="+mj-lt"/>
              </a:rPr>
              <a:t>global</a:t>
            </a:r>
            <a:r>
              <a:rPr lang="ko-KR" altLang="en-US" sz="1600" dirty="0">
                <a:ea typeface="+mj-lt"/>
                <a:cs typeface="+mj-lt"/>
              </a:rPr>
              <a:t> </a:t>
            </a:r>
            <a:r>
              <a:rPr lang="ko-KR" altLang="en-US" sz="1600" dirty="0" err="1">
                <a:ea typeface="+mj-lt"/>
                <a:cs typeface="+mj-lt"/>
              </a:rPr>
              <a:t>memory</a:t>
            </a:r>
            <a:r>
              <a:rPr lang="ko-KR" altLang="en-US" sz="1600" dirty="0">
                <a:ea typeface="+mj-lt"/>
                <a:cs typeface="+mj-lt"/>
              </a:rPr>
              <a:t> </a:t>
            </a:r>
            <a:r>
              <a:rPr lang="ko-KR" altLang="en-US" sz="1600" dirty="0" err="1">
                <a:ea typeface="+mj-lt"/>
                <a:cs typeface="+mj-lt"/>
              </a:rPr>
              <a:t>has</a:t>
            </a:r>
            <a:r>
              <a:rPr lang="ko-KR" altLang="en-US" sz="1600" dirty="0">
                <a:ea typeface="+mj-lt"/>
                <a:cs typeface="+mj-lt"/>
              </a:rPr>
              <a:t> </a:t>
            </a:r>
            <a:r>
              <a:rPr lang="ko-KR" altLang="en-US" sz="1600" dirty="0" err="1">
                <a:ea typeface="+mj-lt"/>
                <a:cs typeface="+mj-lt"/>
              </a:rPr>
              <a:t>contiguous</a:t>
            </a:r>
            <a:r>
              <a:rPr lang="ko-KR" altLang="en-US" sz="1600" dirty="0">
                <a:ea typeface="+mj-lt"/>
                <a:cs typeface="+mj-lt"/>
              </a:rPr>
              <a:t> </a:t>
            </a:r>
            <a:r>
              <a:rPr lang="ko-KR" altLang="en-US" sz="1600" dirty="0" err="1">
                <a:ea typeface="+mj-lt"/>
                <a:cs typeface="+mj-lt"/>
              </a:rPr>
              <a:t>physical</a:t>
            </a:r>
            <a:r>
              <a:rPr lang="ko-KR" altLang="en-US" sz="1600" dirty="0">
                <a:ea typeface="+mj-lt"/>
                <a:cs typeface="+mj-lt"/>
              </a:rPr>
              <a:t> </a:t>
            </a:r>
            <a:r>
              <a:rPr lang="ko-KR" altLang="en-US" sz="1600" dirty="0" err="1">
                <a:ea typeface="+mj-lt"/>
                <a:cs typeface="+mj-lt"/>
              </a:rPr>
              <a:t>address</a:t>
            </a:r>
            <a:r>
              <a:rPr lang="ko-KR" altLang="en-US" sz="1600" dirty="0">
                <a:ea typeface="+mj-lt"/>
                <a:cs typeface="+mj-lt"/>
              </a:rPr>
              <a:t> </a:t>
            </a:r>
            <a:r>
              <a:rPr lang="ko-KR" altLang="en-US" sz="1600" dirty="0" err="1">
                <a:ea typeface="+mj-lt"/>
                <a:cs typeface="+mj-lt"/>
              </a:rPr>
              <a:t>so</a:t>
            </a:r>
            <a:r>
              <a:rPr lang="ko-KR" altLang="en-US" sz="1600" dirty="0">
                <a:ea typeface="+mj-lt"/>
                <a:cs typeface="+mj-lt"/>
              </a:rPr>
              <a:t> </a:t>
            </a:r>
            <a:r>
              <a:rPr lang="ko-KR" altLang="en-US" sz="1600" dirty="0" err="1">
                <a:ea typeface="+mj-lt"/>
                <a:cs typeface="+mj-lt"/>
              </a:rPr>
              <a:t>burst</a:t>
            </a:r>
            <a:r>
              <a:rPr lang="ko-KR" altLang="en-US" sz="1600" dirty="0">
                <a:ea typeface="+mj-lt"/>
                <a:cs typeface="+mj-lt"/>
              </a:rPr>
              <a:t> </a:t>
            </a:r>
            <a:r>
              <a:rPr lang="ko-KR" altLang="en-US" sz="1600" dirty="0" err="1">
                <a:ea typeface="+mj-lt"/>
                <a:cs typeface="+mj-lt"/>
              </a:rPr>
              <a:t>transfer</a:t>
            </a:r>
            <a:r>
              <a:rPr lang="ko-KR" altLang="en-US" sz="1600" dirty="0">
                <a:ea typeface="+mj-lt"/>
                <a:cs typeface="+mj-lt"/>
              </a:rPr>
              <a:t> </a:t>
            </a:r>
            <a:r>
              <a:rPr lang="ko-KR" altLang="en-US" sz="1600" dirty="0" err="1">
                <a:ea typeface="+mj-lt"/>
                <a:cs typeface="+mj-lt"/>
              </a:rPr>
              <a:t>can</a:t>
            </a:r>
            <a:r>
              <a:rPr lang="ko-KR" altLang="en-US" sz="1600" dirty="0">
                <a:ea typeface="+mj-lt"/>
                <a:cs typeface="+mj-lt"/>
              </a:rPr>
              <a:t> </a:t>
            </a:r>
            <a:r>
              <a:rPr lang="ko-KR" altLang="en-US" sz="1600" dirty="0" err="1">
                <a:ea typeface="+mj-lt"/>
                <a:cs typeface="+mj-lt"/>
              </a:rPr>
              <a:t>be</a:t>
            </a:r>
            <a:r>
              <a:rPr lang="ko-KR" altLang="en-US" sz="1600" dirty="0">
                <a:ea typeface="+mj-lt"/>
                <a:cs typeface="+mj-lt"/>
              </a:rPr>
              <a:t> </a:t>
            </a:r>
            <a:r>
              <a:rPr lang="ko-KR" altLang="en-US" sz="1600" dirty="0" err="1">
                <a:ea typeface="+mj-lt"/>
                <a:cs typeface="+mj-lt"/>
              </a:rPr>
              <a:t>very</a:t>
            </a:r>
            <a:r>
              <a:rPr lang="ko-KR" altLang="en-US" sz="1600" dirty="0">
                <a:ea typeface="+mj-lt"/>
                <a:cs typeface="+mj-lt"/>
              </a:rPr>
              <a:t> </a:t>
            </a:r>
            <a:r>
              <a:rPr lang="ko-KR" altLang="en-US" sz="1600" dirty="0" err="1">
                <a:ea typeface="+mj-lt"/>
                <a:cs typeface="+mj-lt"/>
              </a:rPr>
              <a:t>effective</a:t>
            </a:r>
            <a:endParaRPr lang="ko-KR" altLang="en-US" sz="1600" dirty="0">
              <a:ea typeface="+mj-lt"/>
              <a:cs typeface="+mj-lt"/>
            </a:endParaRPr>
          </a:p>
          <a:p>
            <a:pPr marL="586105" lvl="1" indent="-214630"/>
            <a:endParaRPr lang="ko-KR" altLang="en-US" sz="1600" dirty="0">
              <a:latin typeface="맑은 고딕"/>
              <a:ea typeface="맑은 고딕"/>
            </a:endParaRPr>
          </a:p>
          <a:p>
            <a:pPr marL="586105" lvl="1" indent="-214630"/>
            <a:endParaRPr lang="ko-KR" altLang="en-US" sz="1600" dirty="0">
              <a:latin typeface="맑은 고딕"/>
              <a:ea typeface="맑은 고딕"/>
            </a:endParaRPr>
          </a:p>
          <a:p>
            <a:pPr marL="586105" lvl="1" indent="-214630"/>
            <a:endParaRPr lang="en-US" sz="1600" dirty="0">
              <a:latin typeface="맑은 고딕"/>
              <a:ea typeface="맑은 고딕"/>
            </a:endParaRPr>
          </a:p>
          <a:p>
            <a:pPr marL="586105" lvl="1" indent="-214630"/>
            <a:endParaRPr lang="en-US" altLang="ko-KR" sz="1600" dirty="0">
              <a:latin typeface="맑은 고딕"/>
              <a:ea typeface="맑은 고딕"/>
            </a:endParaRPr>
          </a:p>
          <a:p>
            <a:pPr marL="586105" lvl="1" indent="-214630"/>
            <a:endParaRPr lang="en-US" altLang="ko-KR" sz="1600" dirty="0">
              <a:latin typeface="맑은 고딕"/>
              <a:ea typeface="맑은 고딕"/>
            </a:endParaRPr>
          </a:p>
          <a:p>
            <a:pPr marL="586105" lvl="1" indent="-214630"/>
            <a:r>
              <a:rPr lang="en-US" altLang="ko-KR" sz="1600" dirty="0">
                <a:latin typeface="맑은 고딕"/>
                <a:ea typeface="맑은 고딕"/>
              </a:rPr>
              <a:t>Large burst length minimizes Read/write latency</a:t>
            </a:r>
          </a:p>
          <a:p>
            <a:pPr marL="185420" indent="-185420">
              <a:buFont typeface="Arial" panose="020B0503020000020004" pitchFamily="50" charset="-127"/>
              <a:buChar char="•"/>
            </a:pPr>
            <a:r>
              <a:rPr lang="ko-KR" altLang="en-US" dirty="0" err="1">
                <a:latin typeface="Malgun Gothic"/>
                <a:ea typeface="Malgun Gothic"/>
              </a:rPr>
              <a:t>Application</a:t>
            </a:r>
            <a:endParaRPr lang="ko-KR" alt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371475" lvl="1" indent="0">
              <a:buNone/>
            </a:pPr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9</a:t>
            </a:fld>
            <a:endParaRPr lang="ko-KR" altLang="en-US"/>
          </a:p>
        </p:txBody>
      </p:sp>
      <p:pic>
        <p:nvPicPr>
          <p:cNvPr id="5" name="그림 5" descr="텍스트, 스크린샷, 폰트, 라인이(가) 표시된 사진&#10;&#10;자동 생성된 설명">
            <a:extLst>
              <a:ext uri="{FF2B5EF4-FFF2-40B4-BE49-F238E27FC236}">
                <a16:creationId xmlns:a16="http://schemas.microsoft.com/office/drawing/2014/main" id="{12D9F02A-33CE-548F-14DF-4EAEF649C2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870" y="5168287"/>
            <a:ext cx="7270376" cy="743803"/>
          </a:xfrm>
          <a:prstGeom prst="rect">
            <a:avLst/>
          </a:prstGeom>
        </p:spPr>
      </p:pic>
      <p:pic>
        <p:nvPicPr>
          <p:cNvPr id="6" name="그림 6" descr="텍스트, 라인, 도표, 그래프이(가) 표시된 사진&#10;&#10;자동 생성된 설명">
            <a:extLst>
              <a:ext uri="{FF2B5EF4-FFF2-40B4-BE49-F238E27FC236}">
                <a16:creationId xmlns:a16="http://schemas.microsoft.com/office/drawing/2014/main" id="{32DCD8B5-9278-6643-8096-87E485A21A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0565" y="2735133"/>
            <a:ext cx="3989293" cy="131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256471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Constraints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sz="1800" dirty="0">
                <a:latin typeface="Malgun Gothic"/>
                <a:ea typeface="Malgun Gothic"/>
              </a:rPr>
              <a:t>Constraint</a:t>
            </a:r>
            <a:endParaRPr lang="en-US" altLang="ko-KR" sz="1600" dirty="0">
              <a:latin typeface="맑은 고딕"/>
              <a:ea typeface="맑은 고딕"/>
            </a:endParaRPr>
          </a:p>
          <a:p>
            <a:pPr marL="586105" lvl="1" indent="-214630"/>
            <a:r>
              <a:rPr lang="en-US" altLang="ko-KR" sz="1600" dirty="0">
                <a:latin typeface="맑은 고딕"/>
                <a:ea typeface="맑은 고딕"/>
              </a:rPr>
              <a:t>Using multiple bank</a:t>
            </a:r>
          </a:p>
          <a:p>
            <a:pPr marL="998220" lvl="2" indent="-255270"/>
            <a:r>
              <a:rPr lang="en-US" altLang="ko-KR" sz="1400" dirty="0">
                <a:latin typeface="맑은 고딕"/>
                <a:ea typeface="맑은 고딕"/>
              </a:rPr>
              <a:t>Physical distance between kernel and bank becomes greater which causes setup time violation</a:t>
            </a:r>
          </a:p>
          <a:p>
            <a:pPr marL="998220" lvl="2" indent="-255270"/>
            <a:r>
              <a:rPr lang="en-US" altLang="ko-KR" sz="1400" dirty="0">
                <a:latin typeface="맑은 고딕"/>
                <a:ea typeface="맑은 고딕"/>
              </a:rPr>
              <a:t>Using multiple computing unit to reduce physical distance between kernel and bank causes placement error</a:t>
            </a:r>
          </a:p>
          <a:p>
            <a:pPr marL="998220" lvl="2" indent="-255270"/>
            <a:endParaRPr lang="en-US" altLang="ko-KR" sz="1400" dirty="0">
              <a:latin typeface="맑은 고딕"/>
              <a:ea typeface="맑은 고딕"/>
            </a:endParaRPr>
          </a:p>
          <a:p>
            <a:pPr marL="998220" lvl="2" indent="-255270"/>
            <a:endParaRPr lang="en-US" dirty="0">
              <a:latin typeface="Malgun Gothic"/>
              <a:ea typeface="Malgun Gothic"/>
            </a:endParaRPr>
          </a:p>
          <a:p>
            <a:pPr marL="586105" lvl="1" indent="-214630"/>
            <a:r>
              <a:rPr lang="ko-KR" altLang="en-US" sz="1600" dirty="0" err="1">
                <a:latin typeface="맑은 고딕"/>
                <a:ea typeface="맑은 고딕"/>
              </a:rPr>
              <a:t>Using</a:t>
            </a:r>
            <a:r>
              <a:rPr lang="ko-KR" altLang="en-US" sz="1600" dirty="0">
                <a:latin typeface="맑은 고딕"/>
                <a:ea typeface="맑은 고딕"/>
              </a:rPr>
              <a:t> AXI </a:t>
            </a:r>
            <a:r>
              <a:rPr lang="ko-KR" altLang="en-US" sz="1600" dirty="0" err="1">
                <a:latin typeface="맑은 고딕"/>
                <a:ea typeface="맑은 고딕"/>
              </a:rPr>
              <a:t>burst</a:t>
            </a:r>
            <a:r>
              <a:rPr lang="ko-KR" altLang="en-US" sz="1600" dirty="0">
                <a:latin typeface="맑은 고딕"/>
                <a:ea typeface="맑은 고딕"/>
              </a:rPr>
              <a:t> Transfer </a:t>
            </a:r>
          </a:p>
          <a:p>
            <a:pPr marL="998220" lvl="2" indent="-255270"/>
            <a:r>
              <a:rPr lang="en-US" altLang="ko-KR" dirty="0"/>
              <a:t>Buffer allocated in global memory should be large enough to save data contiguously</a:t>
            </a:r>
            <a:endParaRPr lang="ko-KR" altLang="en-US" dirty="0"/>
          </a:p>
          <a:p>
            <a:pPr marL="998220" lvl="2" indent="-255270"/>
            <a:endParaRPr lang="en-US" altLang="ko-KR" sz="1600" dirty="0">
              <a:latin typeface="맑은 고딕"/>
              <a:ea typeface="맑은 고딕"/>
            </a:endParaRPr>
          </a:p>
          <a:p>
            <a:pPr marL="998220" lvl="2" indent="-255270"/>
            <a:endParaRPr lang="en-US" altLang="ko-KR" sz="1600" dirty="0">
              <a:latin typeface="맑은 고딕"/>
              <a:ea typeface="맑은 고딕"/>
            </a:endParaRPr>
          </a:p>
          <a:p>
            <a:pPr marL="586105" lvl="1" indent="-214630"/>
            <a:endParaRPr lang="ko-KR" altLang="en-US" sz="1600" dirty="0">
              <a:latin typeface="맑은 고딕"/>
              <a:ea typeface="맑은 고딕"/>
            </a:endParaRPr>
          </a:p>
          <a:p>
            <a:pPr marL="586105" lvl="1" indent="-214630"/>
            <a:endParaRPr lang="en-US" sz="1600" dirty="0">
              <a:latin typeface="맑은 고딕"/>
              <a:ea typeface="맑은 고딕"/>
            </a:endParaRPr>
          </a:p>
          <a:p>
            <a:pPr marL="586105" lvl="1" indent="-214630"/>
            <a:endParaRPr lang="en-US" sz="1600" dirty="0">
              <a:latin typeface="맑은 고딕"/>
              <a:ea typeface="맑은 고딕"/>
            </a:endParaRPr>
          </a:p>
          <a:p>
            <a:pPr marL="586105" lvl="1" indent="-214630"/>
            <a:endParaRPr lang="en-US" sz="1600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/>
            <a:endParaRPr lang="en-US" dirty="0">
              <a:latin typeface="맑은 고딕"/>
              <a:ea typeface="맑은 고딕"/>
            </a:endParaRPr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185420" indent="-185420">
              <a:buFont typeface="Arial" panose="020B0503020000020004" pitchFamily="50" charset="-127"/>
              <a:buChar char="•"/>
            </a:pPr>
            <a:endParaRPr lang="ko-KR" alt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371475" lvl="1" indent="0">
              <a:buNone/>
            </a:pPr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970929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Use memory bandwidth at maximum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3686297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sz="1600" dirty="0">
                <a:latin typeface="맑은 고딕"/>
                <a:ea typeface="맑은 고딕"/>
              </a:rPr>
              <a:t>Modify kernel for 512-bit interface</a:t>
            </a:r>
          </a:p>
          <a:p>
            <a:pPr marL="586431" lvl="1" indent="-255270">
              <a:lnSpc>
                <a:spcPct val="150000"/>
              </a:lnSpc>
            </a:pPr>
            <a:r>
              <a:rPr lang="en-US" altLang="ko-KR" sz="1600" b="0" i="0" dirty="0">
                <a:solidFill>
                  <a:srgbClr val="000000"/>
                </a:solidFill>
                <a:effectLst/>
              </a:rPr>
              <a:t>Expand </a:t>
            </a:r>
            <a:r>
              <a:rPr lang="en-US" altLang="ko-KR" sz="1600" b="0" i="0" dirty="0" err="1">
                <a:solidFill>
                  <a:srgbClr val="000000"/>
                </a:solidFill>
                <a:effectLst/>
              </a:rPr>
              <a:t>Axi_data_width</a:t>
            </a:r>
            <a:r>
              <a:rPr lang="en-US" altLang="ko-KR" sz="1600" b="0" i="0" dirty="0">
                <a:solidFill>
                  <a:srgbClr val="000000"/>
                </a:solidFill>
                <a:effectLst/>
              </a:rPr>
              <a:t> to 512 bits</a:t>
            </a:r>
          </a:p>
          <a:p>
            <a:pPr marL="586431" lvl="1" indent="-255270">
              <a:lnSpc>
                <a:spcPct val="150000"/>
              </a:lnSpc>
            </a:pPr>
            <a:r>
              <a:rPr lang="en-US" altLang="ko-KR" sz="1600" b="0" i="0" dirty="0" err="1">
                <a:solidFill>
                  <a:srgbClr val="000000"/>
                </a:solidFill>
                <a:effectLst/>
              </a:rPr>
              <a:t>Wstrb</a:t>
            </a:r>
            <a:r>
              <a:rPr lang="en-US" altLang="ko-KR" sz="1600" b="0" i="0" dirty="0">
                <a:solidFill>
                  <a:srgbClr val="000000"/>
                </a:solidFill>
                <a:effectLst/>
              </a:rPr>
              <a:t> also extends to 64bit</a:t>
            </a:r>
          </a:p>
          <a:p>
            <a:pPr marL="586431" lvl="1" indent="-255270">
              <a:lnSpc>
                <a:spcPct val="150000"/>
              </a:lnSpc>
            </a:pPr>
            <a:r>
              <a:rPr lang="en-US" altLang="ko-KR" sz="1600" b="0" i="0" dirty="0">
                <a:solidFill>
                  <a:srgbClr val="000000"/>
                </a:solidFill>
                <a:effectLst/>
              </a:rPr>
              <a:t>Maximum Burst length is efficient to allow 4096 Byte to be transmitted in one transaction</a:t>
            </a:r>
            <a:endParaRPr lang="en-US" altLang="ko-KR" sz="1600" dirty="0"/>
          </a:p>
          <a:p>
            <a:pPr marL="586431" lvl="1" indent="-255270">
              <a:lnSpc>
                <a:spcPct val="150000"/>
              </a:lnSpc>
            </a:pPr>
            <a:r>
              <a:rPr lang="en-US" altLang="ko-KR" sz="1600" dirty="0"/>
              <a:t>It</a:t>
            </a:r>
            <a:r>
              <a:rPr lang="ko-KR" altLang="en-US" sz="1600" dirty="0"/>
              <a:t> </a:t>
            </a:r>
            <a:r>
              <a:rPr lang="en-US" altLang="ko-KR" sz="1600" b="0" i="0" dirty="0">
                <a:solidFill>
                  <a:srgbClr val="000000"/>
                </a:solidFill>
                <a:effectLst/>
              </a:rPr>
              <a:t>will be efficient to set the maximum burst length to 64</a:t>
            </a:r>
            <a:r>
              <a:rPr lang="en-US" altLang="ko-KR" b="0" i="0" dirty="0">
                <a:solidFill>
                  <a:srgbClr val="000000"/>
                </a:solidFill>
                <a:effectLst/>
              </a:rPr>
              <a:t>.</a:t>
            </a:r>
            <a:endParaRPr lang="ko-KR" altLang="en-US" dirty="0">
              <a:ea typeface="맑은 고딕"/>
            </a:endParaRPr>
          </a:p>
          <a:p>
            <a:pPr marL="586105" lvl="1" indent="-214630"/>
            <a:endParaRPr lang="en-US" sz="1600" dirty="0">
              <a:latin typeface="맑은 고딕"/>
              <a:ea typeface="맑은 고딕"/>
            </a:endParaRPr>
          </a:p>
          <a:p>
            <a:pPr marL="586105" lvl="1" indent="-214630"/>
            <a:endParaRPr lang="en-US" sz="1600" dirty="0">
              <a:latin typeface="맑은 고딕"/>
              <a:ea typeface="맑은 고딕"/>
            </a:endParaRPr>
          </a:p>
          <a:p>
            <a:pPr marL="586105" lvl="1" indent="-214630"/>
            <a:endParaRPr lang="en-US" sz="1600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/>
            <a:endParaRPr lang="en-US" dirty="0">
              <a:latin typeface="맑은 고딕"/>
              <a:ea typeface="맑은 고딕"/>
            </a:endParaRPr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185420" indent="-185420">
              <a:buFont typeface="Arial" panose="020B0503020000020004" pitchFamily="50" charset="-127"/>
              <a:buChar char="•"/>
            </a:pPr>
            <a:endParaRPr lang="ko-KR" alt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371475" lvl="1" indent="0">
              <a:buNone/>
            </a:pPr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11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112B2360-573B-2340-8264-D4A9687E2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933" y="1372945"/>
            <a:ext cx="7218702" cy="3472188"/>
          </a:xfrm>
          <a:prstGeom prst="rect">
            <a:avLst/>
          </a:prstGeom>
        </p:spPr>
      </p:pic>
      <p:graphicFrame>
        <p:nvGraphicFramePr>
          <p:cNvPr id="9" name="표 5">
            <a:extLst>
              <a:ext uri="{FF2B5EF4-FFF2-40B4-BE49-F238E27FC236}">
                <a16:creationId xmlns:a16="http://schemas.microsoft.com/office/drawing/2014/main" id="{828BE295-2A14-7F9E-BD0E-E45ED5DDD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4914151"/>
              </p:ext>
            </p:extLst>
          </p:nvPr>
        </p:nvGraphicFramePr>
        <p:xfrm>
          <a:off x="2222592" y="5684617"/>
          <a:ext cx="8128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099742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0986212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806996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318571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16Byte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16Byte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16Byte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16Byte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985612"/>
                  </a:ext>
                </a:extLst>
              </a:tr>
            </a:tbl>
          </a:graphicData>
        </a:graphic>
      </p:graphicFrame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0A048CD7-FBE8-E3B5-FC7B-58AAD67169C6}"/>
              </a:ext>
            </a:extLst>
          </p:cNvPr>
          <p:cNvCxnSpPr/>
          <p:nvPr/>
        </p:nvCxnSpPr>
        <p:spPr>
          <a:xfrm>
            <a:off x="2155959" y="5528349"/>
            <a:ext cx="8205849" cy="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headEnd type="triangl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1" name="텍스트 개체 틀 2">
            <a:extLst>
              <a:ext uri="{FF2B5EF4-FFF2-40B4-BE49-F238E27FC236}">
                <a16:creationId xmlns:a16="http://schemas.microsoft.com/office/drawing/2014/main" id="{330D5B7B-BDF5-BF5D-D1A3-9BA5648FAB99}"/>
              </a:ext>
            </a:extLst>
          </p:cNvPr>
          <p:cNvSpPr txBox="1">
            <a:spLocks/>
          </p:cNvSpPr>
          <p:nvPr/>
        </p:nvSpPr>
        <p:spPr>
          <a:xfrm>
            <a:off x="4882830" y="5145595"/>
            <a:ext cx="2207326" cy="335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tIns="45720" rIns="45719" bIns="45720" anchor="t">
            <a:normAutofit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742315" lvl="2" indent="0" hangingPunct="1">
              <a:buFont typeface="맑은 고딕" panose="020B0503020000020004" pitchFamily="50" charset="-127"/>
              <a:buNone/>
            </a:pPr>
            <a:r>
              <a:rPr lang="en-US" altLang="ko-KR" dirty="0"/>
              <a:t>512bit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6858712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Use memory bandwidth at maximum</a:t>
            </a: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>
          <a:xfrm>
            <a:off x="11999326" y="6981637"/>
            <a:ext cx="236601" cy="230832"/>
          </a:xfrm>
        </p:spPr>
        <p:txBody>
          <a:bodyPr/>
          <a:lstStyle/>
          <a:p>
            <a:fld id="{86CB4B4D-7CA3-9044-876B-883B54F8677D}" type="slidenum">
              <a:rPr lang="en-US" altLang="ko-KR" smtClean="0"/>
              <a:t>12</a:t>
            </a:fld>
            <a:endParaRPr lang="ko-KR" altLang="en-US"/>
          </a:p>
        </p:txBody>
      </p:sp>
      <p:graphicFrame>
        <p:nvGraphicFramePr>
          <p:cNvPr id="9" name="표 5">
            <a:extLst>
              <a:ext uri="{FF2B5EF4-FFF2-40B4-BE49-F238E27FC236}">
                <a16:creationId xmlns:a16="http://schemas.microsoft.com/office/drawing/2014/main" id="{78E933C6-10F2-B372-4123-D3C2F3BD3E16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2566958"/>
          <a:ext cx="8128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099742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0986212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806996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318571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16Byte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16Byte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16Byte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16Byte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985612"/>
                  </a:ext>
                </a:extLst>
              </a:tr>
            </a:tbl>
          </a:graphicData>
        </a:graphic>
      </p:graphicFrame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17EA2269-0AEB-40C4-4778-1B2C23E3265D}"/>
              </a:ext>
            </a:extLst>
          </p:cNvPr>
          <p:cNvCxnSpPr/>
          <p:nvPr/>
        </p:nvCxnSpPr>
        <p:spPr>
          <a:xfrm>
            <a:off x="1965367" y="2410690"/>
            <a:ext cx="8205849" cy="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headEnd type="triangle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A7C5524B-A057-7B7E-8745-4BBC5924DD67}"/>
              </a:ext>
            </a:extLst>
          </p:cNvPr>
          <p:cNvSpPr txBox="1">
            <a:spLocks/>
          </p:cNvSpPr>
          <p:nvPr/>
        </p:nvSpPr>
        <p:spPr>
          <a:xfrm>
            <a:off x="4692238" y="2027937"/>
            <a:ext cx="2207326" cy="335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tIns="45720" rIns="45719" bIns="45720" anchor="t">
            <a:normAutofit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742315" lvl="2" indent="0" hangingPunct="1">
              <a:buFont typeface="맑은 고딕" panose="020B0503020000020004" pitchFamily="50" charset="-127"/>
              <a:buNone/>
            </a:pPr>
            <a:r>
              <a:rPr lang="en-US" altLang="ko-KR" dirty="0"/>
              <a:t>512bit</a:t>
            </a:r>
            <a:endParaRPr lang="ko-KR" altLang="en-US" dirty="0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FEDCBCB1-DD17-7969-9F12-855B2E1E3CAF}"/>
              </a:ext>
            </a:extLst>
          </p:cNvPr>
          <p:cNvCxnSpPr>
            <a:cxnSpLocks/>
          </p:cNvCxnSpPr>
          <p:nvPr/>
        </p:nvCxnSpPr>
        <p:spPr>
          <a:xfrm>
            <a:off x="3158837" y="3170712"/>
            <a:ext cx="0" cy="147254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D5030392-12E9-8436-DBFE-4799F50DF076}"/>
              </a:ext>
            </a:extLst>
          </p:cNvPr>
          <p:cNvCxnSpPr>
            <a:cxnSpLocks/>
          </p:cNvCxnSpPr>
          <p:nvPr/>
        </p:nvCxnSpPr>
        <p:spPr>
          <a:xfrm>
            <a:off x="5110349" y="3170712"/>
            <a:ext cx="0" cy="147254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230D53C0-FFC3-3A6D-B7A4-354F52BDC703}"/>
              </a:ext>
            </a:extLst>
          </p:cNvPr>
          <p:cNvCxnSpPr>
            <a:cxnSpLocks/>
          </p:cNvCxnSpPr>
          <p:nvPr/>
        </p:nvCxnSpPr>
        <p:spPr>
          <a:xfrm>
            <a:off x="7109362" y="3220193"/>
            <a:ext cx="0" cy="147254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C741B47B-435C-6374-B2FB-F8903287747B}"/>
              </a:ext>
            </a:extLst>
          </p:cNvPr>
          <p:cNvCxnSpPr>
            <a:cxnSpLocks/>
          </p:cNvCxnSpPr>
          <p:nvPr/>
        </p:nvCxnSpPr>
        <p:spPr>
          <a:xfrm>
            <a:off x="9179627" y="3170712"/>
            <a:ext cx="0" cy="1472540"/>
          </a:xfrm>
          <a:prstGeom prst="straightConnector1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6" name="텍스트 개체 틀 2">
            <a:extLst>
              <a:ext uri="{FF2B5EF4-FFF2-40B4-BE49-F238E27FC236}">
                <a16:creationId xmlns:a16="http://schemas.microsoft.com/office/drawing/2014/main" id="{7FF6F996-808B-B253-24A5-2A820605B71A}"/>
              </a:ext>
            </a:extLst>
          </p:cNvPr>
          <p:cNvSpPr txBox="1">
            <a:spLocks/>
          </p:cNvSpPr>
          <p:nvPr/>
        </p:nvSpPr>
        <p:spPr>
          <a:xfrm>
            <a:off x="2513612" y="3835423"/>
            <a:ext cx="1561605" cy="242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tIns="45720" rIns="45719" bIns="45720" anchor="t">
            <a:normAutofit fontScale="77500" lnSpcReduction="20000"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742315" lvl="2" indent="0" hangingPunct="1">
              <a:buFont typeface="맑은 고딕" panose="020B0503020000020004" pitchFamily="50" charset="-127"/>
              <a:buNone/>
            </a:pPr>
            <a:r>
              <a:rPr lang="en-US" altLang="ko-KR" dirty="0"/>
              <a:t>+1 / 0</a:t>
            </a:r>
            <a:endParaRPr lang="ko-KR" altLang="en-US" dirty="0"/>
          </a:p>
        </p:txBody>
      </p:sp>
      <p:sp>
        <p:nvSpPr>
          <p:cNvPr id="27" name="텍스트 개체 틀 2">
            <a:extLst>
              <a:ext uri="{FF2B5EF4-FFF2-40B4-BE49-F238E27FC236}">
                <a16:creationId xmlns:a16="http://schemas.microsoft.com/office/drawing/2014/main" id="{0CBF6652-C333-806D-1D6C-A49C06D4BD61}"/>
              </a:ext>
            </a:extLst>
          </p:cNvPr>
          <p:cNvSpPr txBox="1">
            <a:spLocks/>
          </p:cNvSpPr>
          <p:nvPr/>
        </p:nvSpPr>
        <p:spPr>
          <a:xfrm>
            <a:off x="4506686" y="3835423"/>
            <a:ext cx="1561605" cy="242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tIns="45720" rIns="45719" bIns="45720" anchor="t">
            <a:normAutofit fontScale="77500" lnSpcReduction="20000"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742315" lvl="2" indent="0" hangingPunct="1">
              <a:buFont typeface="맑은 고딕" panose="020B0503020000020004" pitchFamily="50" charset="-127"/>
              <a:buNone/>
            </a:pPr>
            <a:r>
              <a:rPr lang="en-US" altLang="ko-KR" dirty="0"/>
              <a:t>+1 / 0</a:t>
            </a:r>
            <a:endParaRPr lang="ko-KR" altLang="en-US" dirty="0"/>
          </a:p>
        </p:txBody>
      </p:sp>
      <p:sp>
        <p:nvSpPr>
          <p:cNvPr id="28" name="텍스트 개체 틀 2">
            <a:extLst>
              <a:ext uri="{FF2B5EF4-FFF2-40B4-BE49-F238E27FC236}">
                <a16:creationId xmlns:a16="http://schemas.microsoft.com/office/drawing/2014/main" id="{2639CA93-1802-5705-5B04-6E24883D6726}"/>
              </a:ext>
            </a:extLst>
          </p:cNvPr>
          <p:cNvSpPr txBox="1">
            <a:spLocks/>
          </p:cNvSpPr>
          <p:nvPr/>
        </p:nvSpPr>
        <p:spPr>
          <a:xfrm>
            <a:off x="6541324" y="3835423"/>
            <a:ext cx="1561605" cy="242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tIns="45720" rIns="45719" bIns="45720" anchor="t">
            <a:normAutofit fontScale="77500" lnSpcReduction="20000"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742315" lvl="2" indent="0" hangingPunct="1">
              <a:buFont typeface="맑은 고딕" panose="020B0503020000020004" pitchFamily="50" charset="-127"/>
              <a:buNone/>
            </a:pPr>
            <a:r>
              <a:rPr lang="en-US" altLang="ko-KR" dirty="0"/>
              <a:t>+1 / 0</a:t>
            </a:r>
            <a:endParaRPr lang="ko-KR" altLang="en-US" dirty="0"/>
          </a:p>
        </p:txBody>
      </p:sp>
      <p:sp>
        <p:nvSpPr>
          <p:cNvPr id="29" name="텍스트 개체 틀 2">
            <a:extLst>
              <a:ext uri="{FF2B5EF4-FFF2-40B4-BE49-F238E27FC236}">
                <a16:creationId xmlns:a16="http://schemas.microsoft.com/office/drawing/2014/main" id="{557DFEF4-6515-5C95-5476-6421F0993283}"/>
              </a:ext>
            </a:extLst>
          </p:cNvPr>
          <p:cNvSpPr txBox="1">
            <a:spLocks/>
          </p:cNvSpPr>
          <p:nvPr/>
        </p:nvSpPr>
        <p:spPr>
          <a:xfrm>
            <a:off x="8540336" y="3835423"/>
            <a:ext cx="1561605" cy="2420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tIns="45720" rIns="45719" bIns="45720" anchor="t">
            <a:normAutofit fontScale="77500" lnSpcReduction="20000"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742315" lvl="2" indent="0" hangingPunct="1">
              <a:buFont typeface="맑은 고딕" panose="020B0503020000020004" pitchFamily="50" charset="-127"/>
              <a:buNone/>
            </a:pPr>
            <a:r>
              <a:rPr lang="en-US" altLang="ko-KR" dirty="0"/>
              <a:t>+1 / 0</a:t>
            </a:r>
            <a:endParaRPr lang="ko-KR" altLang="en-US" dirty="0"/>
          </a:p>
        </p:txBody>
      </p:sp>
      <p:graphicFrame>
        <p:nvGraphicFramePr>
          <p:cNvPr id="30" name="표 5">
            <a:extLst>
              <a:ext uri="{FF2B5EF4-FFF2-40B4-BE49-F238E27FC236}">
                <a16:creationId xmlns:a16="http://schemas.microsoft.com/office/drawing/2014/main" id="{1D7BA035-1A7D-DCAF-E31A-FA22622605C3}"/>
              </a:ext>
            </a:extLst>
          </p:cNvPr>
          <p:cNvGraphicFramePr>
            <a:graphicFrameLocks noGrp="1"/>
          </p:cNvGraphicFramePr>
          <p:nvPr/>
        </p:nvGraphicFramePr>
        <p:xfrm>
          <a:off x="2032000" y="4876166"/>
          <a:ext cx="8128000" cy="370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1230997423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80986212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38069963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7318571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16Byte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16Byte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16Byte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16Byte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09985612"/>
                  </a:ext>
                </a:extLst>
              </a:tr>
            </a:tbl>
          </a:graphicData>
        </a:graphic>
      </p:graphicFrame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608735A4-E786-ADE6-B59A-B6A9E305E9F0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3834370" y="1801041"/>
            <a:ext cx="1961531" cy="226896"/>
          </a:xfrm>
          <a:prstGeom prst="bentConnector2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5" name="텍스트 개체 틀 2">
            <a:extLst>
              <a:ext uri="{FF2B5EF4-FFF2-40B4-BE49-F238E27FC236}">
                <a16:creationId xmlns:a16="http://schemas.microsoft.com/office/drawing/2014/main" id="{89297E59-FC77-DF13-0375-04B613790356}"/>
              </a:ext>
            </a:extLst>
          </p:cNvPr>
          <p:cNvSpPr txBox="1">
            <a:spLocks/>
          </p:cNvSpPr>
          <p:nvPr/>
        </p:nvSpPr>
        <p:spPr>
          <a:xfrm>
            <a:off x="3782292" y="1465789"/>
            <a:ext cx="2207326" cy="335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tIns="45720" rIns="45719" bIns="45720" anchor="t">
            <a:normAutofit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742315" lvl="2" indent="0" hangingPunct="1">
              <a:buFont typeface="맑은 고딕" panose="020B0503020000020004" pitchFamily="50" charset="-127"/>
              <a:buNone/>
            </a:pPr>
            <a:r>
              <a:rPr lang="en-US" altLang="ko-KR" dirty="0"/>
              <a:t>input</a:t>
            </a:r>
            <a:endParaRPr lang="ko-KR" altLang="en-US" dirty="0"/>
          </a:p>
        </p:txBody>
      </p:sp>
      <p:cxnSp>
        <p:nvCxnSpPr>
          <p:cNvPr id="39" name="연결선: 꺾임 38">
            <a:extLst>
              <a:ext uri="{FF2B5EF4-FFF2-40B4-BE49-F238E27FC236}">
                <a16:creationId xmlns:a16="http://schemas.microsoft.com/office/drawing/2014/main" id="{B44533B1-E3D9-0B25-59F5-E018EA3FEFCF}"/>
              </a:ext>
            </a:extLst>
          </p:cNvPr>
          <p:cNvCxnSpPr>
            <a:cxnSpLocks/>
            <a:stCxn id="30" idx="2"/>
          </p:cNvCxnSpPr>
          <p:nvPr/>
        </p:nvCxnSpPr>
        <p:spPr>
          <a:xfrm rot="16200000" flipH="1">
            <a:off x="6734344" y="4608662"/>
            <a:ext cx="904412" cy="2181100"/>
          </a:xfrm>
          <a:prstGeom prst="bentConnector2">
            <a:avLst/>
          </a:prstGeom>
          <a:noFill/>
          <a:ln w="12700" cap="flat">
            <a:solidFill>
              <a:schemeClr val="accent1"/>
            </a:solidFill>
            <a:prstDash val="solid"/>
            <a:miter lim="8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1" name="텍스트 개체 틀 2">
            <a:extLst>
              <a:ext uri="{FF2B5EF4-FFF2-40B4-BE49-F238E27FC236}">
                <a16:creationId xmlns:a16="http://schemas.microsoft.com/office/drawing/2014/main" id="{43FCB2EF-EE13-91CC-7DCB-EDE3CE6E3C3E}"/>
              </a:ext>
            </a:extLst>
          </p:cNvPr>
          <p:cNvSpPr txBox="1">
            <a:spLocks/>
          </p:cNvSpPr>
          <p:nvPr/>
        </p:nvSpPr>
        <p:spPr>
          <a:xfrm>
            <a:off x="6218463" y="5710417"/>
            <a:ext cx="2207326" cy="335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tIns="45720" rIns="45719" bIns="45720" anchor="t">
            <a:normAutofit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742315" lvl="2" indent="0" hangingPunct="1">
              <a:buFont typeface="맑은 고딕" panose="020B0503020000020004" pitchFamily="50" charset="-127"/>
              <a:buNone/>
            </a:pPr>
            <a:r>
              <a:rPr lang="en-US" altLang="ko-KR" dirty="0"/>
              <a:t>output</a:t>
            </a:r>
            <a:endParaRPr lang="ko-KR" altLang="en-US" dirty="0"/>
          </a:p>
        </p:txBody>
      </p:sp>
      <p:sp>
        <p:nvSpPr>
          <p:cNvPr id="42" name="텍스트 개체 틀 2">
            <a:extLst>
              <a:ext uri="{FF2B5EF4-FFF2-40B4-BE49-F238E27FC236}">
                <a16:creationId xmlns:a16="http://schemas.microsoft.com/office/drawing/2014/main" id="{CF68F38D-9B3B-E1D0-39C0-243DA7694C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3686297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sz="1600" dirty="0">
                <a:latin typeface="맑은 고딕"/>
                <a:ea typeface="맑은 고딕"/>
              </a:rPr>
              <a:t>Modify kernel for 512-bit interface</a:t>
            </a:r>
          </a:p>
          <a:p>
            <a:pPr marL="586105" lvl="1" indent="-214630"/>
            <a:endParaRPr lang="ko-KR" altLang="en-US" sz="1600" dirty="0">
              <a:latin typeface="맑은 고딕"/>
              <a:ea typeface="맑은 고딕"/>
            </a:endParaRPr>
          </a:p>
          <a:p>
            <a:pPr marL="586105" lvl="1" indent="-214630"/>
            <a:endParaRPr lang="en-US" sz="1600" dirty="0">
              <a:latin typeface="맑은 고딕"/>
              <a:ea typeface="맑은 고딕"/>
            </a:endParaRPr>
          </a:p>
          <a:p>
            <a:pPr marL="586105" lvl="1" indent="-214630"/>
            <a:endParaRPr lang="en-US" sz="1600" dirty="0">
              <a:latin typeface="맑은 고딕"/>
              <a:ea typeface="맑은 고딕"/>
            </a:endParaRPr>
          </a:p>
          <a:p>
            <a:pPr marL="586105" lvl="1" indent="-214630"/>
            <a:endParaRPr lang="en-US" sz="1600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/>
            <a:endParaRPr lang="en-US" dirty="0">
              <a:latin typeface="맑은 고딕"/>
              <a:ea typeface="맑은 고딕"/>
            </a:endParaRPr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185420" indent="-185420">
              <a:buFont typeface="Arial" panose="020B0503020000020004" pitchFamily="50" charset="-127"/>
              <a:buChar char="•"/>
            </a:pPr>
            <a:endParaRPr lang="ko-KR" alt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371475" lvl="1" indent="0">
              <a:buNone/>
            </a:pPr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1670989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Use memory bandwidth at maximum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147313"/>
            <a:ext cx="9885216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sz="1600" dirty="0">
                <a:latin typeface="맑은 고딕"/>
                <a:ea typeface="맑은 고딕"/>
              </a:rPr>
              <a:t>Connect multiple bank for single kernel </a:t>
            </a:r>
            <a:endParaRPr lang="ko-KR" altLang="en-US" sz="1600" dirty="0">
              <a:latin typeface="맑은 고딕"/>
              <a:ea typeface="맑은 고딕"/>
            </a:endParaRPr>
          </a:p>
          <a:p>
            <a:pPr marL="586105" lvl="1" indent="-214630"/>
            <a:endParaRPr lang="en-US" sz="1600" dirty="0">
              <a:latin typeface="맑은 고딕"/>
              <a:ea typeface="맑은 고딕"/>
            </a:endParaRPr>
          </a:p>
          <a:p>
            <a:pPr marL="586105" lvl="1" indent="-214630"/>
            <a:endParaRPr lang="en-US" sz="1600" dirty="0">
              <a:latin typeface="맑은 고딕"/>
              <a:ea typeface="맑은 고딕"/>
            </a:endParaRPr>
          </a:p>
          <a:p>
            <a:pPr marL="586105" lvl="1" indent="-214630"/>
            <a:endParaRPr lang="en-US" sz="1600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/>
            <a:endParaRPr lang="en-US" dirty="0">
              <a:latin typeface="맑은 고딕"/>
              <a:ea typeface="맑은 고딕"/>
            </a:endParaRPr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185420" indent="-185420">
              <a:buFont typeface="Arial" panose="020B0503020000020004" pitchFamily="50" charset="-127"/>
              <a:buChar char="•"/>
            </a:pPr>
            <a:endParaRPr lang="ko-KR" alt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371475" lvl="1" indent="0">
              <a:buNone/>
            </a:pPr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13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6419956-02E8-6FD7-96A4-549D70B8F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462" y="1392571"/>
            <a:ext cx="3587336" cy="396942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237CCFC-A886-91FE-37B6-55F8379E6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283" y="2171672"/>
            <a:ext cx="5535883" cy="267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943138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Use memory bandwidth at maximum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6" y="1147313"/>
            <a:ext cx="9885216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sz="1600" dirty="0">
                <a:latin typeface="맑은 고딕"/>
                <a:ea typeface="맑은 고딕"/>
              </a:rPr>
              <a:t>Connect multiple bank for single kernel </a:t>
            </a:r>
            <a:endParaRPr lang="ko-KR" altLang="en-US" sz="1600" dirty="0">
              <a:latin typeface="맑은 고딕"/>
              <a:ea typeface="맑은 고딕"/>
            </a:endParaRPr>
          </a:p>
          <a:p>
            <a:pPr marL="586105" lvl="1" indent="-214630"/>
            <a:endParaRPr lang="en-US" sz="1600" dirty="0">
              <a:latin typeface="맑은 고딕"/>
              <a:ea typeface="맑은 고딕"/>
            </a:endParaRPr>
          </a:p>
          <a:p>
            <a:pPr marL="586105" lvl="1" indent="-214630"/>
            <a:endParaRPr lang="en-US" sz="1600" dirty="0">
              <a:latin typeface="맑은 고딕"/>
              <a:ea typeface="맑은 고딕"/>
            </a:endParaRPr>
          </a:p>
          <a:p>
            <a:pPr marL="586105" lvl="1" indent="-214630"/>
            <a:endParaRPr lang="en-US" sz="1600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/>
            <a:endParaRPr lang="en-US" dirty="0">
              <a:latin typeface="맑은 고딕"/>
              <a:ea typeface="맑은 고딕"/>
            </a:endParaRPr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185420" indent="-185420">
              <a:buFont typeface="Arial" panose="020B0503020000020004" pitchFamily="50" charset="-127"/>
              <a:buChar char="•"/>
            </a:pPr>
            <a:endParaRPr lang="ko-KR" alt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371475" lvl="1" indent="0">
              <a:buNone/>
            </a:pPr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14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9ABC95D-E53A-396A-1030-645B09F8D8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2" y="1714804"/>
            <a:ext cx="10515602" cy="194733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309E1F5-2268-E0EE-E0BF-01CF78309E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6" y="3429000"/>
            <a:ext cx="3346977" cy="255031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30A743C-EAB6-5250-D923-E65C1D420902}"/>
              </a:ext>
            </a:extLst>
          </p:cNvPr>
          <p:cNvSpPr txBox="1"/>
          <p:nvPr/>
        </p:nvSpPr>
        <p:spPr>
          <a:xfrm>
            <a:off x="5568668" y="7960702"/>
            <a:ext cx="609501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ko-KR" dirty="0"/>
              <a:t>--</a:t>
            </a:r>
            <a:r>
              <a:rPr lang="en-US" altLang="ko-KR" dirty="0" err="1"/>
              <a:t>profile.trace_memory</a:t>
            </a:r>
            <a:r>
              <a:rPr lang="en-US" altLang="ko-KR" dirty="0"/>
              <a:t> $(TRACE_DDR)</a:t>
            </a:r>
            <a:endParaRPr lang="ko-KR" altLang="en-US" dirty="0"/>
          </a:p>
        </p:txBody>
      </p: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CD487CE1-C19C-835C-8E53-D78F6927F0CC}"/>
              </a:ext>
            </a:extLst>
          </p:cNvPr>
          <p:cNvSpPr txBox="1">
            <a:spLocks/>
          </p:cNvSpPr>
          <p:nvPr/>
        </p:nvSpPr>
        <p:spPr>
          <a:xfrm>
            <a:off x="4972737" y="8145368"/>
            <a:ext cx="9885216" cy="502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t">
            <a:normAutofit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185420" indent="-185420" hangingPunct="1"/>
            <a:r>
              <a:rPr lang="en-US" altLang="ko-KR" sz="1600" dirty="0">
                <a:latin typeface="맑은 고딕"/>
                <a:ea typeface="맑은 고딕"/>
              </a:rPr>
              <a:t>BW</a:t>
            </a:r>
            <a:r>
              <a:rPr lang="ko-KR" altLang="en-US" sz="1600" dirty="0">
                <a:latin typeface="맑은 고딕"/>
                <a:ea typeface="맑은 고딕"/>
              </a:rPr>
              <a:t>가 향상된 것을 확인할 수 있다</a:t>
            </a:r>
            <a:endParaRPr lang="en-US" altLang="ko-KR" sz="1600" dirty="0">
              <a:latin typeface="맑은 고딕"/>
              <a:ea typeface="맑은 고딕"/>
            </a:endParaRPr>
          </a:p>
          <a:p>
            <a:pPr marL="185420" indent="-185420" hangingPunct="1"/>
            <a:endParaRPr lang="ko-KR" altLang="en-US" sz="1600" dirty="0">
              <a:latin typeface="맑은 고딕"/>
              <a:ea typeface="맑은 고딕"/>
            </a:endParaRPr>
          </a:p>
          <a:p>
            <a:pPr marL="586105" lvl="1" indent="-214630" hangingPunct="1"/>
            <a:endParaRPr lang="en-US" sz="1600" dirty="0">
              <a:latin typeface="맑은 고딕"/>
              <a:ea typeface="맑은 고딕"/>
            </a:endParaRPr>
          </a:p>
          <a:p>
            <a:pPr marL="586105" lvl="1" indent="-214630" hangingPunct="1"/>
            <a:endParaRPr lang="en-US" sz="1600" dirty="0">
              <a:latin typeface="맑은 고딕"/>
              <a:ea typeface="맑은 고딕"/>
            </a:endParaRPr>
          </a:p>
          <a:p>
            <a:pPr marL="586105" lvl="1" indent="-214630" hangingPunct="1"/>
            <a:endParaRPr lang="en-US" sz="1600" dirty="0">
              <a:latin typeface="Malgun Gothic"/>
              <a:ea typeface="Malgun Gothic"/>
            </a:endParaRPr>
          </a:p>
          <a:p>
            <a:pPr marL="586105" lvl="1" indent="-214630" hangingPunct="1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 hangingPunct="1"/>
            <a:endParaRPr lang="en-US" dirty="0">
              <a:latin typeface="맑은 고딕"/>
              <a:ea typeface="맑은 고딕"/>
            </a:endParaRPr>
          </a:p>
          <a:p>
            <a:pPr marL="586105" lvl="1" indent="-214630" hangingPunct="1"/>
            <a:endParaRPr lang="en-US" altLang="ko-KR" dirty="0">
              <a:latin typeface="맑은 고딕"/>
              <a:ea typeface="맑은 고딕"/>
            </a:endParaRPr>
          </a:p>
          <a:p>
            <a:pPr marL="185420" indent="-185420" hangingPunct="1">
              <a:buFont typeface="Arial" panose="020B0503020000020004" pitchFamily="50" charset="-127"/>
              <a:buChar char="•"/>
            </a:pPr>
            <a:endParaRPr lang="ko-KR" altLang="en-US" dirty="0">
              <a:latin typeface="Malgun Gothic"/>
              <a:ea typeface="Malgun Gothic"/>
            </a:endParaRPr>
          </a:p>
          <a:p>
            <a:pPr marL="586105" lvl="1" indent="-214630" hangingPunct="1"/>
            <a:endParaRPr lang="en-US" altLang="ko-KR" dirty="0"/>
          </a:p>
          <a:p>
            <a:pPr marL="371475" lvl="1" indent="0" hangingPunct="1">
              <a:buFont typeface="맑은 고딕" panose="020B0503020000020004" pitchFamily="50" charset="-127"/>
              <a:buNone/>
            </a:pPr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185420" indent="-185420" hangingPunct="1"/>
            <a:endParaRPr lang="en-US" altLang="ko-KR" dirty="0"/>
          </a:p>
          <a:p>
            <a:pPr marL="742315" lvl="2" indent="0" hangingPunct="1">
              <a:buFont typeface="맑은 고딕" panose="020B0503020000020004" pitchFamily="50" charset="-127"/>
              <a:buNone/>
            </a:pPr>
            <a:endParaRPr lang="ko-KR" altLang="en-US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455A687-EBB1-911E-7C9E-9ACE5E3540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2416" y="3745264"/>
            <a:ext cx="6433152" cy="2066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881095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Use memory bandwidth at maximum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6" y="1147313"/>
            <a:ext cx="9885216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sz="1600" dirty="0">
                <a:latin typeface="맑은 고딕"/>
                <a:ea typeface="맑은 고딕"/>
              </a:rPr>
              <a:t>Connect multiple bank for single kernel </a:t>
            </a:r>
          </a:p>
          <a:p>
            <a:pPr marL="185420" indent="-185420"/>
            <a:endParaRPr lang="en-US" altLang="ko-KR" sz="1600" dirty="0">
              <a:latin typeface="맑은 고딕"/>
              <a:ea typeface="맑은 고딕"/>
            </a:endParaRPr>
          </a:p>
          <a:p>
            <a:pPr marL="185420" indent="-185420"/>
            <a:r>
              <a:rPr lang="en-US" altLang="ko-KR" sz="1600" dirty="0">
                <a:latin typeface="맑은 고딕"/>
                <a:ea typeface="맑은 고딕"/>
              </a:rPr>
              <a:t>Significant</a:t>
            </a:r>
            <a:endParaRPr lang="en-US" sz="1600" dirty="0">
              <a:latin typeface="맑은 고딕"/>
              <a:ea typeface="맑은 고딕"/>
            </a:endParaRPr>
          </a:p>
          <a:p>
            <a:pPr marL="586105" lvl="1" indent="-214630"/>
            <a:r>
              <a:rPr lang="en-US" altLang="ko-KR" sz="1600" b="0" i="0" dirty="0">
                <a:solidFill>
                  <a:srgbClr val="000000"/>
                </a:solidFill>
                <a:effectLst/>
              </a:rPr>
              <a:t>Efficiency increases as the number of</a:t>
            </a:r>
            <a:r>
              <a:rPr lang="ko-KR" altLang="en-US" sz="16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US" altLang="ko-KR" sz="1600" b="0" i="0" dirty="0">
                <a:solidFill>
                  <a:srgbClr val="000000"/>
                </a:solidFill>
                <a:effectLst/>
              </a:rPr>
              <a:t>word increases</a:t>
            </a:r>
          </a:p>
          <a:p>
            <a:pPr marL="586105" lvl="1" indent="-214630"/>
            <a:r>
              <a:rPr lang="en-US" sz="1600" dirty="0">
                <a:latin typeface="맑은 고딕"/>
                <a:ea typeface="맑은 고딕"/>
              </a:rPr>
              <a:t>The limitation of the word is 512 </a:t>
            </a:r>
            <a:r>
              <a:rPr lang="en-US" altLang="ko-KR" sz="1600" dirty="0">
                <a:latin typeface="맑은 고딕"/>
                <a:ea typeface="맑은 고딕"/>
              </a:rPr>
              <a:t>(HW freeze if increase it)</a:t>
            </a:r>
            <a:endParaRPr lang="en-US" sz="1600" dirty="0">
              <a:latin typeface="맑은 고딕"/>
              <a:ea typeface="맑은 고딕"/>
            </a:endParaRPr>
          </a:p>
          <a:p>
            <a:pPr marL="586105" lvl="1" indent="-214630"/>
            <a:r>
              <a:rPr lang="en-US" sz="1600" dirty="0">
                <a:latin typeface="Malgun Gothic"/>
                <a:ea typeface="Malgun Gothic"/>
              </a:rPr>
              <a:t>Write # of transfer</a:t>
            </a:r>
            <a:r>
              <a:rPr lang="ko-KR" altLang="en-US" sz="1600" dirty="0">
                <a:latin typeface="Malgun Gothic"/>
                <a:ea typeface="Malgun Gothic"/>
              </a:rPr>
              <a:t> </a:t>
            </a:r>
            <a:r>
              <a:rPr lang="en-US" altLang="ko-KR" sz="1600" dirty="0">
                <a:latin typeface="Malgun Gothic"/>
                <a:ea typeface="Malgun Gothic"/>
              </a:rPr>
              <a:t>halved (Use --</a:t>
            </a:r>
            <a:r>
              <a:rPr lang="en-US" altLang="ko-KR" sz="1600" dirty="0" err="1">
                <a:latin typeface="Malgun Gothic"/>
                <a:ea typeface="Malgun Gothic"/>
              </a:rPr>
              <a:t>profile.trace_memory</a:t>
            </a:r>
            <a:r>
              <a:rPr lang="en-US" altLang="ko-KR" sz="1600" dirty="0">
                <a:latin typeface="Malgun Gothic"/>
                <a:ea typeface="Malgun Gothic"/>
              </a:rPr>
              <a:t> debug option and rebuild to confirm)</a:t>
            </a:r>
            <a:endParaRPr lang="en-US" sz="1600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/>
            <a:endParaRPr lang="en-US" dirty="0">
              <a:latin typeface="맑은 고딕"/>
              <a:ea typeface="맑은 고딕"/>
            </a:endParaRPr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185420" indent="-185420">
              <a:buFont typeface="Arial" panose="020B0503020000020004" pitchFamily="50" charset="-127"/>
              <a:buChar char="•"/>
            </a:pPr>
            <a:endParaRPr lang="ko-KR" alt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371475" lvl="1" indent="0">
              <a:buNone/>
            </a:pPr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15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0A743C-EAB6-5250-D923-E65C1D420902}"/>
              </a:ext>
            </a:extLst>
          </p:cNvPr>
          <p:cNvSpPr txBox="1"/>
          <p:nvPr/>
        </p:nvSpPr>
        <p:spPr>
          <a:xfrm>
            <a:off x="5568668" y="7960702"/>
            <a:ext cx="609501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ko-KR" dirty="0"/>
              <a:t>--</a:t>
            </a:r>
            <a:r>
              <a:rPr lang="en-US" altLang="ko-KR" dirty="0" err="1"/>
              <a:t>profile.trace_memory</a:t>
            </a:r>
            <a:r>
              <a:rPr lang="en-US" altLang="ko-KR" dirty="0"/>
              <a:t> $(TRACE_DDR)</a:t>
            </a:r>
            <a:endParaRPr lang="ko-KR" altLang="en-US" dirty="0"/>
          </a:p>
        </p:txBody>
      </p: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CD487CE1-C19C-835C-8E53-D78F6927F0CC}"/>
              </a:ext>
            </a:extLst>
          </p:cNvPr>
          <p:cNvSpPr txBox="1">
            <a:spLocks/>
          </p:cNvSpPr>
          <p:nvPr/>
        </p:nvSpPr>
        <p:spPr>
          <a:xfrm>
            <a:off x="4972737" y="8145368"/>
            <a:ext cx="9885216" cy="502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t">
            <a:normAutofit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185420" indent="-185420" hangingPunct="1"/>
            <a:r>
              <a:rPr lang="en-US" altLang="ko-KR" sz="1600" dirty="0">
                <a:latin typeface="맑은 고딕"/>
                <a:ea typeface="맑은 고딕"/>
              </a:rPr>
              <a:t>BW</a:t>
            </a:r>
            <a:r>
              <a:rPr lang="ko-KR" altLang="en-US" sz="1600" dirty="0">
                <a:latin typeface="맑은 고딕"/>
                <a:ea typeface="맑은 고딕"/>
              </a:rPr>
              <a:t>가 향상된 것을 확인할 수 있다</a:t>
            </a:r>
            <a:endParaRPr lang="en-US" altLang="ko-KR" sz="1600" dirty="0">
              <a:latin typeface="맑은 고딕"/>
              <a:ea typeface="맑은 고딕"/>
            </a:endParaRPr>
          </a:p>
          <a:p>
            <a:pPr marL="185420" indent="-185420" hangingPunct="1"/>
            <a:endParaRPr lang="ko-KR" altLang="en-US" sz="1600" dirty="0">
              <a:latin typeface="맑은 고딕"/>
              <a:ea typeface="맑은 고딕"/>
            </a:endParaRPr>
          </a:p>
          <a:p>
            <a:pPr marL="586105" lvl="1" indent="-214630" hangingPunct="1"/>
            <a:endParaRPr lang="en-US" sz="1600" dirty="0">
              <a:latin typeface="맑은 고딕"/>
              <a:ea typeface="맑은 고딕"/>
            </a:endParaRPr>
          </a:p>
          <a:p>
            <a:pPr marL="586105" lvl="1" indent="-214630" hangingPunct="1"/>
            <a:endParaRPr lang="en-US" sz="1600" dirty="0">
              <a:latin typeface="맑은 고딕"/>
              <a:ea typeface="맑은 고딕"/>
            </a:endParaRPr>
          </a:p>
          <a:p>
            <a:pPr marL="586105" lvl="1" indent="-214630" hangingPunct="1"/>
            <a:endParaRPr lang="en-US" sz="1600" dirty="0">
              <a:latin typeface="Malgun Gothic"/>
              <a:ea typeface="Malgun Gothic"/>
            </a:endParaRPr>
          </a:p>
          <a:p>
            <a:pPr marL="586105" lvl="1" indent="-214630" hangingPunct="1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 hangingPunct="1"/>
            <a:endParaRPr lang="en-US" dirty="0">
              <a:latin typeface="맑은 고딕"/>
              <a:ea typeface="맑은 고딕"/>
            </a:endParaRPr>
          </a:p>
          <a:p>
            <a:pPr marL="586105" lvl="1" indent="-214630" hangingPunct="1"/>
            <a:endParaRPr lang="en-US" altLang="ko-KR" dirty="0">
              <a:latin typeface="맑은 고딕"/>
              <a:ea typeface="맑은 고딕"/>
            </a:endParaRPr>
          </a:p>
          <a:p>
            <a:pPr marL="185420" indent="-185420" hangingPunct="1">
              <a:buFont typeface="Arial" panose="020B0503020000020004" pitchFamily="50" charset="-127"/>
              <a:buChar char="•"/>
            </a:pPr>
            <a:endParaRPr lang="ko-KR" altLang="en-US" dirty="0">
              <a:latin typeface="Malgun Gothic"/>
              <a:ea typeface="Malgun Gothic"/>
            </a:endParaRPr>
          </a:p>
          <a:p>
            <a:pPr marL="586105" lvl="1" indent="-214630" hangingPunct="1"/>
            <a:endParaRPr lang="en-US" altLang="ko-KR" dirty="0"/>
          </a:p>
          <a:p>
            <a:pPr marL="371475" lvl="1" indent="0" hangingPunct="1">
              <a:buFont typeface="맑은 고딕" panose="020B0503020000020004" pitchFamily="50" charset="-127"/>
              <a:buNone/>
            </a:pPr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185420" indent="-185420" hangingPunct="1"/>
            <a:endParaRPr lang="en-US" altLang="ko-KR" dirty="0"/>
          </a:p>
          <a:p>
            <a:pPr marL="742315" lvl="2" indent="0" hangingPunct="1">
              <a:buFont typeface="맑은 고딕" panose="020B0503020000020004" pitchFamily="50" charset="-127"/>
              <a:buNone/>
            </a:pPr>
            <a:endParaRPr lang="ko-KR" altLang="en-US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BDB6FFB-436F-1BE5-BFC3-8CD9C0014A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315" y="3429000"/>
            <a:ext cx="7473370" cy="2335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741143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Use memory bandwidth at maximum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6" y="1147313"/>
            <a:ext cx="9885216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sz="1600" dirty="0">
                <a:latin typeface="맑은 고딕"/>
                <a:ea typeface="맑은 고딕"/>
              </a:rPr>
              <a:t>Connect multiple bank for multiple kernel one by one</a:t>
            </a:r>
          </a:p>
          <a:p>
            <a:pPr marL="0" indent="0">
              <a:buNone/>
            </a:pPr>
            <a:endParaRPr lang="en-US" sz="1600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/>
            <a:endParaRPr lang="en-US" dirty="0">
              <a:latin typeface="맑은 고딕"/>
              <a:ea typeface="맑은 고딕"/>
            </a:endParaRPr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185420" indent="-185420">
              <a:buFont typeface="Arial" panose="020B0503020000020004" pitchFamily="50" charset="-127"/>
              <a:buChar char="•"/>
            </a:pPr>
            <a:endParaRPr lang="ko-KR" alt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371475" lvl="1" indent="0">
              <a:buNone/>
            </a:pPr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16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0A743C-EAB6-5250-D923-E65C1D420902}"/>
              </a:ext>
            </a:extLst>
          </p:cNvPr>
          <p:cNvSpPr txBox="1"/>
          <p:nvPr/>
        </p:nvSpPr>
        <p:spPr>
          <a:xfrm>
            <a:off x="5568668" y="7960702"/>
            <a:ext cx="609501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ko-KR" dirty="0"/>
              <a:t>--</a:t>
            </a:r>
            <a:r>
              <a:rPr lang="en-US" altLang="ko-KR" dirty="0" err="1"/>
              <a:t>profile.trace_memory</a:t>
            </a:r>
            <a:r>
              <a:rPr lang="en-US" altLang="ko-KR" dirty="0"/>
              <a:t> $(TRACE_DDR)</a:t>
            </a:r>
            <a:endParaRPr lang="ko-KR" altLang="en-US" dirty="0"/>
          </a:p>
        </p:txBody>
      </p: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CD487CE1-C19C-835C-8E53-D78F6927F0CC}"/>
              </a:ext>
            </a:extLst>
          </p:cNvPr>
          <p:cNvSpPr txBox="1">
            <a:spLocks/>
          </p:cNvSpPr>
          <p:nvPr/>
        </p:nvSpPr>
        <p:spPr>
          <a:xfrm>
            <a:off x="4972737" y="8145368"/>
            <a:ext cx="9885216" cy="502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t">
            <a:normAutofit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185420" indent="-185420" hangingPunct="1"/>
            <a:r>
              <a:rPr lang="en-US" altLang="ko-KR" sz="1600" dirty="0">
                <a:latin typeface="맑은 고딕"/>
                <a:ea typeface="맑은 고딕"/>
              </a:rPr>
              <a:t>BW</a:t>
            </a:r>
            <a:r>
              <a:rPr lang="ko-KR" altLang="en-US" sz="1600" dirty="0">
                <a:latin typeface="맑은 고딕"/>
                <a:ea typeface="맑은 고딕"/>
              </a:rPr>
              <a:t>가 향상된 것을 확인할 수 있다</a:t>
            </a:r>
            <a:endParaRPr lang="en-US" altLang="ko-KR" sz="1600" dirty="0">
              <a:latin typeface="맑은 고딕"/>
              <a:ea typeface="맑은 고딕"/>
            </a:endParaRPr>
          </a:p>
          <a:p>
            <a:pPr marL="185420" indent="-185420" hangingPunct="1"/>
            <a:endParaRPr lang="ko-KR" altLang="en-US" sz="1600" dirty="0">
              <a:latin typeface="맑은 고딕"/>
              <a:ea typeface="맑은 고딕"/>
            </a:endParaRPr>
          </a:p>
          <a:p>
            <a:pPr marL="586105" lvl="1" indent="-214630" hangingPunct="1"/>
            <a:endParaRPr lang="en-US" sz="1600" dirty="0">
              <a:latin typeface="맑은 고딕"/>
              <a:ea typeface="맑은 고딕"/>
            </a:endParaRPr>
          </a:p>
          <a:p>
            <a:pPr marL="586105" lvl="1" indent="-214630" hangingPunct="1"/>
            <a:endParaRPr lang="en-US" sz="1600" dirty="0">
              <a:latin typeface="맑은 고딕"/>
              <a:ea typeface="맑은 고딕"/>
            </a:endParaRPr>
          </a:p>
          <a:p>
            <a:pPr marL="586105" lvl="1" indent="-214630" hangingPunct="1"/>
            <a:endParaRPr lang="en-US" sz="1600" dirty="0">
              <a:latin typeface="Malgun Gothic"/>
              <a:ea typeface="Malgun Gothic"/>
            </a:endParaRPr>
          </a:p>
          <a:p>
            <a:pPr marL="586105" lvl="1" indent="-214630" hangingPunct="1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 hangingPunct="1"/>
            <a:endParaRPr lang="en-US" dirty="0">
              <a:latin typeface="맑은 고딕"/>
              <a:ea typeface="맑은 고딕"/>
            </a:endParaRPr>
          </a:p>
          <a:p>
            <a:pPr marL="586105" lvl="1" indent="-214630" hangingPunct="1"/>
            <a:endParaRPr lang="en-US" altLang="ko-KR" dirty="0">
              <a:latin typeface="맑은 고딕"/>
              <a:ea typeface="맑은 고딕"/>
            </a:endParaRPr>
          </a:p>
          <a:p>
            <a:pPr marL="185420" indent="-185420" hangingPunct="1">
              <a:buFont typeface="Arial" panose="020B0503020000020004" pitchFamily="50" charset="-127"/>
              <a:buChar char="•"/>
            </a:pPr>
            <a:endParaRPr lang="ko-KR" altLang="en-US" dirty="0">
              <a:latin typeface="Malgun Gothic"/>
              <a:ea typeface="Malgun Gothic"/>
            </a:endParaRPr>
          </a:p>
          <a:p>
            <a:pPr marL="586105" lvl="1" indent="-214630" hangingPunct="1"/>
            <a:endParaRPr lang="en-US" altLang="ko-KR" dirty="0"/>
          </a:p>
          <a:p>
            <a:pPr marL="371475" lvl="1" indent="0" hangingPunct="1">
              <a:buFont typeface="맑은 고딕" panose="020B0503020000020004" pitchFamily="50" charset="-127"/>
              <a:buNone/>
            </a:pPr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185420" indent="-185420" hangingPunct="1"/>
            <a:endParaRPr lang="en-US" altLang="ko-KR" dirty="0"/>
          </a:p>
          <a:p>
            <a:pPr marL="742315" lvl="2" indent="0" hangingPunct="1">
              <a:buFont typeface="맑은 고딕" panose="020B0503020000020004" pitchFamily="50" charset="-127"/>
              <a:buNone/>
            </a:pP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072868B-2954-26BC-557C-FCE27E398A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6" y="1978163"/>
            <a:ext cx="3629388" cy="3367949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5531D94-3123-CB7B-4786-9802BD880A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668" y="1978163"/>
            <a:ext cx="3566012" cy="342919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ED2A1E3-8459-3DF9-D969-2A1824CB77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680" y="1840515"/>
            <a:ext cx="3165151" cy="3566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8366267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Use memory bandwidth at maximum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6" y="1147313"/>
            <a:ext cx="9885216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sz="1600" dirty="0">
                <a:latin typeface="맑은 고딕"/>
                <a:ea typeface="맑은 고딕"/>
              </a:rPr>
              <a:t>Connect multiple bank for multiple kernel one by one</a:t>
            </a:r>
          </a:p>
          <a:p>
            <a:pPr marL="0" indent="0">
              <a:buNone/>
            </a:pPr>
            <a:endParaRPr lang="en-US" sz="1600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/>
            <a:endParaRPr lang="en-US" dirty="0">
              <a:latin typeface="맑은 고딕"/>
              <a:ea typeface="맑은 고딕"/>
            </a:endParaRPr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185420" indent="-185420">
              <a:buFont typeface="Arial" panose="020B0503020000020004" pitchFamily="50" charset="-127"/>
              <a:buChar char="•"/>
            </a:pPr>
            <a:endParaRPr lang="ko-KR" alt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371475" lvl="1" indent="0">
              <a:buNone/>
            </a:pPr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17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0A743C-EAB6-5250-D923-E65C1D420902}"/>
              </a:ext>
            </a:extLst>
          </p:cNvPr>
          <p:cNvSpPr txBox="1"/>
          <p:nvPr/>
        </p:nvSpPr>
        <p:spPr>
          <a:xfrm>
            <a:off x="5568668" y="7960702"/>
            <a:ext cx="609501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ko-KR" dirty="0"/>
              <a:t>--</a:t>
            </a:r>
            <a:r>
              <a:rPr lang="en-US" altLang="ko-KR" dirty="0" err="1"/>
              <a:t>profile.trace_memory</a:t>
            </a:r>
            <a:r>
              <a:rPr lang="en-US" altLang="ko-KR" dirty="0"/>
              <a:t> $(TRACE_DDR)</a:t>
            </a:r>
            <a:endParaRPr lang="ko-KR" altLang="en-US" dirty="0"/>
          </a:p>
        </p:txBody>
      </p: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CD487CE1-C19C-835C-8E53-D78F6927F0CC}"/>
              </a:ext>
            </a:extLst>
          </p:cNvPr>
          <p:cNvSpPr txBox="1">
            <a:spLocks/>
          </p:cNvSpPr>
          <p:nvPr/>
        </p:nvSpPr>
        <p:spPr>
          <a:xfrm>
            <a:off x="4972737" y="8145368"/>
            <a:ext cx="9885216" cy="502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t">
            <a:normAutofit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185420" indent="-185420" hangingPunct="1"/>
            <a:r>
              <a:rPr lang="en-US" altLang="ko-KR" sz="1600" dirty="0">
                <a:latin typeface="맑은 고딕"/>
                <a:ea typeface="맑은 고딕"/>
              </a:rPr>
              <a:t>BW</a:t>
            </a:r>
            <a:r>
              <a:rPr lang="ko-KR" altLang="en-US" sz="1600" dirty="0">
                <a:latin typeface="맑은 고딕"/>
                <a:ea typeface="맑은 고딕"/>
              </a:rPr>
              <a:t>가 향상된 것을 확인할 수 있다</a:t>
            </a:r>
            <a:endParaRPr lang="en-US" altLang="ko-KR" sz="1600" dirty="0">
              <a:latin typeface="맑은 고딕"/>
              <a:ea typeface="맑은 고딕"/>
            </a:endParaRPr>
          </a:p>
          <a:p>
            <a:pPr marL="185420" indent="-185420" hangingPunct="1"/>
            <a:endParaRPr lang="ko-KR" altLang="en-US" sz="1600" dirty="0">
              <a:latin typeface="맑은 고딕"/>
              <a:ea typeface="맑은 고딕"/>
            </a:endParaRPr>
          </a:p>
          <a:p>
            <a:pPr marL="586105" lvl="1" indent="-214630" hangingPunct="1"/>
            <a:endParaRPr lang="en-US" sz="1600" dirty="0">
              <a:latin typeface="맑은 고딕"/>
              <a:ea typeface="맑은 고딕"/>
            </a:endParaRPr>
          </a:p>
          <a:p>
            <a:pPr marL="586105" lvl="1" indent="-214630" hangingPunct="1"/>
            <a:endParaRPr lang="en-US" sz="1600" dirty="0">
              <a:latin typeface="맑은 고딕"/>
              <a:ea typeface="맑은 고딕"/>
            </a:endParaRPr>
          </a:p>
          <a:p>
            <a:pPr marL="586105" lvl="1" indent="-214630" hangingPunct="1"/>
            <a:endParaRPr lang="en-US" sz="1600" dirty="0">
              <a:latin typeface="Malgun Gothic"/>
              <a:ea typeface="Malgun Gothic"/>
            </a:endParaRPr>
          </a:p>
          <a:p>
            <a:pPr marL="586105" lvl="1" indent="-214630" hangingPunct="1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 hangingPunct="1"/>
            <a:endParaRPr lang="en-US" dirty="0">
              <a:latin typeface="맑은 고딕"/>
              <a:ea typeface="맑은 고딕"/>
            </a:endParaRPr>
          </a:p>
          <a:p>
            <a:pPr marL="586105" lvl="1" indent="-214630" hangingPunct="1"/>
            <a:endParaRPr lang="en-US" altLang="ko-KR" dirty="0">
              <a:latin typeface="맑은 고딕"/>
              <a:ea typeface="맑은 고딕"/>
            </a:endParaRPr>
          </a:p>
          <a:p>
            <a:pPr marL="185420" indent="-185420" hangingPunct="1">
              <a:buFont typeface="Arial" panose="020B0503020000020004" pitchFamily="50" charset="-127"/>
              <a:buChar char="•"/>
            </a:pPr>
            <a:endParaRPr lang="ko-KR" altLang="en-US" dirty="0">
              <a:latin typeface="Malgun Gothic"/>
              <a:ea typeface="Malgun Gothic"/>
            </a:endParaRPr>
          </a:p>
          <a:p>
            <a:pPr marL="586105" lvl="1" indent="-214630" hangingPunct="1"/>
            <a:endParaRPr lang="en-US" altLang="ko-KR" dirty="0"/>
          </a:p>
          <a:p>
            <a:pPr marL="371475" lvl="1" indent="0" hangingPunct="1">
              <a:buFont typeface="맑은 고딕" panose="020B0503020000020004" pitchFamily="50" charset="-127"/>
              <a:buNone/>
            </a:pPr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185420" indent="-185420" hangingPunct="1"/>
            <a:endParaRPr lang="en-US" altLang="ko-KR" dirty="0"/>
          </a:p>
          <a:p>
            <a:pPr marL="742315" lvl="2" indent="0" hangingPunct="1">
              <a:buFont typeface="맑은 고딕" panose="020B0503020000020004" pitchFamily="50" charset="-127"/>
              <a:buNone/>
            </a:pP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6B10145-F1E1-78CE-EB44-B81D30D23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41" y="1686796"/>
            <a:ext cx="10862511" cy="3175195"/>
          </a:xfrm>
          <a:prstGeom prst="rect">
            <a:avLst/>
          </a:prstGeom>
        </p:spPr>
      </p:pic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E76F7EC1-7A5E-6CBC-B1B2-9E8EA579F634}"/>
              </a:ext>
            </a:extLst>
          </p:cNvPr>
          <p:cNvSpPr txBox="1">
            <a:spLocks/>
          </p:cNvSpPr>
          <p:nvPr/>
        </p:nvSpPr>
        <p:spPr>
          <a:xfrm>
            <a:off x="739940" y="4944979"/>
            <a:ext cx="4541923" cy="5131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t">
            <a:normAutofit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586105" lvl="1" indent="-214630" hangingPunct="1"/>
            <a:r>
              <a:rPr lang="en-US" altLang="ko-KR" dirty="0"/>
              <a:t>Minimum Read BW Util : 80%</a:t>
            </a:r>
          </a:p>
          <a:p>
            <a:pPr marL="586105" lvl="1" indent="-214630" hangingPunct="1"/>
            <a:r>
              <a:rPr lang="en-US" altLang="ko-KR" dirty="0"/>
              <a:t>Maximum Read BW Util : 84 %</a:t>
            </a:r>
          </a:p>
          <a:p>
            <a:pPr marL="586105" lvl="1" indent="-214630" hangingPunct="1"/>
            <a:r>
              <a:rPr lang="en-US" altLang="ko-KR" dirty="0"/>
              <a:t>Avg Read BW Util : 81</a:t>
            </a:r>
          </a:p>
          <a:p>
            <a:pPr marL="371475" lvl="1" indent="0" hangingPunct="1">
              <a:buFont typeface="맑은 고딕" panose="020B0503020000020004" pitchFamily="50" charset="-127"/>
              <a:buNone/>
            </a:pPr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185420" indent="-185420" hangingPunct="1"/>
            <a:endParaRPr lang="en-US" altLang="ko-KR" dirty="0"/>
          </a:p>
          <a:p>
            <a:pPr marL="742315" lvl="2" indent="0" hangingPunct="1">
              <a:buFont typeface="맑은 고딕" panose="020B0503020000020004" pitchFamily="50" charset="-127"/>
              <a:buNone/>
            </a:pPr>
            <a:endParaRPr lang="ko-KR" altLang="en-US" dirty="0"/>
          </a:p>
        </p:txBody>
      </p:sp>
      <p:sp>
        <p:nvSpPr>
          <p:cNvPr id="11" name="텍스트 개체 틀 2">
            <a:extLst>
              <a:ext uri="{FF2B5EF4-FFF2-40B4-BE49-F238E27FC236}">
                <a16:creationId xmlns:a16="http://schemas.microsoft.com/office/drawing/2014/main" id="{7CEC7126-0B28-7FA8-E752-15E3353B400C}"/>
              </a:ext>
            </a:extLst>
          </p:cNvPr>
          <p:cNvSpPr txBox="1">
            <a:spLocks/>
          </p:cNvSpPr>
          <p:nvPr/>
        </p:nvSpPr>
        <p:spPr>
          <a:xfrm>
            <a:off x="5957635" y="4944979"/>
            <a:ext cx="4541923" cy="51313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t">
            <a:normAutofit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586105" lvl="1" indent="-214630" hangingPunct="1"/>
            <a:r>
              <a:rPr lang="en-US" altLang="ko-KR" dirty="0"/>
              <a:t>Minimum Write BW Util : 66%</a:t>
            </a:r>
          </a:p>
          <a:p>
            <a:pPr marL="586105" lvl="1" indent="-214630" hangingPunct="1"/>
            <a:r>
              <a:rPr lang="en-US" altLang="ko-KR" dirty="0"/>
              <a:t>Maximum Write BW Util : 64 %</a:t>
            </a:r>
          </a:p>
          <a:p>
            <a:pPr marL="586105" lvl="1" indent="-214630" hangingPunct="1"/>
            <a:r>
              <a:rPr lang="en-US" altLang="ko-KR" dirty="0"/>
              <a:t>Avg Read BW Util : 65 %</a:t>
            </a:r>
          </a:p>
          <a:p>
            <a:pPr marL="371475" lvl="1" indent="0" hangingPunct="1">
              <a:buFont typeface="맑은 고딕" panose="020B0503020000020004" pitchFamily="50" charset="-127"/>
              <a:buNone/>
            </a:pPr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185420" indent="-185420" hangingPunct="1"/>
            <a:endParaRPr lang="en-US" altLang="ko-KR" dirty="0"/>
          </a:p>
          <a:p>
            <a:pPr marL="742315" lvl="2" indent="0" hangingPunct="1">
              <a:buFont typeface="맑은 고딕" panose="020B0503020000020004" pitchFamily="50" charset="-127"/>
              <a:buNone/>
            </a:pP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1624939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Use memory bandwidth at maximum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6" y="1147313"/>
            <a:ext cx="9885216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sz="1600" dirty="0">
                <a:latin typeface="맑은 고딕"/>
                <a:ea typeface="맑은 고딕"/>
              </a:rPr>
              <a:t>Connect multiple bank for multiple kernel one by one</a:t>
            </a:r>
            <a:endParaRPr lang="en-US" sz="1600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/>
            <a:endParaRPr lang="en-US" dirty="0">
              <a:latin typeface="맑은 고딕"/>
              <a:ea typeface="맑은 고딕"/>
            </a:endParaRPr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185420" indent="-185420">
              <a:buFont typeface="Arial" panose="020B0503020000020004" pitchFamily="50" charset="-127"/>
              <a:buChar char="•"/>
            </a:pPr>
            <a:endParaRPr lang="ko-KR" alt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371475" lvl="1" indent="0">
              <a:buNone/>
            </a:pPr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18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0A743C-EAB6-5250-D923-E65C1D420902}"/>
              </a:ext>
            </a:extLst>
          </p:cNvPr>
          <p:cNvSpPr txBox="1"/>
          <p:nvPr/>
        </p:nvSpPr>
        <p:spPr>
          <a:xfrm>
            <a:off x="5568668" y="7960702"/>
            <a:ext cx="609501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ko-KR" dirty="0"/>
              <a:t>--</a:t>
            </a:r>
            <a:r>
              <a:rPr lang="en-US" altLang="ko-KR" dirty="0" err="1"/>
              <a:t>profile.trace_memory</a:t>
            </a:r>
            <a:r>
              <a:rPr lang="en-US" altLang="ko-KR" dirty="0"/>
              <a:t> $(TRACE_DDR)</a:t>
            </a:r>
            <a:endParaRPr lang="ko-KR" altLang="en-US" dirty="0"/>
          </a:p>
        </p:txBody>
      </p: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CD487CE1-C19C-835C-8E53-D78F6927F0CC}"/>
              </a:ext>
            </a:extLst>
          </p:cNvPr>
          <p:cNvSpPr txBox="1">
            <a:spLocks/>
          </p:cNvSpPr>
          <p:nvPr/>
        </p:nvSpPr>
        <p:spPr>
          <a:xfrm>
            <a:off x="4972737" y="8145368"/>
            <a:ext cx="9885216" cy="502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t">
            <a:normAutofit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185420" indent="-185420" hangingPunct="1"/>
            <a:r>
              <a:rPr lang="en-US" altLang="ko-KR" sz="1600" dirty="0">
                <a:latin typeface="맑은 고딕"/>
                <a:ea typeface="맑은 고딕"/>
              </a:rPr>
              <a:t>BW</a:t>
            </a:r>
            <a:r>
              <a:rPr lang="ko-KR" altLang="en-US" sz="1600" dirty="0">
                <a:latin typeface="맑은 고딕"/>
                <a:ea typeface="맑은 고딕"/>
              </a:rPr>
              <a:t>가 향상된 것을 확인할 수 있다</a:t>
            </a:r>
            <a:endParaRPr lang="en-US" altLang="ko-KR" sz="1600" dirty="0">
              <a:latin typeface="맑은 고딕"/>
              <a:ea typeface="맑은 고딕"/>
            </a:endParaRPr>
          </a:p>
          <a:p>
            <a:pPr marL="185420" indent="-185420" hangingPunct="1"/>
            <a:endParaRPr lang="ko-KR" altLang="en-US" sz="1600" dirty="0">
              <a:latin typeface="맑은 고딕"/>
              <a:ea typeface="맑은 고딕"/>
            </a:endParaRPr>
          </a:p>
          <a:p>
            <a:pPr marL="586105" lvl="1" indent="-214630" hangingPunct="1"/>
            <a:endParaRPr lang="en-US" sz="1600" dirty="0">
              <a:latin typeface="맑은 고딕"/>
              <a:ea typeface="맑은 고딕"/>
            </a:endParaRPr>
          </a:p>
          <a:p>
            <a:pPr marL="586105" lvl="1" indent="-214630" hangingPunct="1"/>
            <a:endParaRPr lang="en-US" sz="1600" dirty="0">
              <a:latin typeface="맑은 고딕"/>
              <a:ea typeface="맑은 고딕"/>
            </a:endParaRPr>
          </a:p>
          <a:p>
            <a:pPr marL="586105" lvl="1" indent="-214630" hangingPunct="1"/>
            <a:endParaRPr lang="en-US" sz="1600" dirty="0">
              <a:latin typeface="Malgun Gothic"/>
              <a:ea typeface="Malgun Gothic"/>
            </a:endParaRPr>
          </a:p>
          <a:p>
            <a:pPr marL="586105" lvl="1" indent="-214630" hangingPunct="1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 hangingPunct="1"/>
            <a:endParaRPr lang="en-US" dirty="0">
              <a:latin typeface="맑은 고딕"/>
              <a:ea typeface="맑은 고딕"/>
            </a:endParaRPr>
          </a:p>
          <a:p>
            <a:pPr marL="586105" lvl="1" indent="-214630" hangingPunct="1"/>
            <a:endParaRPr lang="en-US" altLang="ko-KR" dirty="0">
              <a:latin typeface="맑은 고딕"/>
              <a:ea typeface="맑은 고딕"/>
            </a:endParaRPr>
          </a:p>
          <a:p>
            <a:pPr marL="185420" indent="-185420" hangingPunct="1">
              <a:buFont typeface="Arial" panose="020B0503020000020004" pitchFamily="50" charset="-127"/>
              <a:buChar char="•"/>
            </a:pPr>
            <a:endParaRPr lang="ko-KR" altLang="en-US" dirty="0">
              <a:latin typeface="Malgun Gothic"/>
              <a:ea typeface="Malgun Gothic"/>
            </a:endParaRPr>
          </a:p>
          <a:p>
            <a:pPr marL="586105" lvl="1" indent="-214630" hangingPunct="1"/>
            <a:endParaRPr lang="en-US" altLang="ko-KR" dirty="0"/>
          </a:p>
          <a:p>
            <a:pPr marL="371475" lvl="1" indent="0" hangingPunct="1">
              <a:buFont typeface="맑은 고딕" panose="020B0503020000020004" pitchFamily="50" charset="-127"/>
              <a:buNone/>
            </a:pPr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185420" indent="-185420" hangingPunct="1"/>
            <a:endParaRPr lang="en-US" altLang="ko-KR" dirty="0"/>
          </a:p>
          <a:p>
            <a:pPr marL="742315" lvl="2" indent="0" hangingPunct="1">
              <a:buFont typeface="맑은 고딕" panose="020B0503020000020004" pitchFamily="50" charset="-127"/>
              <a:buNone/>
            </a:pP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EF3B5C0-DCEB-E9CA-CA79-C2EC03161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002" y="1521994"/>
            <a:ext cx="3762972" cy="455395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1E625B3-C6C1-FDA6-77FA-89BD1275D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821" y="1521994"/>
            <a:ext cx="4939488" cy="4487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561730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Use memory bandwidth at maximum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196" y="1147313"/>
            <a:ext cx="6699588" cy="5029650"/>
          </a:xfrm>
        </p:spPr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altLang="ko-KR" sz="1600" dirty="0">
                <a:latin typeface="맑은 고딕"/>
                <a:ea typeface="맑은 고딕"/>
              </a:rPr>
              <a:t>Connect multiple bank for multiple kernel one by one</a:t>
            </a:r>
          </a:p>
          <a:p>
            <a:pPr marL="185420" indent="-185420"/>
            <a:r>
              <a:rPr lang="en-US" altLang="ko-KR" sz="1600" dirty="0">
                <a:latin typeface="맑은 고딕"/>
                <a:ea typeface="맑은 고딕"/>
              </a:rPr>
              <a:t>Significant</a:t>
            </a:r>
          </a:p>
          <a:p>
            <a:pPr marL="586212" lvl="1" indent="-185420"/>
            <a:r>
              <a:rPr lang="en-US" altLang="ko-KR" sz="1400" dirty="0">
                <a:latin typeface="맑은 고딕"/>
                <a:ea typeface="맑은 고딕"/>
              </a:rPr>
              <a:t>Parallel execution</a:t>
            </a:r>
            <a:r>
              <a:rPr lang="ko-KR" altLang="en-US" sz="1400" dirty="0">
                <a:latin typeface="맑은 고딕"/>
                <a:ea typeface="맑은 고딕"/>
              </a:rPr>
              <a:t> </a:t>
            </a:r>
            <a:r>
              <a:rPr lang="en-US" altLang="ko-KR" sz="1400" dirty="0">
                <a:latin typeface="맑은 고딕"/>
                <a:ea typeface="맑은 고딕"/>
              </a:rPr>
              <a:t>not implemented. Need to check if different memory bank access is possible simultaneously</a:t>
            </a:r>
          </a:p>
          <a:p>
            <a:pPr marL="586212" lvl="1" indent="-185420"/>
            <a:r>
              <a:rPr lang="en-US" altLang="ko-KR" sz="1400" dirty="0">
                <a:latin typeface="맑은 고딕"/>
                <a:ea typeface="맑은 고딕"/>
              </a:rPr>
              <a:t>Not take advantage of Bandwidth using multiple </a:t>
            </a:r>
            <a:r>
              <a:rPr lang="en-US" altLang="ko-KR" sz="1400" dirty="0" err="1">
                <a:latin typeface="맑은 고딕"/>
                <a:ea typeface="맑은 고딕"/>
              </a:rPr>
              <a:t>axi</a:t>
            </a:r>
            <a:r>
              <a:rPr lang="en-US" altLang="ko-KR" sz="1400" dirty="0">
                <a:latin typeface="맑은 고딕"/>
                <a:ea typeface="맑은 고딕"/>
              </a:rPr>
              <a:t> ports.</a:t>
            </a:r>
          </a:p>
          <a:p>
            <a:pPr marL="586212" lvl="1" indent="-185420"/>
            <a:r>
              <a:rPr lang="en-US" altLang="ko-KR" sz="1400" dirty="0">
                <a:latin typeface="맑은 고딕"/>
                <a:ea typeface="맑은 고딕"/>
              </a:rPr>
              <a:t>No write detected in Top kernel transfer</a:t>
            </a:r>
          </a:p>
          <a:p>
            <a:pPr marL="586212" lvl="1" indent="-185420"/>
            <a:r>
              <a:rPr lang="en-US" altLang="ko-KR" sz="1400" dirty="0">
                <a:latin typeface="맑은 고딕"/>
                <a:ea typeface="맑은 고딕"/>
              </a:rPr>
              <a:t>Transfer efficiency</a:t>
            </a:r>
            <a:r>
              <a:rPr lang="ko-KR" altLang="en-US" sz="1400" dirty="0">
                <a:latin typeface="맑은 고딕"/>
                <a:ea typeface="맑은 고딕"/>
              </a:rPr>
              <a:t> </a:t>
            </a:r>
            <a:r>
              <a:rPr lang="en-US" altLang="ko-KR" sz="1400" dirty="0">
                <a:latin typeface="맑은 고딕"/>
                <a:ea typeface="맑은 고딕"/>
              </a:rPr>
              <a:t>is</a:t>
            </a:r>
            <a:r>
              <a:rPr lang="ko-KR" altLang="en-US" sz="1400" dirty="0">
                <a:latin typeface="맑은 고딕"/>
                <a:ea typeface="맑은 고딕"/>
              </a:rPr>
              <a:t> </a:t>
            </a:r>
            <a:r>
              <a:rPr lang="en-US" altLang="ko-KR" sz="1400" dirty="0">
                <a:latin typeface="맑은 고딕"/>
                <a:ea typeface="맑은 고딕"/>
              </a:rPr>
              <a:t>related</a:t>
            </a:r>
            <a:r>
              <a:rPr lang="ko-KR" altLang="en-US" sz="1400" dirty="0">
                <a:latin typeface="맑은 고딕"/>
                <a:ea typeface="맑은 고딕"/>
              </a:rPr>
              <a:t> </a:t>
            </a:r>
            <a:r>
              <a:rPr lang="en-US" altLang="ko-KR" sz="1400" dirty="0">
                <a:latin typeface="맑은 고딕"/>
                <a:ea typeface="맑은 고딕"/>
              </a:rPr>
              <a:t>with</a:t>
            </a:r>
            <a:r>
              <a:rPr lang="ko-KR" altLang="en-US" sz="1400" dirty="0">
                <a:latin typeface="맑은 고딕"/>
                <a:ea typeface="맑은 고딕"/>
              </a:rPr>
              <a:t> </a:t>
            </a:r>
            <a:r>
              <a:rPr lang="en-US" altLang="ko-KR" sz="1400" dirty="0">
                <a:latin typeface="맑은 고딕"/>
                <a:ea typeface="맑은 고딕"/>
              </a:rPr>
              <a:t>Maximum burst length</a:t>
            </a:r>
            <a:r>
              <a:rPr lang="ko-KR" altLang="en-US" sz="1400" dirty="0">
                <a:latin typeface="맑은 고딕"/>
                <a:ea typeface="맑은 고딕"/>
              </a:rPr>
              <a:t> </a:t>
            </a:r>
            <a:r>
              <a:rPr lang="en-US" altLang="ko-KR" sz="1400" dirty="0">
                <a:latin typeface="맑은 고딕"/>
                <a:ea typeface="맑은 고딕"/>
              </a:rPr>
              <a:t>(16 -&gt; 64)</a:t>
            </a:r>
          </a:p>
          <a:p>
            <a:pPr marL="0" indent="0">
              <a:buNone/>
            </a:pPr>
            <a:endParaRPr lang="en-US" sz="1600" dirty="0">
              <a:latin typeface="Malgun Gothic"/>
              <a:ea typeface="Malgun Gothic"/>
            </a:endParaRPr>
          </a:p>
          <a:p>
            <a:pPr marL="0" indent="0">
              <a:buNone/>
            </a:pPr>
            <a:endParaRPr lang="en-US" sz="1600" dirty="0">
              <a:latin typeface="Malgun Gothic"/>
              <a:ea typeface="Malgun Gothic"/>
            </a:endParaRPr>
          </a:p>
          <a:p>
            <a:pPr marL="0" indent="0">
              <a:buNone/>
            </a:pPr>
            <a:endParaRPr lang="en-US" sz="1600" dirty="0">
              <a:latin typeface="Malgun Gothic"/>
              <a:ea typeface="Malgun Gothic"/>
            </a:endParaRPr>
          </a:p>
          <a:p>
            <a:pPr marL="0" indent="0">
              <a:buNone/>
            </a:pPr>
            <a:r>
              <a:rPr lang="en-US" sz="1600" dirty="0">
                <a:latin typeface="Malgun Gothic"/>
                <a:ea typeface="Malgun Gothic"/>
              </a:rPr>
              <a:t>Need to check Read band 2 / Write bank 2 configuration</a:t>
            </a:r>
          </a:p>
          <a:p>
            <a:pPr marL="0" indent="0">
              <a:buNone/>
            </a:pPr>
            <a:endParaRPr lang="en-US" sz="1600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/>
            <a:endParaRPr lang="en-US" dirty="0">
              <a:latin typeface="맑은 고딕"/>
              <a:ea typeface="맑은 고딕"/>
            </a:endParaRPr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185420" indent="-185420">
              <a:buFont typeface="Arial" panose="020B0503020000020004" pitchFamily="50" charset="-127"/>
              <a:buChar char="•"/>
            </a:pPr>
            <a:endParaRPr lang="ko-KR" alt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371475" lvl="1" indent="0">
              <a:buNone/>
            </a:pPr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19</a:t>
            </a:fld>
            <a:endParaRPr lang="ko-KR" alt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0A743C-EAB6-5250-D923-E65C1D420902}"/>
              </a:ext>
            </a:extLst>
          </p:cNvPr>
          <p:cNvSpPr txBox="1"/>
          <p:nvPr/>
        </p:nvSpPr>
        <p:spPr>
          <a:xfrm>
            <a:off x="5568668" y="7960702"/>
            <a:ext cx="609501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altLang="ko-KR" dirty="0"/>
              <a:t>--</a:t>
            </a:r>
            <a:r>
              <a:rPr lang="en-US" altLang="ko-KR" dirty="0" err="1"/>
              <a:t>profile.trace_memory</a:t>
            </a:r>
            <a:r>
              <a:rPr lang="en-US" altLang="ko-KR" dirty="0"/>
              <a:t> $(TRACE_DDR)</a:t>
            </a:r>
            <a:endParaRPr lang="ko-KR" altLang="en-US" dirty="0"/>
          </a:p>
        </p:txBody>
      </p: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CD487CE1-C19C-835C-8E53-D78F6927F0CC}"/>
              </a:ext>
            </a:extLst>
          </p:cNvPr>
          <p:cNvSpPr txBox="1">
            <a:spLocks/>
          </p:cNvSpPr>
          <p:nvPr/>
        </p:nvSpPr>
        <p:spPr>
          <a:xfrm>
            <a:off x="4972737" y="8145368"/>
            <a:ext cx="9885216" cy="5029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tIns="45720" rIns="45719" bIns="45720" anchor="t">
            <a:normAutofit/>
          </a:bodyPr>
          <a:lstStyle>
            <a:lvl1pPr marL="185733" marR="0" indent="-18573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1pPr>
            <a:lvl2pPr marL="586525" marR="0" indent="-215060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2pPr>
            <a:lvl3pPr marL="998314" marR="0" indent="-255383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3pPr>
            <a:lvl4pPr marL="1406264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4pPr>
            <a:lvl5pPr marL="1777730" marR="0" indent="-291866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맑은 고딕" panose="020B0503020000020004" pitchFamily="50" charset="-127"/>
              <a:buChar char="–"/>
              <a:tabLst/>
              <a:defRPr sz="16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5pPr>
            <a:lvl6pPr marL="214919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6pPr>
            <a:lvl7pPr marL="2520661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7pPr>
            <a:lvl8pPr marL="2892126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8pPr>
            <a:lvl9pPr marL="3263593" marR="0" indent="-291867" algn="l" defTabSz="742932" rtl="0" latinLnBrk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2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맑은 고딕"/>
              </a:defRPr>
            </a:lvl9pPr>
          </a:lstStyle>
          <a:p>
            <a:pPr marL="185420" indent="-185420" hangingPunct="1"/>
            <a:r>
              <a:rPr lang="en-US" altLang="ko-KR" sz="1600" dirty="0">
                <a:latin typeface="맑은 고딕"/>
                <a:ea typeface="맑은 고딕"/>
              </a:rPr>
              <a:t>BW</a:t>
            </a:r>
            <a:r>
              <a:rPr lang="ko-KR" altLang="en-US" sz="1600" dirty="0">
                <a:latin typeface="맑은 고딕"/>
                <a:ea typeface="맑은 고딕"/>
              </a:rPr>
              <a:t>가 향상된 것을 확인할 수 있다</a:t>
            </a:r>
            <a:endParaRPr lang="en-US" altLang="ko-KR" sz="1600" dirty="0">
              <a:latin typeface="맑은 고딕"/>
              <a:ea typeface="맑은 고딕"/>
            </a:endParaRPr>
          </a:p>
          <a:p>
            <a:pPr marL="185420" indent="-185420" hangingPunct="1"/>
            <a:endParaRPr lang="ko-KR" altLang="en-US" sz="1600" dirty="0">
              <a:latin typeface="맑은 고딕"/>
              <a:ea typeface="맑은 고딕"/>
            </a:endParaRPr>
          </a:p>
          <a:p>
            <a:pPr marL="586105" lvl="1" indent="-214630" hangingPunct="1"/>
            <a:endParaRPr lang="en-US" sz="1600" dirty="0">
              <a:latin typeface="맑은 고딕"/>
              <a:ea typeface="맑은 고딕"/>
            </a:endParaRPr>
          </a:p>
          <a:p>
            <a:pPr marL="586105" lvl="1" indent="-214630" hangingPunct="1"/>
            <a:endParaRPr lang="en-US" sz="1600" dirty="0">
              <a:latin typeface="맑은 고딕"/>
              <a:ea typeface="맑은 고딕"/>
            </a:endParaRPr>
          </a:p>
          <a:p>
            <a:pPr marL="586105" lvl="1" indent="-214630" hangingPunct="1"/>
            <a:endParaRPr lang="en-US" sz="1600" dirty="0">
              <a:latin typeface="Malgun Gothic"/>
              <a:ea typeface="Malgun Gothic"/>
            </a:endParaRPr>
          </a:p>
          <a:p>
            <a:pPr marL="586105" lvl="1" indent="-214630" hangingPunct="1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 hangingPunct="1"/>
            <a:endParaRPr lang="en-US" dirty="0">
              <a:latin typeface="맑은 고딕"/>
              <a:ea typeface="맑은 고딕"/>
            </a:endParaRPr>
          </a:p>
          <a:p>
            <a:pPr marL="586105" lvl="1" indent="-214630" hangingPunct="1"/>
            <a:endParaRPr lang="en-US" altLang="ko-KR" dirty="0">
              <a:latin typeface="맑은 고딕"/>
              <a:ea typeface="맑은 고딕"/>
            </a:endParaRPr>
          </a:p>
          <a:p>
            <a:pPr marL="185420" indent="-185420" hangingPunct="1">
              <a:buFont typeface="Arial" panose="020B0503020000020004" pitchFamily="50" charset="-127"/>
              <a:buChar char="•"/>
            </a:pPr>
            <a:endParaRPr lang="ko-KR" altLang="en-US" dirty="0">
              <a:latin typeface="Malgun Gothic"/>
              <a:ea typeface="Malgun Gothic"/>
            </a:endParaRPr>
          </a:p>
          <a:p>
            <a:pPr marL="586105" lvl="1" indent="-214630" hangingPunct="1"/>
            <a:endParaRPr lang="en-US" altLang="ko-KR" dirty="0"/>
          </a:p>
          <a:p>
            <a:pPr marL="371475" lvl="1" indent="0" hangingPunct="1">
              <a:buFont typeface="맑은 고딕" panose="020B0503020000020004" pitchFamily="50" charset="-127"/>
              <a:buNone/>
            </a:pPr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586105" lvl="1" indent="-214630" hangingPunct="1"/>
            <a:endParaRPr lang="en-US" altLang="ko-KR" dirty="0"/>
          </a:p>
          <a:p>
            <a:pPr marL="185420" indent="-185420" hangingPunct="1"/>
            <a:endParaRPr lang="en-US" altLang="ko-KR" dirty="0"/>
          </a:p>
          <a:p>
            <a:pPr marL="742315" lvl="2" indent="0" hangingPunct="1">
              <a:buFont typeface="맑은 고딕" panose="020B0503020000020004" pitchFamily="50" charset="-127"/>
              <a:buNone/>
            </a:pP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77139B6-FFB3-B680-0446-F6D9E7549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276" y="1193957"/>
            <a:ext cx="3563295" cy="478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718401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F55DE2-37CF-4366-9E87-873E2A49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ctr">
            <a:normAutofit/>
          </a:bodyPr>
          <a:lstStyle/>
          <a:p>
            <a:r>
              <a:rPr lang="en-US" altLang="ko-KR" dirty="0"/>
              <a:t>Appendix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A6E05-8D7F-49D0-B580-39C0CD091E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lIns="45719" tIns="45720" rIns="45719" bIns="45720" anchor="t">
            <a:normAutofit/>
          </a:bodyPr>
          <a:lstStyle/>
          <a:p>
            <a:pPr marL="185420" indent="-185420"/>
            <a:r>
              <a:rPr lang="en-US" sz="1800" dirty="0">
                <a:latin typeface="Malgun Gothic"/>
                <a:ea typeface="Malgun Gothic"/>
              </a:rPr>
              <a:t>PBLOCK</a:t>
            </a:r>
            <a:r>
              <a:rPr lang="ko-KR" altLang="en-US" sz="1800" dirty="0">
                <a:latin typeface="Malgun Gothic"/>
                <a:ea typeface="Malgun Gothic"/>
              </a:rPr>
              <a:t> </a:t>
            </a:r>
            <a:r>
              <a:rPr lang="en-US" altLang="ko-KR" sz="1800" dirty="0">
                <a:latin typeface="Malgun Gothic"/>
                <a:ea typeface="Malgun Gothic"/>
              </a:rPr>
              <a:t>ERROR</a:t>
            </a:r>
          </a:p>
          <a:p>
            <a:pPr marL="586212" lvl="1" indent="-185420"/>
            <a:r>
              <a:rPr lang="en-US" sz="1600" dirty="0">
                <a:latin typeface="Malgun Gothic"/>
                <a:ea typeface="Malgun Gothic"/>
              </a:rPr>
              <a:t>Try to set CU in SLR2 region, PBLOCK error appeared</a:t>
            </a:r>
          </a:p>
          <a:p>
            <a:pPr marL="586212" lvl="1" indent="-185420"/>
            <a:r>
              <a:rPr lang="en-US" sz="1600" dirty="0">
                <a:latin typeface="Malgun Gothic"/>
                <a:ea typeface="Malgun Gothic"/>
              </a:rPr>
              <a:t>Using clock region boundaries to define the size of the </a:t>
            </a:r>
            <a:r>
              <a:rPr lang="en-US" sz="1600" dirty="0" err="1">
                <a:latin typeface="Malgun Gothic"/>
                <a:ea typeface="Malgun Gothic"/>
              </a:rPr>
              <a:t>pblock</a:t>
            </a:r>
            <a:endParaRPr lang="en-US" sz="1600" dirty="0">
              <a:latin typeface="Malgun Gothic"/>
              <a:ea typeface="Malgun Gothic"/>
            </a:endParaRPr>
          </a:p>
          <a:p>
            <a:pPr marL="586212" lvl="1" indent="-185420"/>
            <a:r>
              <a:rPr lang="en-US" sz="1600" dirty="0">
                <a:latin typeface="Malgun Gothic"/>
                <a:ea typeface="Malgun Gothic"/>
              </a:rPr>
              <a:t>Help limit skew, overall clock placement</a:t>
            </a:r>
          </a:p>
          <a:p>
            <a:pPr marL="998220" lvl="2" indent="-255270"/>
            <a:endParaRPr lang="en-US" altLang="ko-KR" sz="1600" dirty="0">
              <a:latin typeface="맑은 고딕"/>
              <a:ea typeface="맑은 고딕"/>
            </a:endParaRPr>
          </a:p>
          <a:p>
            <a:pPr marL="998220" lvl="2" indent="-255270"/>
            <a:endParaRPr lang="en-US" altLang="ko-KR" sz="1600" dirty="0">
              <a:latin typeface="맑은 고딕"/>
              <a:ea typeface="맑은 고딕"/>
            </a:endParaRPr>
          </a:p>
          <a:p>
            <a:pPr marL="586105" lvl="1" indent="-214630"/>
            <a:endParaRPr lang="ko-KR" altLang="en-US" sz="1600" dirty="0">
              <a:latin typeface="맑은 고딕"/>
              <a:ea typeface="맑은 고딕"/>
            </a:endParaRPr>
          </a:p>
          <a:p>
            <a:pPr marL="586105" lvl="1" indent="-214630"/>
            <a:endParaRPr lang="en-US" sz="1600" dirty="0">
              <a:latin typeface="맑은 고딕"/>
              <a:ea typeface="맑은 고딕"/>
            </a:endParaRPr>
          </a:p>
          <a:p>
            <a:pPr marL="586105" lvl="1" indent="-214630"/>
            <a:endParaRPr lang="en-US" sz="1600" dirty="0">
              <a:latin typeface="맑은 고딕"/>
              <a:ea typeface="맑은 고딕"/>
            </a:endParaRPr>
          </a:p>
          <a:p>
            <a:pPr marL="586105" lvl="1" indent="-214630"/>
            <a:endParaRPr lang="en-US" sz="1600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586105" lvl="1" indent="-214630"/>
            <a:endParaRPr lang="en-US" dirty="0">
              <a:latin typeface="맑은 고딕"/>
              <a:ea typeface="맑은 고딕"/>
            </a:endParaRPr>
          </a:p>
          <a:p>
            <a:pPr marL="586105" lvl="1" indent="-214630"/>
            <a:endParaRPr lang="en-US" altLang="ko-KR" dirty="0">
              <a:latin typeface="맑은 고딕"/>
              <a:ea typeface="맑은 고딕"/>
            </a:endParaRPr>
          </a:p>
          <a:p>
            <a:pPr marL="185420" indent="-185420">
              <a:buFont typeface="Arial" panose="020B0503020000020004" pitchFamily="50" charset="-127"/>
              <a:buChar char="•"/>
            </a:pPr>
            <a:endParaRPr lang="ko-KR" altLang="en-US" dirty="0">
              <a:latin typeface="Malgun Gothic"/>
              <a:ea typeface="Malgun Gothic"/>
            </a:endParaRPr>
          </a:p>
          <a:p>
            <a:pPr marL="586105" lvl="1" indent="-214630"/>
            <a:endParaRPr lang="en-US" altLang="ko-KR" dirty="0"/>
          </a:p>
          <a:p>
            <a:pPr marL="371475" lvl="1" indent="0">
              <a:buNone/>
            </a:pPr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586105" lvl="1" indent="-214630"/>
            <a:endParaRPr lang="en-US" altLang="ko-KR" dirty="0"/>
          </a:p>
          <a:p>
            <a:pPr marL="185420" indent="-185420"/>
            <a:endParaRPr lang="en-US" altLang="ko-KR" dirty="0"/>
          </a:p>
          <a:p>
            <a:pPr marL="742315" lvl="2" indent="0">
              <a:buNone/>
            </a:pPr>
            <a:endParaRPr lang="ko-KR" alt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85FEF-8E6C-49C3-87E5-138AF3C8A184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altLang="ko-KR" smtClean="0"/>
              <a:t>20</a:t>
            </a:fld>
            <a:endParaRPr lang="ko-KR" altLang="en-US"/>
          </a:p>
        </p:txBody>
      </p:sp>
      <p:pic>
        <p:nvPicPr>
          <p:cNvPr id="6" name="그림 5" descr="스크린샷, 텍스트이(가) 표시된 사진&#10;&#10;자동 생성된 설명">
            <a:extLst>
              <a:ext uri="{FF2B5EF4-FFF2-40B4-BE49-F238E27FC236}">
                <a16:creationId xmlns:a16="http://schemas.microsoft.com/office/drawing/2014/main" id="{2868D896-4547-752F-F741-A1BA88526C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93991"/>
            <a:ext cx="12192000" cy="2716696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18065DFA-3162-E824-5776-ED4D4440E679}"/>
              </a:ext>
            </a:extLst>
          </p:cNvPr>
          <p:cNvSpPr/>
          <p:nvPr/>
        </p:nvSpPr>
        <p:spPr>
          <a:xfrm>
            <a:off x="3934690" y="3674852"/>
            <a:ext cx="2939935" cy="116378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DEE18CB0-0123-EB59-668C-F334C57BACF7}"/>
              </a:ext>
            </a:extLst>
          </p:cNvPr>
          <p:cNvSpPr/>
          <p:nvPr/>
        </p:nvSpPr>
        <p:spPr>
          <a:xfrm>
            <a:off x="4153592" y="3929252"/>
            <a:ext cx="2939935" cy="116378"/>
          </a:xfrm>
          <a:prstGeom prst="rect">
            <a:avLst/>
          </a:prstGeom>
          <a:noFill/>
          <a:ln w="28575" cap="flat">
            <a:solidFill>
              <a:srgbClr val="FF0000"/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ko-KR" altLang="en-US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356954418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테마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테마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맑은 고딕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22390</TotalTime>
  <Words>918</Words>
  <Application>Microsoft Office PowerPoint</Application>
  <PresentationFormat>와이드스크린</PresentationFormat>
  <Paragraphs>496</Paragraphs>
  <Slides>20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나눔스퀘어 ExtraBold</vt:lpstr>
      <vt:lpstr>맑은 고딕</vt:lpstr>
      <vt:lpstr>맑은 고딕</vt:lpstr>
      <vt:lpstr>Arial</vt:lpstr>
      <vt:lpstr>Helvetica</vt:lpstr>
      <vt:lpstr>Office 테마</vt:lpstr>
      <vt:lpstr>DRAM Utilization How to maximize memory bandwidth </vt:lpstr>
      <vt:lpstr>Table of Contents</vt:lpstr>
      <vt:lpstr>DDR4 utilization</vt:lpstr>
      <vt:lpstr>DDR4 utilization</vt:lpstr>
      <vt:lpstr>Using multiple banks</vt:lpstr>
      <vt:lpstr>Using multiple banks</vt:lpstr>
      <vt:lpstr>Using multiple banks</vt:lpstr>
      <vt:lpstr>Using maximum data width</vt:lpstr>
      <vt:lpstr>AXI Burst transfer</vt:lpstr>
      <vt:lpstr>Constraints</vt:lpstr>
      <vt:lpstr>Use memory bandwidth at maximum</vt:lpstr>
      <vt:lpstr>Use memory bandwidth at maximum</vt:lpstr>
      <vt:lpstr>Use memory bandwidth at maximum</vt:lpstr>
      <vt:lpstr>Use memory bandwidth at maximum</vt:lpstr>
      <vt:lpstr>Use memory bandwidth at maximum</vt:lpstr>
      <vt:lpstr>Use memory bandwidth at maximum</vt:lpstr>
      <vt:lpstr>Use memory bandwidth at maximum</vt:lpstr>
      <vt:lpstr>Use memory bandwidth at maximum</vt:lpstr>
      <vt:lpstr>Use memory bandwidth at maximum</vt:lpstr>
      <vt:lpstr>Appendix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AIHA</dc:title>
  <dc:creator>Jungwook Choi</dc:creator>
  <cp:lastModifiedBy>서원빈</cp:lastModifiedBy>
  <cp:revision>780</cp:revision>
  <dcterms:created xsi:type="dcterms:W3CDTF">2020-05-23T05:02:16Z</dcterms:created>
  <dcterms:modified xsi:type="dcterms:W3CDTF">2023-08-01T21:43:03Z</dcterms:modified>
</cp:coreProperties>
</file>