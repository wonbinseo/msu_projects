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775" r:id="rId2"/>
    <p:sldId id="751" r:id="rId3"/>
    <p:sldId id="758" r:id="rId4"/>
    <p:sldId id="750" r:id="rId5"/>
    <p:sldId id="754" r:id="rId6"/>
    <p:sldId id="759" r:id="rId7"/>
    <p:sldId id="753" r:id="rId8"/>
    <p:sldId id="760" r:id="rId9"/>
    <p:sldId id="755" r:id="rId10"/>
    <p:sldId id="757" r:id="rId11"/>
    <p:sldId id="771" r:id="rId12"/>
    <p:sldId id="773" r:id="rId13"/>
    <p:sldId id="772" r:id="rId14"/>
    <p:sldId id="774" r:id="rId15"/>
    <p:sldId id="756" r:id="rId16"/>
    <p:sldId id="764" r:id="rId17"/>
    <p:sldId id="765" r:id="rId18"/>
    <p:sldId id="762" r:id="rId19"/>
    <p:sldId id="763" r:id="rId20"/>
    <p:sldId id="766" r:id="rId21"/>
    <p:sldId id="767" r:id="rId22"/>
    <p:sldId id="761" r:id="rId23"/>
    <p:sldId id="769" r:id="rId24"/>
    <p:sldId id="768" r:id="rId25"/>
    <p:sldId id="770" r:id="rId2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gwook Choi" initials="JC" lastIdx="3" clrIdx="0">
    <p:extLst>
      <p:ext uri="{19B8F6BF-5375-455C-9EA6-DF929625EA0E}">
        <p15:presenceInfo xmlns:p15="http://schemas.microsoft.com/office/powerpoint/2012/main" userId="c4e6a04d4233cab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80AFF"/>
    <a:srgbClr val="34805D"/>
    <a:srgbClr val="980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1CEEDB-EF22-1C99-9788-4BC8EE50A9B5}" v="638" dt="2023-07-26T19:25:22.568"/>
    <p1510:client id="{52F99564-DB00-4653-907D-ACC750254119}" v="149" dt="2023-07-19T17:54:39.387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00" autoAdjust="0"/>
    <p:restoredTop sz="92941" autoAdjust="0"/>
  </p:normalViewPr>
  <p:slideViewPr>
    <p:cSldViewPr snapToGrid="0">
      <p:cViewPr varScale="1">
        <p:scale>
          <a:sx n="107" d="100"/>
          <a:sy n="107" d="100"/>
        </p:scale>
        <p:origin x="1062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78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0" name="Shape 1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4649871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0842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In buffer – read master, out buffer – write </a:t>
            </a:r>
            <a:r>
              <a:rPr lang="en-US" altLang="ko-KR" dirty="0" err="1"/>
              <a:t>maste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2665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In buffer – read master, out buffer – write </a:t>
            </a:r>
            <a:r>
              <a:rPr lang="en-US" altLang="ko-KR" dirty="0" err="1"/>
              <a:t>maste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6840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>
            <a:spLocks noGrp="1"/>
          </p:cNvSpPr>
          <p:nvPr>
            <p:ph type="title" hasCustomPrompt="1"/>
          </p:nvPr>
        </p:nvSpPr>
        <p:spPr>
          <a:xfrm>
            <a:off x="1524000" y="1104645"/>
            <a:ext cx="9144000" cy="145693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Main Title</a:t>
            </a:r>
            <a:endParaRPr dirty="0"/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61918"/>
            <a:ext cx="9144000" cy="18287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SzTx/>
              <a:buFontTx/>
              <a:buNone/>
              <a:defRPr sz="2400" b="1"/>
            </a:lvl1pPr>
            <a:lvl2pPr marL="0" indent="371465" algn="ctr">
              <a:buSzTx/>
              <a:buFontTx/>
              <a:buNone/>
              <a:defRPr sz="1900"/>
            </a:lvl2pPr>
            <a:lvl3pPr marL="0" indent="742932" algn="ctr">
              <a:buSzTx/>
              <a:buFontTx/>
              <a:buNone/>
              <a:defRPr sz="1900"/>
            </a:lvl3pPr>
            <a:lvl4pPr marL="0" indent="1114397" algn="ctr">
              <a:buSzTx/>
              <a:buFontTx/>
              <a:buNone/>
              <a:defRPr sz="1900"/>
            </a:lvl4pPr>
            <a:lvl5pPr marL="0" indent="1485863" algn="ctr">
              <a:buSzTx/>
              <a:buFontTx/>
              <a:buNone/>
              <a:defRPr sz="1900"/>
            </a:lvl5pPr>
          </a:lstStyle>
          <a:p>
            <a:r>
              <a:rPr lang="ko-KR" altLang="en-US" dirty="0"/>
              <a:t>이름</a:t>
            </a:r>
            <a:endParaRPr dirty="0"/>
          </a:p>
        </p:txBody>
      </p:sp>
      <p:sp>
        <p:nvSpPr>
          <p:cNvPr id="13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001726" y="6559962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5" name="본문 첫 번째 줄…">
            <a:extLst>
              <a:ext uri="{FF2B5EF4-FFF2-40B4-BE49-F238E27FC236}">
                <a16:creationId xmlns:a16="http://schemas.microsoft.com/office/drawing/2014/main" id="{73BC6E9D-21D3-4B95-B362-AC4B8C825FA0}"/>
              </a:ext>
            </a:extLst>
          </p:cNvPr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1524000" y="2561581"/>
            <a:ext cx="9144000" cy="8842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SzTx/>
              <a:buFontTx/>
              <a:buNone/>
              <a:defRPr sz="3200" b="1"/>
            </a:lvl1pPr>
            <a:lvl2pPr marL="0" indent="371465" algn="ctr">
              <a:buSzTx/>
              <a:buFontTx/>
              <a:buNone/>
              <a:defRPr sz="1900"/>
            </a:lvl2pPr>
            <a:lvl3pPr marL="0" indent="742932" algn="ctr">
              <a:buSzTx/>
              <a:buFontTx/>
              <a:buNone/>
              <a:defRPr sz="1900"/>
            </a:lvl3pPr>
            <a:lvl4pPr marL="0" indent="1114397" algn="ctr">
              <a:buSzTx/>
              <a:buFontTx/>
              <a:buNone/>
              <a:defRPr sz="1900"/>
            </a:lvl4pPr>
            <a:lvl5pPr marL="0" indent="1485863" algn="ctr">
              <a:buSzTx/>
              <a:buFontTx/>
              <a:buNone/>
              <a:defRPr sz="1900"/>
            </a:lvl5pPr>
          </a:lstStyle>
          <a:p>
            <a:r>
              <a:rPr lang="en-US" altLang="ko-KR" dirty="0"/>
              <a:t>Sub title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제목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</p:txBody>
      </p:sp>
      <p:sp>
        <p:nvSpPr>
          <p:cNvPr id="21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  <p:sp>
        <p:nvSpPr>
          <p:cNvPr id="2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874635" y="6423497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ko-KR" smtClean="0"/>
              <a:t>‹#›</a:t>
            </a:fld>
            <a:endParaRPr dirty="0"/>
          </a:p>
        </p:txBody>
      </p:sp>
    </p:spTree>
  </p:cSld>
  <p:clrMapOvr>
    <a:masterClrMapping/>
  </p:clrMapOvr>
  <p:transition spd="med"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39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838202" y="1825625"/>
            <a:ext cx="5181601" cy="4351338"/>
          </a:xfrm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>
            <a:spLocks noGrp="1"/>
          </p:cNvSpPr>
          <p:nvPr>
            <p:ph type="title"/>
          </p:nvPr>
        </p:nvSpPr>
        <p:spPr>
          <a:xfrm>
            <a:off x="839790" y="365125"/>
            <a:ext cx="10515601" cy="1325564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8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839789" y="1681166"/>
            <a:ext cx="5157787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900" b="1"/>
            </a:lvl1pPr>
            <a:lvl2pPr marL="0" indent="371465">
              <a:buSzTx/>
              <a:buFontTx/>
              <a:buNone/>
              <a:defRPr sz="1900" b="1"/>
            </a:lvl2pPr>
            <a:lvl3pPr marL="0" indent="742932">
              <a:buSzTx/>
              <a:buFontTx/>
              <a:buNone/>
              <a:defRPr sz="1900" b="1"/>
            </a:lvl3pPr>
            <a:lvl4pPr marL="0" indent="1114397">
              <a:buSzTx/>
              <a:buFontTx/>
              <a:buNone/>
              <a:defRPr sz="1900" b="1"/>
            </a:lvl4pPr>
            <a:lvl5pPr marL="0" indent="1485863">
              <a:buSzTx/>
              <a:buFontTx/>
              <a:buNone/>
              <a:defRPr sz="1900" b="1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텍스트 개체 틀 4"/>
          <p:cNvSpPr>
            <a:spLocks noGrp="1"/>
          </p:cNvSpPr>
          <p:nvPr>
            <p:ph type="body" sz="quarter" idx="13"/>
          </p:nvPr>
        </p:nvSpPr>
        <p:spPr>
          <a:xfrm>
            <a:off x="6172200" y="1681166"/>
            <a:ext cx="51831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900" b="1"/>
            </a:lvl1pPr>
          </a:lstStyle>
          <a:p>
            <a:pPr marL="0" indent="0">
              <a:buSzTx/>
              <a:buFontTx/>
              <a:buNone/>
              <a:defRPr sz="1900" b="1"/>
            </a:pPr>
            <a:endParaRPr/>
          </a:p>
        </p:txBody>
      </p:sp>
      <p:sp>
        <p:nvSpPr>
          <p:cNvPr id="50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58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>
            <a:spLocks noGrp="1"/>
          </p:cNvSpPr>
          <p:nvPr>
            <p:ph type="title"/>
          </p:nvPr>
        </p:nvSpPr>
        <p:spPr>
          <a:xfrm>
            <a:off x="839791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2600"/>
            </a:lvl1pPr>
          </a:lstStyle>
          <a:p>
            <a:r>
              <a:t>제목 텍스트</a:t>
            </a:r>
          </a:p>
        </p:txBody>
      </p:sp>
      <p:sp>
        <p:nvSpPr>
          <p:cNvPr id="73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5183185" y="987425"/>
            <a:ext cx="6172203" cy="4873626"/>
          </a:xfrm>
          <a:prstGeom prst="rect">
            <a:avLst/>
          </a:prstGeom>
        </p:spPr>
        <p:txBody>
          <a:bodyPr/>
          <a:lstStyle>
            <a:lvl1pPr marL="185733" indent="-185733">
              <a:defRPr sz="2600"/>
            </a:lvl1pPr>
            <a:lvl2pPr marL="590968" indent="-219503">
              <a:defRPr sz="2600"/>
            </a:lvl2pPr>
            <a:lvl3pPr marL="997092" indent="-254160">
              <a:defRPr sz="2600"/>
            </a:lvl3pPr>
            <a:lvl4pPr marL="1416214" indent="-301816">
              <a:defRPr sz="2600"/>
            </a:lvl4pPr>
            <a:lvl5pPr marL="1787679" indent="-301816">
              <a:defRPr sz="26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839791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300"/>
            </a:lvl1pPr>
          </a:lstStyle>
          <a:p>
            <a:pPr marL="0" indent="0">
              <a:buSzTx/>
              <a:buFontTx/>
              <a:buNone/>
              <a:defRPr sz="1300"/>
            </a:pPr>
            <a:endParaRPr/>
          </a:p>
        </p:txBody>
      </p:sp>
      <p:sp>
        <p:nvSpPr>
          <p:cNvPr id="7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32016" y="2969549"/>
            <a:ext cx="2132133" cy="273514"/>
          </a:xfrm>
          <a:prstGeom prst="rect">
            <a:avLst/>
          </a:prstGeom>
        </p:spPr>
        <p:txBody>
          <a:bodyPr/>
          <a:lstStyle>
            <a:lvl1pPr marL="0" indent="0" defTabSz="914377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300">
                <a:solidFill>
                  <a:srgbClr val="004C86"/>
                </a:solidFill>
              </a:defRPr>
            </a:lvl1pPr>
            <a:lvl2pPr marL="498546" indent="-127079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2pPr>
            <a:lvl3pPr marL="893840" indent="-150908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3pPr>
            <a:lvl4pPr marL="1286862" indent="-172466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4pPr>
            <a:lvl5pPr marL="1658329" indent="-172466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93" name="제목 텍스트"/>
          <p:cNvSpPr txBox="1">
            <a:spLocks noGrp="1"/>
          </p:cNvSpPr>
          <p:nvPr>
            <p:ph type="title"/>
          </p:nvPr>
        </p:nvSpPr>
        <p:spPr>
          <a:xfrm>
            <a:off x="534630" y="1799999"/>
            <a:ext cx="6522097" cy="116955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4C8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제목 텍스트</a:t>
            </a:r>
          </a:p>
        </p:txBody>
      </p:sp>
      <p:sp>
        <p:nvSpPr>
          <p:cNvPr id="9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5" name="직사각형 5"/>
          <p:cNvSpPr/>
          <p:nvPr/>
        </p:nvSpPr>
        <p:spPr>
          <a:xfrm>
            <a:off x="532019" y="6237313"/>
            <a:ext cx="1435527" cy="4841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96" name="직사각형 8"/>
          <p:cNvSpPr txBox="1"/>
          <p:nvPr/>
        </p:nvSpPr>
        <p:spPr>
          <a:xfrm>
            <a:off x="448273" y="6381333"/>
            <a:ext cx="167449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 spc="-50">
                <a:solidFill>
                  <a:srgbClr val="004C86"/>
                </a:solidFill>
                <a:latin typeface="나눔스퀘어 ExtraBold"/>
                <a:ea typeface="나눔스퀘어 ExtraBold"/>
                <a:cs typeface="나눔스퀘어 ExtraBold"/>
                <a:sym typeface="나눔스퀘어 ExtraBold"/>
              </a:defRPr>
            </a:lvl1pPr>
          </a:lstStyle>
          <a:p>
            <a:r>
              <a:rPr sz="1200"/>
              <a:t>http://esoc.hanyang.ac.kr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32801" y="1232102"/>
            <a:ext cx="8251499" cy="53672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800" b="1" spc="-60">
                <a:solidFill>
                  <a:srgbClr val="FFFFFF"/>
                </a:solidFill>
              </a:defRPr>
            </a:lvl1pPr>
            <a:lvl2pPr marL="645179" indent="-273712">
              <a:buFontTx/>
              <a:defRPr sz="2800" b="1" spc="-60">
                <a:solidFill>
                  <a:srgbClr val="FFFFFF"/>
                </a:solidFill>
              </a:defRPr>
            </a:lvl2pPr>
            <a:lvl3pPr marL="1067964" indent="-325033">
              <a:buFontTx/>
              <a:defRPr sz="2800" b="1" spc="-60">
                <a:solidFill>
                  <a:srgbClr val="FFFFFF"/>
                </a:solidFill>
              </a:defRPr>
            </a:lvl3pPr>
            <a:lvl4pPr marL="1485863" indent="-371465">
              <a:buFontTx/>
              <a:defRPr sz="2800" b="1" spc="-60">
                <a:solidFill>
                  <a:srgbClr val="FFFFFF"/>
                </a:solidFill>
              </a:defRPr>
            </a:lvl4pPr>
            <a:lvl5pPr marL="1857330" indent="-371467">
              <a:buFontTx/>
              <a:defRPr sz="2800" b="1" spc="-60">
                <a:solidFill>
                  <a:srgbClr val="FFFFFF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04" name="TextBox 8"/>
          <p:cNvSpPr txBox="1"/>
          <p:nvPr/>
        </p:nvSpPr>
        <p:spPr>
          <a:xfrm>
            <a:off x="487641" y="6309326"/>
            <a:ext cx="2479749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spc="-50">
                <a:solidFill>
                  <a:srgbClr val="95A1AB"/>
                </a:solidFill>
                <a:latin typeface="나눔스퀘어 ExtraBold"/>
                <a:ea typeface="나눔스퀘어 ExtraBold"/>
                <a:cs typeface="나눔스퀘어 ExtraBold"/>
                <a:sym typeface="나눔스퀘어 ExtraBold"/>
              </a:defRPr>
            </a:lvl1pPr>
          </a:lstStyle>
          <a:p>
            <a:r>
              <a:rPr sz="1000"/>
              <a:t>Embedded System on Chip Lab</a:t>
            </a:r>
          </a:p>
        </p:txBody>
      </p:sp>
      <p:sp>
        <p:nvSpPr>
          <p:cNvPr id="10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8501001" y="6240935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제목 텍스트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1325564"/>
          </a:xfrm>
          <a:prstGeom prst="rect">
            <a:avLst/>
          </a:prstGeom>
        </p:spPr>
        <p:txBody>
          <a:bodyPr lIns="45718" tIns="45718" rIns="45718" bIns="45718"/>
          <a:lstStyle/>
          <a:p>
            <a:r>
              <a:t>제목 텍스트</a:t>
            </a:r>
          </a:p>
        </p:txBody>
      </p:sp>
      <p:sp>
        <p:nvSpPr>
          <p:cNvPr id="11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1" cy="4351338"/>
          </a:xfrm>
          <a:prstGeom prst="rect">
            <a:avLst/>
          </a:prstGeom>
        </p:spPr>
        <p:txBody>
          <a:bodyPr lIns="45718" tIns="45718" rIns="45718" bIns="45718"/>
          <a:lstStyle>
            <a:lvl1pPr marL="185733" indent="-185733"/>
            <a:lvl2pPr marL="586525" indent="-215059"/>
            <a:lvl3pPr marL="998312" indent="-255380"/>
            <a:lvl4pPr marL="1406262" indent="-291865"/>
            <a:lvl5pPr indent="-291865"/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1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493012" y="6560022"/>
            <a:ext cx="236599" cy="230828"/>
          </a:xfrm>
          <a:prstGeom prst="rect">
            <a:avLst/>
          </a:prstGeom>
        </p:spPr>
        <p:txBody>
          <a:bodyPr lIns="45718" tIns="45718" rIns="45718" bIns="45718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6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rPr dirty="0" err="1"/>
              <a:t>제목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838202" y="1147313"/>
            <a:ext cx="10515601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001726" y="6560020"/>
            <a:ext cx="236601" cy="2308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</p:sldLayoutIdLst>
  <p:transition spd="med"/>
  <p:txStyles>
    <p:titleStyle>
      <a:lvl1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titleStyle>
    <p:bodyStyle>
      <a:lvl1pPr marL="185733" marR="0" indent="-185733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586525" marR="0" indent="-215060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998314" marR="0" indent="-255383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1406264" marR="0" indent="-291866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1777730" marR="0" indent="-291866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2149196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2520661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2892126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3263593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bodyStyle>
    <p:otherStyle>
      <a:lvl1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1pPr>
      <a:lvl2pPr marL="0" marR="0" indent="457189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2pPr>
      <a:lvl3pPr marL="0" marR="0" indent="914377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3pPr>
      <a:lvl4pPr marL="0" marR="0" indent="1371566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4pPr>
      <a:lvl5pPr marL="0" marR="0" indent="1828754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5pPr>
      <a:lvl6pPr marL="0" marR="0" indent="2285943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6pPr>
      <a:lvl7pPr marL="0" marR="0" indent="2743131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7pPr>
      <a:lvl8pPr marL="0" marR="0" indent="320032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8pPr>
      <a:lvl9pPr marL="0" marR="0" indent="3657509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umin35@hanyang.ac.k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slbiog3025@hanyang.ac.kr" TargetMode="External"/><Relationship Id="rId4" Type="http://schemas.openxmlformats.org/officeDocument/2006/relationships/hyperlink" Target="mailto:kkyou123@hanyang.ac.kr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825D4-4E72-43DB-9A22-D1B102EE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Understanding HLS Design </a:t>
            </a:r>
            <a:br>
              <a:rPr lang="en-US" altLang="ko-KR" sz="4000" dirty="0"/>
            </a:br>
            <a:r>
              <a:rPr lang="en-US" altLang="ko-KR" sz="4000" dirty="0"/>
              <a:t>based on the Vitis Tutorial-2</a:t>
            </a:r>
            <a:endParaRPr lang="ko-KR" altLang="en-US" sz="4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BA36C9-71D5-4E11-8E8B-DD270C8A89B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 err="1"/>
              <a:t>Dongbeom</a:t>
            </a:r>
            <a:r>
              <a:rPr lang="en-US" altLang="ko-KR" sz="2800" dirty="0"/>
              <a:t> Son / </a:t>
            </a:r>
            <a:r>
              <a:rPr lang="en-US" altLang="ko-KR" sz="2800" dirty="0" err="1"/>
              <a:t>Wonbin</a:t>
            </a:r>
            <a:r>
              <a:rPr lang="en-US" altLang="ko-KR" sz="2800" dirty="0"/>
              <a:t> Seo / </a:t>
            </a:r>
            <a:r>
              <a:rPr lang="en-US" altLang="ko-KR" sz="2800" dirty="0" err="1"/>
              <a:t>Sumin</a:t>
            </a:r>
            <a:r>
              <a:rPr lang="en-US" altLang="ko-KR" sz="2800" dirty="0"/>
              <a:t> Lee</a:t>
            </a:r>
          </a:p>
          <a:p>
            <a:r>
              <a:rPr lang="en-US" altLang="ko-KR" sz="1600" dirty="0">
                <a:hlinkClick r:id="rId3"/>
              </a:rPr>
              <a:t>bumin35@hanyang.ac.kr</a:t>
            </a:r>
            <a:r>
              <a:rPr lang="en-US" altLang="ko-KR" sz="1600" dirty="0"/>
              <a:t> / </a:t>
            </a:r>
            <a:r>
              <a:rPr lang="en-US" altLang="ko-KR" sz="1600" dirty="0">
                <a:hlinkClick r:id="rId4"/>
              </a:rPr>
              <a:t>kkyou123@hanyang.ac.kr</a:t>
            </a:r>
            <a:r>
              <a:rPr lang="en-US" altLang="ko-KR" sz="1600" dirty="0"/>
              <a:t> / </a:t>
            </a:r>
            <a:r>
              <a:rPr lang="en-US" altLang="ko-KR" sz="1600" dirty="0">
                <a:hlinkClick r:id="rId5"/>
              </a:rPr>
              <a:t>slbiog3025@hanyang.ac.kr</a:t>
            </a:r>
            <a:endParaRPr lang="en-US" altLang="ko-KR" sz="2000" dirty="0"/>
          </a:p>
          <a:p>
            <a:r>
              <a:rPr lang="en-US" altLang="ko-KR" sz="2000" dirty="0"/>
              <a:t>2023 </a:t>
            </a:r>
            <a:r>
              <a:rPr lang="en-US" altLang="ko-KR" sz="2000" dirty="0" err="1"/>
              <a:t>aiha</a:t>
            </a:r>
            <a:r>
              <a:rPr lang="en-US" altLang="ko-KR" sz="2000" dirty="0"/>
              <a:t>-intern</a:t>
            </a:r>
            <a:endParaRPr lang="ko-KR" altLang="en-US" sz="20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4E2EA9-68B3-450D-B960-48AAF0A850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2561581"/>
            <a:ext cx="10058400" cy="884208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AIHA-Intern-2023-NPU</a:t>
            </a:r>
          </a:p>
        </p:txBody>
      </p:sp>
    </p:spTree>
    <p:extLst>
      <p:ext uri="{BB962C8B-B14F-4D97-AF65-F5344CB8AC3E}">
        <p14:creationId xmlns:p14="http://schemas.microsoft.com/office/powerpoint/2010/main" val="51518955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CDCF5-727C-405F-A1C0-1E7FA145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of Contents</a:t>
            </a:r>
            <a:endParaRPr lang="ko-KR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B0855-1356-4CA7-A5CD-4D7CA0E4A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2">
            <a:normAutofit/>
          </a:bodyPr>
          <a:lstStyle/>
          <a:p>
            <a:r>
              <a:rPr lang="en-US" altLang="ko-KR" dirty="0"/>
              <a:t>Basic Data Flow in AES</a:t>
            </a:r>
          </a:p>
          <a:p>
            <a:endParaRPr lang="en-US" altLang="ko-KR" dirty="0"/>
          </a:p>
          <a:p>
            <a:r>
              <a:rPr lang="en-US" altLang="ko-KR" dirty="0"/>
              <a:t>Connectivity</a:t>
            </a:r>
          </a:p>
          <a:p>
            <a:pPr lvl="1"/>
            <a:r>
              <a:rPr lang="en-US" altLang="ko-KR" dirty="0"/>
              <a:t>Kernel to Kernel</a:t>
            </a:r>
          </a:p>
          <a:p>
            <a:pPr lvl="1"/>
            <a:r>
              <a:rPr lang="en-US" altLang="ko-KR" dirty="0"/>
              <a:t>Kernel to Global Memory</a:t>
            </a:r>
            <a:endParaRPr lang="ko-KR" altLang="en-US" dirty="0"/>
          </a:p>
          <a:p>
            <a:pPr lvl="1"/>
            <a:r>
              <a:rPr lang="en-US" altLang="ko-KR" dirty="0" err="1"/>
              <a:t>krnl_cbc</a:t>
            </a:r>
            <a:endParaRPr lang="en-US" altLang="ko-KR" dirty="0"/>
          </a:p>
          <a:p>
            <a:pPr lvl="1"/>
            <a:r>
              <a:rPr lang="en-US" altLang="ko-KR" dirty="0"/>
              <a:t>Host to Kernel </a:t>
            </a:r>
            <a:endParaRPr lang="ko-KR" altLang="en-US" dirty="0"/>
          </a:p>
          <a:p>
            <a:pPr lvl="1"/>
            <a:r>
              <a:rPr lang="en-US" altLang="ko-KR" dirty="0"/>
              <a:t>Host to Global Memory</a:t>
            </a:r>
          </a:p>
          <a:p>
            <a:pPr marL="371465" lvl="1" indent="0">
              <a:buNone/>
            </a:pPr>
            <a:endParaRPr lang="en-US" altLang="ko-KR" dirty="0"/>
          </a:p>
          <a:p>
            <a:pPr marL="313573" indent="-342900"/>
            <a:r>
              <a:rPr lang="en-US" altLang="ko-KR" dirty="0"/>
              <a:t>Testbench</a:t>
            </a:r>
          </a:p>
          <a:p>
            <a:pPr marL="313573" indent="-342900"/>
            <a:endParaRPr lang="en-US" altLang="ko-KR" dirty="0"/>
          </a:p>
          <a:p>
            <a:pPr marL="313573" indent="-342900"/>
            <a:r>
              <a:rPr lang="en-US" altLang="ko-KR" dirty="0"/>
              <a:t>XRT API Call</a:t>
            </a:r>
          </a:p>
          <a:p>
            <a:pPr marL="3391433" lvl="8" indent="-342900"/>
            <a:endParaRPr lang="en-US" altLang="ko-KR" dirty="0"/>
          </a:p>
          <a:p>
            <a:pPr marL="313573" indent="-342900"/>
            <a:r>
              <a:rPr lang="en-US" altLang="ko-KR" dirty="0"/>
              <a:t>Device Map</a:t>
            </a:r>
          </a:p>
          <a:p>
            <a:pPr marL="313573" indent="-342900"/>
            <a:endParaRPr lang="en-US" altLang="ko-KR" dirty="0"/>
          </a:p>
          <a:p>
            <a:pPr marL="313573" indent="-342900"/>
            <a:r>
              <a:rPr lang="en-US" altLang="ko-KR" dirty="0"/>
              <a:t>Kernel Replacement</a:t>
            </a:r>
          </a:p>
          <a:p>
            <a:pPr marL="714365" lvl="1" indent="-342900"/>
            <a:r>
              <a:rPr lang="en-US" altLang="ko-KR" dirty="0"/>
              <a:t>Remove ports not used</a:t>
            </a:r>
          </a:p>
          <a:p>
            <a:pPr marL="714365" lvl="1" indent="-342900"/>
            <a:r>
              <a:rPr lang="en-US" altLang="ko-KR" dirty="0"/>
              <a:t>Modify engine</a:t>
            </a:r>
          </a:p>
          <a:p>
            <a:pPr marL="714365" lvl="1" indent="-342900"/>
            <a:r>
              <a:rPr lang="en-US" altLang="ko-KR" dirty="0"/>
              <a:t>Simulation</a:t>
            </a:r>
          </a:p>
          <a:p>
            <a:pPr marL="714365" lvl="1" indent="-342900"/>
            <a:r>
              <a:rPr lang="en-US" altLang="ko-KR" dirty="0"/>
              <a:t>Change </a:t>
            </a:r>
            <a:r>
              <a:rPr lang="en-US" altLang="ko-KR" dirty="0" err="1"/>
              <a:t>Kerenl_cbc_engine</a:t>
            </a:r>
            <a:endParaRPr lang="en-US" altLang="ko-KR" dirty="0"/>
          </a:p>
          <a:p>
            <a:pPr marL="714365" lvl="1" indent="-342900"/>
            <a:r>
              <a:rPr lang="en-US" altLang="ko-KR" dirty="0"/>
              <a:t>P&amp;R, schematic</a:t>
            </a:r>
          </a:p>
          <a:p>
            <a:pPr marL="714365" lvl="1" indent="-342900"/>
            <a:r>
              <a:rPr lang="en-US" altLang="ko-KR" dirty="0" err="1"/>
              <a:t>host_sw</a:t>
            </a:r>
            <a:r>
              <a:rPr lang="en-US" altLang="ko-KR" dirty="0"/>
              <a:t> code modification, verification</a:t>
            </a:r>
            <a:endParaRPr lang="ko-KR" altLang="en-US" dirty="0"/>
          </a:p>
          <a:p>
            <a:pPr marL="714365" lvl="1" indent="-342900"/>
            <a:endParaRPr lang="en-US" altLang="ko-KR" dirty="0"/>
          </a:p>
          <a:p>
            <a:pPr marL="313573" indent="-342900"/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54844-DA11-4845-9D48-C83CC6607DF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747315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Basic Data Flow in AES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069" y="1998692"/>
            <a:ext cx="5427531" cy="3748057"/>
          </a:xfrm>
        </p:spPr>
        <p:txBody>
          <a:bodyPr/>
          <a:lstStyle/>
          <a:p>
            <a:pPr marL="313573" indent="-342900"/>
            <a:endParaRPr lang="en-US" altLang="ko-KR" dirty="0"/>
          </a:p>
          <a:p>
            <a:pPr marL="371465" lvl="1" indent="0">
              <a:buNone/>
            </a:pPr>
            <a:r>
              <a:rPr lang="en-US" altLang="ko-KR" sz="2800" b="0" i="0" dirty="0">
                <a:solidFill>
                  <a:srgbClr val="1D1C1D"/>
                </a:solidFill>
                <a:effectLst/>
              </a:rPr>
              <a:t>Read </a:t>
            </a:r>
            <a:r>
              <a:rPr lang="ko-KR" altLang="en-US" sz="2800" b="0" i="0" dirty="0">
                <a:solidFill>
                  <a:srgbClr val="1D1C1D"/>
                </a:solidFill>
                <a:effectLst/>
              </a:rPr>
              <a:t>→</a:t>
            </a:r>
            <a:r>
              <a:rPr lang="en-US" altLang="ko-KR" sz="2800" b="0" i="0" dirty="0">
                <a:solidFill>
                  <a:srgbClr val="1D1C1D"/>
                </a:solidFill>
                <a:effectLst/>
              </a:rPr>
              <a:t> </a:t>
            </a:r>
            <a:r>
              <a:rPr lang="en-US" altLang="ko-KR" sz="2800" b="0" i="0" dirty="0" err="1">
                <a:solidFill>
                  <a:srgbClr val="1D1C1D"/>
                </a:solidFill>
                <a:effectLst/>
              </a:rPr>
              <a:t>krnl_cbc</a:t>
            </a:r>
            <a:r>
              <a:rPr lang="en-US" altLang="ko-KR" sz="2800" b="0" i="0" dirty="0">
                <a:solidFill>
                  <a:srgbClr val="1D1C1D"/>
                </a:solidFill>
                <a:effectLst/>
              </a:rPr>
              <a:t> </a:t>
            </a:r>
            <a:r>
              <a:rPr lang="ko-KR" altLang="en-US" sz="2800" b="0" i="0" dirty="0">
                <a:solidFill>
                  <a:srgbClr val="1D1C1D"/>
                </a:solidFill>
                <a:effectLst/>
              </a:rPr>
              <a:t>→</a:t>
            </a:r>
            <a:r>
              <a:rPr lang="en-US" altLang="ko-KR" sz="2800" b="0" i="0" dirty="0">
                <a:solidFill>
                  <a:srgbClr val="1D1C1D"/>
                </a:solidFill>
                <a:effectLst/>
              </a:rPr>
              <a:t> </a:t>
            </a:r>
            <a:r>
              <a:rPr lang="en-US" altLang="ko-KR" sz="2800" b="0" i="0" dirty="0" err="1">
                <a:solidFill>
                  <a:srgbClr val="1D1C1D"/>
                </a:solidFill>
                <a:effectLst/>
              </a:rPr>
              <a:t>cbc_engine</a:t>
            </a:r>
            <a:r>
              <a:rPr lang="en-US" altLang="ko-KR" sz="2800" b="0" i="0" dirty="0">
                <a:solidFill>
                  <a:srgbClr val="1D1C1D"/>
                </a:solidFill>
                <a:effectLst/>
              </a:rPr>
              <a:t> </a:t>
            </a:r>
            <a:r>
              <a:rPr lang="ko-KR" altLang="en-US" sz="2800" b="0" i="0" dirty="0">
                <a:solidFill>
                  <a:srgbClr val="1D1C1D"/>
                </a:solidFill>
                <a:effectLst/>
              </a:rPr>
              <a:t>→</a:t>
            </a:r>
            <a:r>
              <a:rPr lang="en-US" altLang="ko-KR" sz="2800" b="0" i="0" dirty="0">
                <a:solidFill>
                  <a:srgbClr val="1D1C1D"/>
                </a:solidFill>
                <a:effectLst/>
              </a:rPr>
              <a:t> </a:t>
            </a:r>
            <a:r>
              <a:rPr lang="en-US" altLang="ko-KR" sz="2800" b="0" i="0" dirty="0" err="1">
                <a:solidFill>
                  <a:srgbClr val="1D1C1D"/>
                </a:solidFill>
                <a:effectLst/>
              </a:rPr>
              <a:t>input_buffer</a:t>
            </a:r>
            <a:r>
              <a:rPr lang="en-US" altLang="ko-KR" sz="2800" b="0" i="0" dirty="0">
                <a:solidFill>
                  <a:srgbClr val="1D1C1D"/>
                </a:solidFill>
                <a:effectLst/>
              </a:rPr>
              <a:t> </a:t>
            </a:r>
            <a:r>
              <a:rPr lang="ko-KR" altLang="en-US" sz="2800" b="0" i="0" dirty="0">
                <a:solidFill>
                  <a:srgbClr val="1D1C1D"/>
                </a:solidFill>
                <a:effectLst/>
              </a:rPr>
              <a:t>→</a:t>
            </a:r>
            <a:r>
              <a:rPr lang="en-US" altLang="ko-KR" sz="2800" b="0" i="0" dirty="0">
                <a:solidFill>
                  <a:srgbClr val="1D1C1D"/>
                </a:solidFill>
                <a:effectLst/>
              </a:rPr>
              <a:t> </a:t>
            </a:r>
          </a:p>
          <a:p>
            <a:pPr marL="371465" lvl="1" indent="0">
              <a:buNone/>
            </a:pPr>
            <a:r>
              <a:rPr lang="en-US" altLang="ko-KR" sz="2800" b="0" i="0" dirty="0">
                <a:solidFill>
                  <a:srgbClr val="1D1C1D"/>
                </a:solidFill>
                <a:effectLst/>
              </a:rPr>
              <a:t>axis (master to slave)</a:t>
            </a:r>
            <a:r>
              <a:rPr lang="ko-KR" altLang="en-US" sz="2800" b="0" i="0" dirty="0">
                <a:solidFill>
                  <a:srgbClr val="1D1C1D"/>
                </a:solidFill>
                <a:effectLst/>
              </a:rPr>
              <a:t>→</a:t>
            </a:r>
            <a:r>
              <a:rPr lang="en-US" altLang="ko-KR" sz="2800" b="0" i="0" dirty="0">
                <a:solidFill>
                  <a:srgbClr val="1D1C1D"/>
                </a:solidFill>
                <a:effectLst/>
              </a:rPr>
              <a:t> </a:t>
            </a:r>
            <a:r>
              <a:rPr lang="en-US" altLang="ko-KR" sz="2800" b="0" i="0" dirty="0" err="1">
                <a:solidFill>
                  <a:srgbClr val="1D1C1D"/>
                </a:solidFill>
                <a:effectLst/>
              </a:rPr>
              <a:t>krnl_aes</a:t>
            </a:r>
            <a:r>
              <a:rPr lang="en-US" altLang="ko-KR" sz="2800" b="0" i="0" dirty="0">
                <a:solidFill>
                  <a:srgbClr val="1D1C1D"/>
                </a:solidFill>
                <a:effectLst/>
              </a:rPr>
              <a:t> </a:t>
            </a:r>
            <a:r>
              <a:rPr lang="ko-KR" altLang="en-US" sz="2800" b="0" i="0" dirty="0">
                <a:solidFill>
                  <a:srgbClr val="1D1C1D"/>
                </a:solidFill>
                <a:effectLst/>
              </a:rPr>
              <a:t>→</a:t>
            </a:r>
            <a:r>
              <a:rPr lang="en-US" altLang="ko-KR" sz="2800" b="0" i="0" dirty="0">
                <a:solidFill>
                  <a:srgbClr val="1D1C1D"/>
                </a:solidFill>
                <a:effectLst/>
              </a:rPr>
              <a:t> axis </a:t>
            </a:r>
            <a:r>
              <a:rPr lang="ko-KR" altLang="en-US" sz="2800" b="0" i="0" dirty="0">
                <a:solidFill>
                  <a:srgbClr val="1D1C1D"/>
                </a:solidFill>
                <a:effectLst/>
              </a:rPr>
              <a:t>→</a:t>
            </a:r>
            <a:r>
              <a:rPr lang="en-US" altLang="ko-KR" sz="2800" b="0" i="0" dirty="0">
                <a:solidFill>
                  <a:srgbClr val="1D1C1D"/>
                </a:solidFill>
                <a:effectLst/>
              </a:rPr>
              <a:t> </a:t>
            </a:r>
            <a:r>
              <a:rPr lang="en-US" altLang="ko-KR" sz="2800" b="0" i="0" dirty="0" err="1">
                <a:solidFill>
                  <a:srgbClr val="1D1C1D"/>
                </a:solidFill>
                <a:effectLst/>
              </a:rPr>
              <a:t>krnl_cbc</a:t>
            </a:r>
            <a:r>
              <a:rPr lang="en-US" altLang="ko-KR" sz="2800" b="0" i="0" dirty="0">
                <a:solidFill>
                  <a:srgbClr val="1D1C1D"/>
                </a:solidFill>
                <a:effectLst/>
              </a:rPr>
              <a:t> </a:t>
            </a:r>
          </a:p>
          <a:p>
            <a:pPr marL="371465" lvl="1" indent="0">
              <a:buNone/>
            </a:pPr>
            <a:r>
              <a:rPr lang="ko-KR" altLang="en-US" sz="2800" b="0" i="0" dirty="0">
                <a:solidFill>
                  <a:srgbClr val="1D1C1D"/>
                </a:solidFill>
                <a:effectLst/>
              </a:rPr>
              <a:t>→</a:t>
            </a:r>
            <a:r>
              <a:rPr lang="en-US" altLang="ko-KR" sz="2800" b="0" i="0" dirty="0">
                <a:solidFill>
                  <a:srgbClr val="1D1C1D"/>
                </a:solidFill>
                <a:effectLst/>
              </a:rPr>
              <a:t> </a:t>
            </a:r>
            <a:r>
              <a:rPr lang="en-US" altLang="ko-KR" sz="2800" b="0" i="0" dirty="0" err="1">
                <a:solidFill>
                  <a:srgbClr val="1D1C1D"/>
                </a:solidFill>
                <a:effectLst/>
              </a:rPr>
              <a:t>cbc_engine</a:t>
            </a:r>
            <a:r>
              <a:rPr lang="en-US" altLang="ko-KR" sz="2800" b="0" i="0" dirty="0">
                <a:solidFill>
                  <a:srgbClr val="1D1C1D"/>
                </a:solidFill>
                <a:effectLst/>
              </a:rPr>
              <a:t> (0~3) (</a:t>
            </a:r>
            <a:r>
              <a:rPr lang="en-US" altLang="ko-KR" sz="2800" b="0" i="0" dirty="0" err="1">
                <a:solidFill>
                  <a:srgbClr val="1D1C1D"/>
                </a:solidFill>
                <a:effectLst/>
              </a:rPr>
              <a:t>output_buffer</a:t>
            </a:r>
            <a:r>
              <a:rPr lang="en-US" altLang="ko-KR" sz="2800" b="0" i="0" dirty="0">
                <a:solidFill>
                  <a:srgbClr val="1D1C1D"/>
                </a:solidFill>
                <a:effectLst/>
              </a:rPr>
              <a:t>) → write</a:t>
            </a:r>
            <a:endParaRPr lang="en-US" altLang="ko-KR" sz="280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marL="742931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353F624-371B-5CEC-340A-5617435A0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461" y="2045898"/>
            <a:ext cx="4281487" cy="300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42933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Connectivity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5189666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/>
              <a:t>Kernel to Kernel</a:t>
            </a:r>
          </a:p>
          <a:p>
            <a:pPr marL="586105" lvl="1" indent="-214630"/>
            <a:r>
              <a:rPr lang="en-US" altLang="ko-KR" dirty="0"/>
              <a:t>AXIS interface</a:t>
            </a:r>
          </a:p>
          <a:p>
            <a:pPr marL="1068705" lvl="2" indent="-285750"/>
            <a:r>
              <a:rPr lang="en-US" altLang="ko-KR" dirty="0"/>
              <a:t>Uni-directional transfer between kernel</a:t>
            </a:r>
          </a:p>
          <a:p>
            <a:pPr marL="1068705" lvl="2" indent="-285750"/>
            <a:r>
              <a:rPr lang="en-US" altLang="ko-KR" dirty="0"/>
              <a:t>No address</a:t>
            </a:r>
          </a:p>
          <a:p>
            <a:pPr marL="1068705" lvl="2" indent="-285750"/>
            <a:r>
              <a:rPr lang="en-US" altLang="ko-KR" dirty="0"/>
              <a:t>Unbounded Data set</a:t>
            </a:r>
          </a:p>
          <a:p>
            <a:pPr marL="1068705" lvl="2" indent="-285750"/>
            <a:r>
              <a:rPr lang="en-US" altLang="ko-KR" dirty="0"/>
              <a:t>Does not use Global Memory</a:t>
            </a:r>
          </a:p>
          <a:p>
            <a:pPr marL="586105" lvl="1" indent="-214630"/>
            <a:r>
              <a:rPr lang="en-US" sz="1600" dirty="0" err="1">
                <a:latin typeface="Malgun Gothic"/>
                <a:ea typeface="Malgun Gothic"/>
              </a:rPr>
              <a:t>Krnl_cbc</a:t>
            </a:r>
            <a:r>
              <a:rPr lang="en-US" sz="1600" dirty="0">
                <a:latin typeface="Malgun Gothic"/>
                <a:ea typeface="Malgun Gothic"/>
              </a:rPr>
              <a:t> to </a:t>
            </a:r>
            <a:r>
              <a:rPr lang="en-US" sz="1600" dirty="0" err="1">
                <a:latin typeface="Malgun Gothic"/>
                <a:ea typeface="Malgun Gothic"/>
              </a:rPr>
              <a:t>krnl_aes</a:t>
            </a:r>
            <a:endParaRPr lang="en-US" sz="1600" dirty="0">
              <a:latin typeface="Malgun Gothic"/>
              <a:ea typeface="Malgun Gothic"/>
            </a:endParaRPr>
          </a:p>
          <a:p>
            <a:pPr marL="1068705" lvl="2" indent="-285750"/>
            <a:r>
              <a:rPr lang="en-US" dirty="0">
                <a:latin typeface="Malgun Gothic"/>
                <a:ea typeface="Malgun Gothic"/>
              </a:rPr>
              <a:t>4 AXIS Master and Slave interface on each kernel</a:t>
            </a:r>
          </a:p>
          <a:p>
            <a:pPr marL="1068705" lvl="2" indent="-285750"/>
            <a:r>
              <a:rPr lang="en-US" dirty="0">
                <a:latin typeface="Malgun Gothic"/>
                <a:ea typeface="Malgun Gothic"/>
              </a:rPr>
              <a:t>Transfer Cipher data</a:t>
            </a:r>
          </a:p>
          <a:p>
            <a:pPr marL="1068705" lvl="2" indent="-285750"/>
            <a:endParaRPr lang="en-US" altLang="ko-KR" dirty="0"/>
          </a:p>
          <a:p>
            <a:pPr marL="1068705" lvl="2" indent="-285750"/>
            <a:endParaRPr lang="en-US" altLang="ko-KR" dirty="0"/>
          </a:p>
          <a:p>
            <a:pPr marL="1068705" lvl="2" indent="-28575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5F37EDB-9BE2-C45B-C4F5-805CB6AFF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446" y="627360"/>
            <a:ext cx="1967764" cy="384199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96F1228-C744-7466-A849-41AC5F102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9767" y="885391"/>
            <a:ext cx="2249305" cy="3586333"/>
          </a:xfrm>
          <a:prstGeom prst="rect">
            <a:avLst/>
          </a:prstGeom>
        </p:spPr>
      </p:pic>
      <p:pic>
        <p:nvPicPr>
          <p:cNvPr id="5" name="그림 6" descr="스크린샷, 라인, 텍스트이(가) 표시된 사진&#10;&#10;자동 생성된 설명">
            <a:extLst>
              <a:ext uri="{FF2B5EF4-FFF2-40B4-BE49-F238E27FC236}">
                <a16:creationId xmlns:a16="http://schemas.microsoft.com/office/drawing/2014/main" id="{873738D9-D27B-7839-B54E-182A4B152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212" y="4814039"/>
            <a:ext cx="7091082" cy="95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1720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Connectivity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774677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/>
              <a:t>Kernel to Global Memory</a:t>
            </a:r>
            <a:endParaRPr lang="ko-KR" altLang="en-US" dirty="0"/>
          </a:p>
          <a:p>
            <a:pPr marL="586105" lvl="1" indent="-214630"/>
            <a:r>
              <a:rPr lang="en-US" altLang="ko-KR" dirty="0"/>
              <a:t>Memory mapped interface</a:t>
            </a:r>
          </a:p>
          <a:p>
            <a:pPr marL="586105" lvl="1" indent="-214630"/>
            <a:r>
              <a:rPr lang="en-US" altLang="ko-KR" dirty="0"/>
              <a:t>AXI Master port in kernel </a:t>
            </a:r>
          </a:p>
          <a:p>
            <a:pPr marL="586105" lvl="1" indent="-214630"/>
            <a:r>
              <a:rPr lang="en-US" altLang="ko-KR" dirty="0"/>
              <a:t>AXI Slave port in Global memory</a:t>
            </a:r>
          </a:p>
          <a:p>
            <a:pPr marL="586105" lvl="1" indent="-214630"/>
            <a:r>
              <a:rPr lang="en-US" altLang="ko-KR" dirty="0"/>
              <a:t>Buffer base offsets are given by host </a:t>
            </a: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5</a:t>
            </a:fld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C2E7EB8-90B7-4CB8-F6DF-88AB307153EC}"/>
              </a:ext>
            </a:extLst>
          </p:cNvPr>
          <p:cNvGrpSpPr/>
          <p:nvPr/>
        </p:nvGrpSpPr>
        <p:grpSpPr>
          <a:xfrm>
            <a:off x="7787840" y="3296378"/>
            <a:ext cx="4086795" cy="1051178"/>
            <a:chOff x="2090954" y="4251762"/>
            <a:chExt cx="4091922" cy="1135928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7578ADD-004E-6AAD-78D3-AD03EEA37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0954" y="4251762"/>
              <a:ext cx="4091922" cy="1135928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1F88211-23CA-F180-C091-228738D8C199}"/>
                </a:ext>
              </a:extLst>
            </p:cNvPr>
            <p:cNvSpPr/>
            <p:nvPr/>
          </p:nvSpPr>
          <p:spPr>
            <a:xfrm>
              <a:off x="4136915" y="4339145"/>
              <a:ext cx="859034" cy="228600"/>
            </a:xfrm>
            <a:prstGeom prst="rect">
              <a:avLst/>
            </a:prstGeom>
            <a:noFill/>
            <a:ln w="28575" cap="flat">
              <a:solidFill>
                <a:srgbClr val="FF0000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02DB6DA-AC92-961B-706B-ED719FD9083F}"/>
                </a:ext>
              </a:extLst>
            </p:cNvPr>
            <p:cNvSpPr/>
            <p:nvPr/>
          </p:nvSpPr>
          <p:spPr>
            <a:xfrm>
              <a:off x="4136915" y="4892530"/>
              <a:ext cx="859034" cy="228600"/>
            </a:xfrm>
            <a:prstGeom prst="rect">
              <a:avLst/>
            </a:prstGeom>
            <a:noFill/>
            <a:ln w="28575" cap="flat">
              <a:solidFill>
                <a:srgbClr val="FF0000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897AC045-9B31-C129-7C2F-26B91C317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584" y="4347556"/>
            <a:ext cx="3503640" cy="182940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00DBC0F-0B8F-487C-21EA-F8137048F0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2" y="3529460"/>
            <a:ext cx="2456338" cy="260446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7983989-157B-EDDF-88B5-F109F1503E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7707" y="3526061"/>
            <a:ext cx="2579780" cy="259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54717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Connectivity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774677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 err="1"/>
              <a:t>krnl_cbc</a:t>
            </a:r>
            <a:endParaRPr lang="en-US" altLang="ko-KR" dirty="0"/>
          </a:p>
          <a:p>
            <a:pPr marL="586105" lvl="1" indent="-214630"/>
            <a:r>
              <a:rPr lang="en-US" altLang="ko-KR" dirty="0"/>
              <a:t>Using 2 AXI4 Master Interface to read/write data in Global Memory</a:t>
            </a:r>
          </a:p>
          <a:p>
            <a:pPr marL="586105" lvl="1" indent="-214630"/>
            <a:r>
              <a:rPr lang="en-US" altLang="ko-KR" dirty="0"/>
              <a:t>Only a single CU can transfer data to/from global memory bank at one time</a:t>
            </a:r>
          </a:p>
          <a:p>
            <a:pPr marL="370840" lvl="1" indent="0">
              <a:buNone/>
            </a:pPr>
            <a:r>
              <a:rPr lang="en-US" altLang="ko-KR" dirty="0"/>
              <a:t>   limiting the overall performance of the application</a:t>
            </a:r>
          </a:p>
          <a:p>
            <a:pPr marL="998220" lvl="2" indent="-255270"/>
            <a:r>
              <a:rPr lang="en-US" altLang="ko-KR" dirty="0"/>
              <a:t>Unable to read/write data simultaneously if both buffers are in same bank</a:t>
            </a:r>
          </a:p>
          <a:p>
            <a:pPr marL="998220" lvl="2" indent="-255270"/>
            <a:r>
              <a:rPr lang="en-US" dirty="0">
                <a:latin typeface="Malgun Gothic"/>
                <a:ea typeface="Malgun Gothic"/>
              </a:rPr>
              <a:t>Can customize the global memory bank connections by modifying the memory interface connection</a:t>
            </a:r>
          </a:p>
          <a:p>
            <a:pPr marL="998220" lvl="2" indent="-255270"/>
            <a:r>
              <a:rPr lang="en-US" altLang="ko-KR" dirty="0"/>
              <a:t>Can use Burst based access</a:t>
            </a: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6</a:t>
            </a:fld>
            <a:endParaRPr lang="ko-KR" altLang="en-US"/>
          </a:p>
        </p:txBody>
      </p:sp>
      <p:pic>
        <p:nvPicPr>
          <p:cNvPr id="5" name="그림 5" descr="텍스트, 스크린샷, 디스플레이, 라인이(가) 표시된 사진&#10;&#10;자동 생성된 설명">
            <a:extLst>
              <a:ext uri="{FF2B5EF4-FFF2-40B4-BE49-F238E27FC236}">
                <a16:creationId xmlns:a16="http://schemas.microsoft.com/office/drawing/2014/main" id="{1E9BF669-43CF-B7C5-27D5-821A3F67B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506" y="3179483"/>
            <a:ext cx="5809128" cy="1772024"/>
          </a:xfrm>
          <a:prstGeom prst="rect">
            <a:avLst/>
          </a:prstGeom>
        </p:spPr>
      </p:pic>
      <p:pic>
        <p:nvPicPr>
          <p:cNvPr id="6" name="그림 6" descr="텍스트, 스크린샷, 디스플레이이(가) 표시된 사진&#10;&#10;자동 생성된 설명">
            <a:extLst>
              <a:ext uri="{FF2B5EF4-FFF2-40B4-BE49-F238E27FC236}">
                <a16:creationId xmlns:a16="http://schemas.microsoft.com/office/drawing/2014/main" id="{E53E2600-5462-F7FF-1687-A3DF8D74B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482" y="4949760"/>
            <a:ext cx="7109012" cy="122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9135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Connectivity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6480583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/>
              <a:t>Host to Kernel </a:t>
            </a:r>
            <a:endParaRPr lang="ko-KR" altLang="en-US" dirty="0"/>
          </a:p>
          <a:p>
            <a:pPr marL="586105" lvl="1" indent="-214630"/>
            <a:r>
              <a:rPr lang="en-US" altLang="ko-KR" dirty="0"/>
              <a:t>AXI4 Lite-slave interface</a:t>
            </a:r>
          </a:p>
          <a:p>
            <a:pPr marL="998220" lvl="2" indent="-255270"/>
            <a:r>
              <a:rPr lang="en-US" altLang="ko-KR" dirty="0"/>
              <a:t>Setting kernel arguments in control register</a:t>
            </a:r>
          </a:p>
          <a:p>
            <a:pPr marL="998220" lvl="2" indent="-255270"/>
            <a:r>
              <a:rPr lang="en-US" altLang="ko-KR" dirty="0"/>
              <a:t>Transfer Kernel execution signal (</a:t>
            </a:r>
            <a:r>
              <a:rPr lang="en-US" altLang="ko-KR" dirty="0" err="1"/>
              <a:t>ap_start</a:t>
            </a:r>
            <a:r>
              <a:rPr lang="en-US" altLang="ko-KR" dirty="0"/>
              <a:t>, </a:t>
            </a:r>
            <a:r>
              <a:rPr lang="en-US" altLang="ko-KR" dirty="0" err="1"/>
              <a:t>ap_done</a:t>
            </a:r>
            <a:r>
              <a:rPr lang="en-US" altLang="ko-KR" dirty="0"/>
              <a:t>, </a:t>
            </a:r>
            <a:r>
              <a:rPr lang="en-US" altLang="ko-KR" dirty="0" err="1"/>
              <a:t>ap_ready</a:t>
            </a:r>
            <a:r>
              <a:rPr lang="en-US" altLang="ko-KR" dirty="0"/>
              <a:t>, </a:t>
            </a:r>
            <a:r>
              <a:rPr lang="en-US" altLang="ko-KR" dirty="0" err="1"/>
              <a:t>ap_continue</a:t>
            </a:r>
            <a:r>
              <a:rPr lang="en-US" altLang="ko-KR" dirty="0"/>
              <a:t>)</a:t>
            </a:r>
          </a:p>
          <a:p>
            <a:pPr marL="998220" lvl="2" indent="-255270"/>
            <a:r>
              <a:rPr lang="en-US" altLang="ko-KR" dirty="0"/>
              <a:t>Transfer buffer base address of global memory</a:t>
            </a:r>
          </a:p>
          <a:p>
            <a:pPr marL="998220" lvl="2" indent="-255270"/>
            <a:endParaRPr lang="en-US" altLang="ko-KR" dirty="0"/>
          </a:p>
          <a:p>
            <a:pPr marL="586105" lvl="1" indent="-214630"/>
            <a:r>
              <a:rPr lang="en-US" altLang="ko-KR" dirty="0" err="1"/>
              <a:t>Krnl_cbc</a:t>
            </a:r>
          </a:p>
          <a:p>
            <a:pPr marL="998220" lvl="2" indent="-285750"/>
            <a:r>
              <a:rPr lang="en-US" altLang="ko-KR" dirty="0"/>
              <a:t>Execution mode, </a:t>
            </a:r>
            <a:r>
              <a:rPr lang="en-US" altLang="ko-KR" dirty="0" err="1"/>
              <a:t>CDC_mode</a:t>
            </a:r>
          </a:p>
          <a:p>
            <a:pPr marL="998220" lvl="2" indent="-285750"/>
            <a:r>
              <a:rPr lang="en-US" altLang="ko-KR" dirty="0"/>
              <a:t>Initialization vector</a:t>
            </a:r>
          </a:p>
          <a:p>
            <a:pPr marL="998220" lvl="2" indent="-285750"/>
            <a:r>
              <a:rPr lang="en-US" altLang="ko-KR" dirty="0"/>
              <a:t>Source, destination address and word number</a:t>
            </a: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8FF2DA-F7E2-D11E-2032-C012F9BEB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960" y="3692237"/>
            <a:ext cx="3229438" cy="2666509"/>
          </a:xfrm>
          <a:prstGeom prst="rect">
            <a:avLst/>
          </a:prstGeom>
        </p:spPr>
      </p:pic>
      <p:pic>
        <p:nvPicPr>
          <p:cNvPr id="5" name="그림 5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47EBB9E6-B187-ABC7-9CF0-1861C3E8D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647" y="953060"/>
            <a:ext cx="259080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80060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Connectivity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6480583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/>
              <a:t>Host to Kernel </a:t>
            </a:r>
            <a:endParaRPr lang="ko-KR" altLang="en-US"/>
          </a:p>
          <a:p>
            <a:pPr marL="586105" lvl="1" indent="-214630"/>
            <a:r>
              <a:rPr lang="en-US" altLang="ko-KR" dirty="0"/>
              <a:t>AXI4 Lite-slave interface</a:t>
            </a:r>
          </a:p>
          <a:p>
            <a:pPr marL="998220" lvl="2" indent="-255270"/>
            <a:r>
              <a:rPr lang="en-US" altLang="ko-KR" dirty="0"/>
              <a:t>Setting kernel arguments in control register</a:t>
            </a:r>
          </a:p>
          <a:p>
            <a:pPr marL="998220" lvl="2" indent="-255270"/>
            <a:r>
              <a:rPr lang="en-US" altLang="ko-KR" dirty="0"/>
              <a:t>Transfer Kernel execution signal (</a:t>
            </a:r>
            <a:r>
              <a:rPr lang="en-US" altLang="ko-KR" dirty="0" err="1"/>
              <a:t>ap_start</a:t>
            </a:r>
            <a:r>
              <a:rPr lang="en-US" altLang="ko-KR" dirty="0"/>
              <a:t>, </a:t>
            </a:r>
            <a:r>
              <a:rPr lang="en-US" altLang="ko-KR" dirty="0" err="1"/>
              <a:t>ap_done</a:t>
            </a:r>
            <a:r>
              <a:rPr lang="en-US" altLang="ko-KR" dirty="0"/>
              <a:t>, </a:t>
            </a:r>
            <a:r>
              <a:rPr lang="en-US" altLang="ko-KR" dirty="0" err="1"/>
              <a:t>ap_ready</a:t>
            </a:r>
            <a:r>
              <a:rPr lang="en-US" altLang="ko-KR" dirty="0"/>
              <a:t>, </a:t>
            </a:r>
            <a:r>
              <a:rPr lang="en-US" altLang="ko-KR" dirty="0" err="1"/>
              <a:t>ap_continue</a:t>
            </a:r>
            <a:r>
              <a:rPr lang="en-US" altLang="ko-KR" dirty="0"/>
              <a:t>)</a:t>
            </a:r>
          </a:p>
          <a:p>
            <a:pPr marL="998220" lvl="2" indent="-255270"/>
            <a:r>
              <a:rPr lang="en-US" altLang="ko-KR" dirty="0"/>
              <a:t>Transfer buffer base address of global memory</a:t>
            </a:r>
          </a:p>
          <a:p>
            <a:pPr marL="998220" lvl="2" indent="-255270"/>
            <a:endParaRPr lang="en-US" altLang="ko-KR" dirty="0"/>
          </a:p>
          <a:p>
            <a:pPr marL="586105" lvl="1" indent="-214630"/>
            <a:r>
              <a:rPr lang="en-US" altLang="ko-KR" dirty="0" err="1"/>
              <a:t>Krnl_cbc</a:t>
            </a:r>
          </a:p>
          <a:p>
            <a:pPr marL="998220" lvl="2" indent="-285750"/>
            <a:r>
              <a:rPr lang="en-US" altLang="ko-KR" dirty="0"/>
              <a:t>Execution mode, </a:t>
            </a:r>
            <a:r>
              <a:rPr lang="en-US" altLang="ko-KR" dirty="0" err="1"/>
              <a:t>CDC_mode</a:t>
            </a:r>
          </a:p>
          <a:p>
            <a:pPr marL="998220" lvl="2" indent="-285750"/>
            <a:r>
              <a:rPr lang="en-US" altLang="ko-KR" dirty="0"/>
              <a:t>Initialization vector</a:t>
            </a:r>
          </a:p>
          <a:p>
            <a:pPr marL="998220" lvl="2" indent="-285750"/>
            <a:r>
              <a:rPr lang="en-US" altLang="ko-KR" dirty="0"/>
              <a:t>Source, destination address and word number</a:t>
            </a: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8</a:t>
            </a:fld>
            <a:endParaRPr lang="ko-KR" altLang="en-US"/>
          </a:p>
        </p:txBody>
      </p:sp>
      <p:pic>
        <p:nvPicPr>
          <p:cNvPr id="6" name="그림 7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F92982A3-15DD-6DA7-52F9-6327C7223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036" y="4684386"/>
            <a:ext cx="7628964" cy="1326123"/>
          </a:xfrm>
          <a:prstGeom prst="rect">
            <a:avLst/>
          </a:prstGeom>
        </p:spPr>
      </p:pic>
      <p:pic>
        <p:nvPicPr>
          <p:cNvPr id="8" name="그림 8" descr="스크린샷, 도표, 라인이(가) 표시된 사진&#10;&#10;자동 생성된 설명">
            <a:extLst>
              <a:ext uri="{FF2B5EF4-FFF2-40B4-BE49-F238E27FC236}">
                <a16:creationId xmlns:a16="http://schemas.microsoft.com/office/drawing/2014/main" id="{F1BC2313-2A11-E566-3E1A-F36032D6B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141" y="3099655"/>
            <a:ext cx="7628964" cy="112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3600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Connectivity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774677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/>
              <a:t>Host to Global Memory</a:t>
            </a:r>
            <a:endParaRPr lang="ko-KR" altLang="en-US" dirty="0"/>
          </a:p>
          <a:p>
            <a:pPr marL="586105" lvl="1" indent="-214630"/>
            <a:r>
              <a:rPr lang="en-US" altLang="ko-KR" dirty="0"/>
              <a:t>Normal buffer allocation creates buffer on both host side and device side(global memory)</a:t>
            </a:r>
          </a:p>
          <a:p>
            <a:pPr marL="586105" lvl="1" indent="-214630"/>
            <a:r>
              <a:rPr lang="en-US" altLang="ko-KR" dirty="0"/>
              <a:t>Base addresses of Buffers are sent to host</a:t>
            </a:r>
          </a:p>
          <a:p>
            <a:pPr marL="586105" lvl="1" indent="-214630"/>
            <a:r>
              <a:rPr lang="en-US" altLang="ko-KR" dirty="0"/>
              <a:t>Buffer in global memory are contiguous</a:t>
            </a:r>
          </a:p>
          <a:p>
            <a:pPr marL="586105" lvl="1" indent="-214630"/>
            <a:r>
              <a:rPr lang="en-US" altLang="ko-KR" dirty="0"/>
              <a:t>Data transfer between host buffer and device buffer</a:t>
            </a:r>
          </a:p>
          <a:p>
            <a:pPr marL="371475" lvl="1" indent="0">
              <a:buNone/>
            </a:pPr>
            <a:r>
              <a:rPr lang="en-US" altLang="ko-KR" dirty="0"/>
              <a:t>   Is synchronizing two buffers utilizing PCI express</a:t>
            </a:r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9</a:t>
            </a:fld>
            <a:endParaRPr lang="ko-KR" altLang="en-US"/>
          </a:p>
        </p:txBody>
      </p:sp>
      <p:pic>
        <p:nvPicPr>
          <p:cNvPr id="5" name="그림 5" descr="도표, 텍스트, 평면도, 라인이(가) 표시된 사진&#10;&#10;자동 생성된 설명">
            <a:extLst>
              <a:ext uri="{FF2B5EF4-FFF2-40B4-BE49-F238E27FC236}">
                <a16:creationId xmlns:a16="http://schemas.microsoft.com/office/drawing/2014/main" id="{D892E35D-F1B0-21B3-F7AA-AF6CD502A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223" y="2258590"/>
            <a:ext cx="4885764" cy="3784135"/>
          </a:xfrm>
          <a:prstGeom prst="rect">
            <a:avLst/>
          </a:prstGeom>
        </p:spPr>
      </p:pic>
      <p:pic>
        <p:nvPicPr>
          <p:cNvPr id="7" name="그림 7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AE4ECB7D-3217-C8BF-A028-EEE160EAF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1" y="3578487"/>
            <a:ext cx="5997388" cy="1153310"/>
          </a:xfrm>
          <a:prstGeom prst="rect">
            <a:avLst/>
          </a:prstGeom>
        </p:spPr>
      </p:pic>
      <p:pic>
        <p:nvPicPr>
          <p:cNvPr id="8" name="그림 8" descr="텍스트, 스크린샷, 폰트, 대수학이(가) 표시된 사진&#10;&#10;자동 생성된 설명">
            <a:extLst>
              <a:ext uri="{FF2B5EF4-FFF2-40B4-BE49-F238E27FC236}">
                <a16:creationId xmlns:a16="http://schemas.microsoft.com/office/drawing/2014/main" id="{7E7853E7-4362-2E9E-F52C-DF9B069F7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82" y="4777292"/>
            <a:ext cx="4410635" cy="131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9422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Testbench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774677" cy="5029650"/>
          </a:xfrm>
        </p:spPr>
        <p:txBody>
          <a:bodyPr/>
          <a:lstStyle/>
          <a:p>
            <a:r>
              <a:rPr lang="en-US" altLang="ko-KR" dirty="0"/>
              <a:t>AXI Master/Slave VIP</a:t>
            </a:r>
          </a:p>
          <a:p>
            <a:pPr lvl="1"/>
            <a:r>
              <a:rPr lang="en-US" altLang="ko-KR" dirty="0"/>
              <a:t>Cannot access Global Memory in testbench</a:t>
            </a:r>
          </a:p>
          <a:p>
            <a:pPr lvl="1"/>
            <a:r>
              <a:rPr lang="en-US" altLang="ko-KR" dirty="0"/>
              <a:t>Instead, using AXI Master/Slave VIP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marL="742931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10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B4BB94E-513D-872B-5954-EA3AC9E026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30"/>
          <a:stretch/>
        </p:blipFill>
        <p:spPr>
          <a:xfrm>
            <a:off x="5784533" y="2059894"/>
            <a:ext cx="6090102" cy="329468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EC50C91-31E2-2288-6E22-C523ED650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91" y="2474260"/>
            <a:ext cx="4653404" cy="288032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B46C38A-6CC9-B95A-B931-F6E7A4D4E914}"/>
              </a:ext>
            </a:extLst>
          </p:cNvPr>
          <p:cNvSpPr/>
          <p:nvPr/>
        </p:nvSpPr>
        <p:spPr>
          <a:xfrm>
            <a:off x="672353" y="2447365"/>
            <a:ext cx="735106" cy="188259"/>
          </a:xfrm>
          <a:prstGeom prst="rect">
            <a:avLst/>
          </a:prstGeom>
          <a:noFill/>
          <a:ln w="3810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1C1A517-D702-7E82-7F20-5E0C52F67B37}"/>
              </a:ext>
            </a:extLst>
          </p:cNvPr>
          <p:cNvSpPr/>
          <p:nvPr/>
        </p:nvSpPr>
        <p:spPr>
          <a:xfrm>
            <a:off x="7324164" y="4249271"/>
            <a:ext cx="618565" cy="358588"/>
          </a:xfrm>
          <a:prstGeom prst="rect">
            <a:avLst/>
          </a:prstGeom>
          <a:noFill/>
          <a:ln w="3810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1008282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Testbench Diagram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11</a:t>
            </a:fld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78CC3A0-D81B-F63F-1835-374D5270A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538FA35-FF0D-ED0E-C72B-CA6E10969C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1"/>
          <a:stretch/>
        </p:blipFill>
        <p:spPr bwMode="auto">
          <a:xfrm>
            <a:off x="2285325" y="1058513"/>
            <a:ext cx="7621349" cy="5029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546856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XRT API Call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774677" cy="5029650"/>
          </a:xfrm>
        </p:spPr>
        <p:txBody>
          <a:bodyPr/>
          <a:lstStyle/>
          <a:p>
            <a:r>
              <a:rPr lang="en-US" altLang="ko-KR" dirty="0"/>
              <a:t>XRT Native API</a:t>
            </a:r>
          </a:p>
          <a:p>
            <a:pPr marL="686542" lvl="1" indent="-285750"/>
            <a:r>
              <a:rPr lang="en-US" altLang="ko-KR" b="1" dirty="0" err="1"/>
              <a:t>xrt</a:t>
            </a:r>
            <a:r>
              <a:rPr lang="en-US" altLang="ko-KR" b="1" dirty="0"/>
              <a:t>::run</a:t>
            </a:r>
            <a:r>
              <a:rPr lang="en-US" altLang="ko-KR" dirty="0"/>
              <a:t> - Execution of the kernel</a:t>
            </a:r>
          </a:p>
          <a:p>
            <a:pPr marL="686542" lvl="1" indent="-285750"/>
            <a:r>
              <a:rPr lang="en-US" altLang="ko-KR" b="1" dirty="0" err="1"/>
              <a:t>xrt</a:t>
            </a:r>
            <a:r>
              <a:rPr lang="en-US" altLang="ko-KR" b="1" dirty="0"/>
              <a:t>::run::wait</a:t>
            </a:r>
            <a:r>
              <a:rPr lang="en-US" altLang="ko-KR" dirty="0"/>
              <a:t> - block current thread until current execution is finished</a:t>
            </a:r>
          </a:p>
          <a:p>
            <a:pPr marL="686542" lvl="1" indent="-285750"/>
            <a:r>
              <a:rPr lang="en-US" altLang="ko-KR" dirty="0"/>
              <a:t>Data transfer between Host and device by Buffer read/write API</a:t>
            </a:r>
          </a:p>
          <a:p>
            <a:pPr marL="1098331" lvl="2" indent="-285750"/>
            <a:r>
              <a:rPr lang="en-US" altLang="ko-KR" b="1" dirty="0" err="1"/>
              <a:t>xrt</a:t>
            </a:r>
            <a:r>
              <a:rPr lang="en-US" altLang="ko-KR" b="1" dirty="0"/>
              <a:t>::</a:t>
            </a:r>
            <a:r>
              <a:rPr lang="en-US" altLang="ko-KR" b="1" dirty="0" err="1"/>
              <a:t>bo</a:t>
            </a:r>
            <a:r>
              <a:rPr lang="en-US" altLang="ko-KR" b="1" dirty="0"/>
              <a:t>::sync</a:t>
            </a:r>
            <a:r>
              <a:rPr lang="en-US" altLang="ko-KR" dirty="0"/>
              <a:t> with flag XCL_BO_SYNC_BO_TO_DEVICE : write operation</a:t>
            </a:r>
          </a:p>
          <a:p>
            <a:pPr marL="1098331" lvl="2" indent="-285750"/>
            <a:r>
              <a:rPr lang="en-US" altLang="ko-KR" b="1" dirty="0" err="1"/>
              <a:t>xrt</a:t>
            </a:r>
            <a:r>
              <a:rPr lang="en-US" altLang="ko-KR" b="1" dirty="0"/>
              <a:t>::</a:t>
            </a:r>
            <a:r>
              <a:rPr lang="en-US" altLang="ko-KR" b="1" dirty="0" err="1"/>
              <a:t>bo</a:t>
            </a:r>
            <a:r>
              <a:rPr lang="en-US" altLang="ko-KR" b="1" dirty="0"/>
              <a:t>::sync</a:t>
            </a:r>
            <a:r>
              <a:rPr lang="en-US" altLang="ko-KR" dirty="0"/>
              <a:t> with flag XCL_BO_SYNC_BO_FROM_DEVICE : read operation</a:t>
            </a:r>
          </a:p>
          <a:p>
            <a:pPr marL="1098331" lvl="2" indent="-285750"/>
            <a:r>
              <a:rPr lang="en-US" altLang="ko-KR" dirty="0"/>
              <a:t>After sync, </a:t>
            </a:r>
            <a:r>
              <a:rPr lang="en-US" altLang="ko-KR" b="1" dirty="0" err="1"/>
              <a:t>xrt</a:t>
            </a:r>
            <a:r>
              <a:rPr lang="en-US" altLang="ko-KR" b="1" dirty="0"/>
              <a:t>::</a:t>
            </a:r>
            <a:r>
              <a:rPr lang="en-US" altLang="ko-KR" b="1" dirty="0" err="1"/>
              <a:t>bo</a:t>
            </a:r>
            <a:r>
              <a:rPr lang="en-US" altLang="ko-KR" b="1" dirty="0"/>
              <a:t>::write/read</a:t>
            </a:r>
            <a:r>
              <a:rPr lang="en-US" altLang="ko-KR" dirty="0"/>
              <a:t> (operation) API is called</a:t>
            </a:r>
          </a:p>
          <a:p>
            <a:pPr marL="686542" lvl="1" indent="-285750"/>
            <a:endParaRPr lang="en-US" altLang="ko-KR" dirty="0"/>
          </a:p>
          <a:p>
            <a:pPr marL="686542" lvl="1" indent="-285750"/>
            <a:endParaRPr lang="en-US" altLang="ko-KR" dirty="0"/>
          </a:p>
          <a:p>
            <a:pPr marL="686542" lvl="1" indent="-285750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marL="742931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52312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XRT API Call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774677" cy="5029650"/>
          </a:xfrm>
        </p:spPr>
        <p:txBody>
          <a:bodyPr/>
          <a:lstStyle/>
          <a:p>
            <a:r>
              <a:rPr lang="en-US" altLang="ko-KR" dirty="0"/>
              <a:t>Write to Read Operation </a:t>
            </a:r>
          </a:p>
          <a:p>
            <a:pPr marL="686542" lvl="1" indent="-285750"/>
            <a:r>
              <a:rPr lang="en-US" altLang="ko-KR" dirty="0"/>
              <a:t>Overall</a:t>
            </a:r>
          </a:p>
          <a:p>
            <a:pPr marL="686542" lvl="1" indent="-285750"/>
            <a:endParaRPr lang="en-US" altLang="ko-KR" dirty="0"/>
          </a:p>
          <a:p>
            <a:pPr marL="686542" lvl="1" indent="-285750"/>
            <a:endParaRPr lang="en-US" altLang="ko-KR" dirty="0"/>
          </a:p>
          <a:p>
            <a:pPr marL="686542" lvl="1" indent="-285750"/>
            <a:endParaRPr lang="en-US" altLang="ko-KR" dirty="0"/>
          </a:p>
          <a:p>
            <a:pPr marL="686542" lvl="1" indent="-285750"/>
            <a:endParaRPr lang="en-US" altLang="ko-KR" dirty="0"/>
          </a:p>
          <a:p>
            <a:pPr marL="686542" lvl="1" indent="-285750"/>
            <a:endParaRPr lang="en-US" altLang="ko-KR" dirty="0"/>
          </a:p>
          <a:p>
            <a:pPr marL="686542" lvl="1" indent="-285750"/>
            <a:r>
              <a:rPr lang="en-US" altLang="ko-KR" dirty="0"/>
              <a:t>Write (with </a:t>
            </a:r>
            <a:r>
              <a:rPr lang="en-US" altLang="ko-KR" b="1" dirty="0" err="1">
                <a:highlight>
                  <a:srgbClr val="FFFF00"/>
                </a:highlight>
              </a:rPr>
              <a:t>xrt</a:t>
            </a:r>
            <a:r>
              <a:rPr lang="en-US" altLang="ko-KR" b="1" dirty="0">
                <a:highlight>
                  <a:srgbClr val="FFFF00"/>
                </a:highlight>
              </a:rPr>
              <a:t>::run</a:t>
            </a:r>
            <a:r>
              <a:rPr lang="en-US" altLang="ko-KR" b="1" dirty="0"/>
              <a:t>, </a:t>
            </a:r>
            <a:r>
              <a:rPr lang="en-US" altLang="ko-KR" b="1" dirty="0" err="1">
                <a:highlight>
                  <a:srgbClr val="FF00FF"/>
                </a:highlight>
              </a:rPr>
              <a:t>xrt</a:t>
            </a:r>
            <a:r>
              <a:rPr lang="en-US" altLang="ko-KR" b="1" dirty="0">
                <a:highlight>
                  <a:srgbClr val="FF00FF"/>
                </a:highlight>
              </a:rPr>
              <a:t>::run::wait</a:t>
            </a:r>
            <a:r>
              <a:rPr lang="en-US" altLang="ko-KR" b="1" dirty="0"/>
              <a:t>, </a:t>
            </a:r>
            <a:r>
              <a:rPr lang="en-US" altLang="ko-KR" b="1" dirty="0" err="1">
                <a:highlight>
                  <a:srgbClr val="0000FF"/>
                </a:highlight>
              </a:rPr>
              <a:t>xrt</a:t>
            </a:r>
            <a:r>
              <a:rPr lang="en-US" altLang="ko-KR" b="1" dirty="0">
                <a:highlight>
                  <a:srgbClr val="0000FF"/>
                </a:highlight>
              </a:rPr>
              <a:t>::</a:t>
            </a:r>
            <a:r>
              <a:rPr lang="en-US" altLang="ko-KR" b="1" dirty="0" err="1">
                <a:highlight>
                  <a:srgbClr val="0000FF"/>
                </a:highlight>
              </a:rPr>
              <a:t>bo</a:t>
            </a:r>
            <a:r>
              <a:rPr lang="en-US" altLang="ko-KR" b="1" dirty="0">
                <a:highlight>
                  <a:srgbClr val="0000FF"/>
                </a:highlight>
              </a:rPr>
              <a:t>::sync</a:t>
            </a:r>
            <a:r>
              <a:rPr lang="en-US" altLang="ko-KR" dirty="0"/>
              <a:t>)</a:t>
            </a:r>
            <a:r>
              <a:rPr lang="en-US" altLang="ko-KR" dirty="0">
                <a:highlight>
                  <a:srgbClr val="FF00FF"/>
                </a:highlight>
              </a:rPr>
              <a:t> </a:t>
            </a:r>
            <a:endParaRPr lang="en-US" altLang="ko-KR" dirty="0"/>
          </a:p>
          <a:p>
            <a:pPr marL="686542" lvl="1" indent="-285750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marL="742931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13</a:t>
            </a:fld>
            <a:endParaRPr lang="ko-KR" altLang="en-US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FEB7F8C0-D41C-4C7C-8DA1-DDD0A7C24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77905"/>
            <a:ext cx="12192000" cy="16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5523D4FE-9797-FE49-9C7E-9926998C9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85378"/>
            <a:ext cx="12192000" cy="150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237804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XRT API Call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774677" cy="5029650"/>
          </a:xfrm>
        </p:spPr>
        <p:txBody>
          <a:bodyPr/>
          <a:lstStyle/>
          <a:p>
            <a:r>
              <a:rPr lang="en-US" altLang="ko-KR" dirty="0"/>
              <a:t>Write to Read Operation </a:t>
            </a:r>
          </a:p>
          <a:p>
            <a:pPr marL="686542" lvl="1" indent="-285750"/>
            <a:r>
              <a:rPr lang="en-US" altLang="ko-KR" dirty="0"/>
              <a:t>Read</a:t>
            </a:r>
          </a:p>
          <a:p>
            <a:pPr marL="686542" lvl="1" indent="-285750"/>
            <a:endParaRPr lang="en-US" altLang="ko-KR" dirty="0"/>
          </a:p>
          <a:p>
            <a:pPr marL="686542" lvl="1" indent="-285750"/>
            <a:endParaRPr lang="en-US" altLang="ko-KR" dirty="0"/>
          </a:p>
          <a:p>
            <a:pPr marL="686542" lvl="1" indent="-285750"/>
            <a:endParaRPr lang="en-US" altLang="ko-KR" dirty="0"/>
          </a:p>
          <a:p>
            <a:pPr marL="686542" lvl="1" indent="-285750"/>
            <a:endParaRPr lang="en-US" altLang="ko-KR" dirty="0"/>
          </a:p>
          <a:p>
            <a:pPr marL="686542" lvl="1" indent="-285750"/>
            <a:endParaRPr lang="en-US" altLang="ko-KR" dirty="0"/>
          </a:p>
          <a:p>
            <a:pPr marL="686542" lvl="1" indent="-285750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marL="742931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14</a:t>
            </a:fld>
            <a:endParaRPr lang="ko-KR" alt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997F24E-C541-D3C2-65D4-FDCA364FA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4655"/>
            <a:ext cx="12192000" cy="181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33539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Device Map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774677" cy="5029650"/>
          </a:xfrm>
        </p:spPr>
        <p:txBody>
          <a:bodyPr/>
          <a:lstStyle/>
          <a:p>
            <a:r>
              <a:rPr lang="en-US" altLang="ko-KR" dirty="0"/>
              <a:t>SLR configuration</a:t>
            </a:r>
          </a:p>
          <a:p>
            <a:pPr lvl="1"/>
            <a:r>
              <a:rPr lang="en-US" altLang="ko-KR" dirty="0"/>
              <a:t>SLR and memory bank that Kernel will operate can be modified in </a:t>
            </a:r>
            <a:r>
              <a:rPr lang="en-US" altLang="ko-KR" dirty="0" err="1"/>
              <a:t>krnl_cbc_test.cfg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marL="742931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15</a:t>
            </a:fld>
            <a:endParaRPr lang="ko-KR" altLang="en-US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F471F1E8-6E89-4BB4-5A80-A976E80466AB}"/>
              </a:ext>
            </a:extLst>
          </p:cNvPr>
          <p:cNvSpPr txBox="1">
            <a:spLocks/>
          </p:cNvSpPr>
          <p:nvPr/>
        </p:nvSpPr>
        <p:spPr>
          <a:xfrm>
            <a:off x="1303334" y="2051050"/>
            <a:ext cx="2338711" cy="301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 lnSpcReduction="10000"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742931" lvl="2" indent="0" hangingPunct="1">
              <a:buFont typeface="맑은 고딕" panose="020B0503020000020004" pitchFamily="50" charset="-127"/>
              <a:buNone/>
            </a:pP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B1B9E14-8691-E6DD-EE7D-905CFE32F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95" y="2476134"/>
            <a:ext cx="2794627" cy="206494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AFF95FD-F6E4-582F-8CB5-0E93370DF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661" y="2227340"/>
            <a:ext cx="3493188" cy="37528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B461111-150B-759C-6EC7-9FABE750D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025" y="2250934"/>
            <a:ext cx="3376164" cy="3705662"/>
          </a:xfrm>
          <a:prstGeom prst="rect">
            <a:avLst/>
          </a:prstGeom>
        </p:spPr>
      </p:pic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F711E9A6-72C6-73B5-2E14-1D1C8F7358CC}"/>
              </a:ext>
            </a:extLst>
          </p:cNvPr>
          <p:cNvSpPr txBox="1">
            <a:spLocks/>
          </p:cNvSpPr>
          <p:nvPr/>
        </p:nvSpPr>
        <p:spPr>
          <a:xfrm>
            <a:off x="4715802" y="5945835"/>
            <a:ext cx="3297872" cy="341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742931" lvl="2" indent="0" hangingPunct="1">
              <a:buFont typeface="맑은 고딕" panose="020B0503020000020004" pitchFamily="50" charset="-127"/>
              <a:buNone/>
            </a:pPr>
            <a:r>
              <a:rPr lang="en-US" altLang="ko-KR" dirty="0"/>
              <a:t>Krnl:SLR0,  DDR[0] </a:t>
            </a:r>
            <a:endParaRPr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3B657654-07B5-EE64-44CB-8A9D7FD9A0EC}"/>
              </a:ext>
            </a:extLst>
          </p:cNvPr>
          <p:cNvSpPr txBox="1">
            <a:spLocks/>
          </p:cNvSpPr>
          <p:nvPr/>
        </p:nvSpPr>
        <p:spPr>
          <a:xfrm>
            <a:off x="8443501" y="5934038"/>
            <a:ext cx="3297872" cy="341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742931" lvl="2" indent="0" hangingPunct="1">
              <a:buFont typeface="맑은 고딕" panose="020B0503020000020004" pitchFamily="50" charset="-127"/>
              <a:buNone/>
            </a:pPr>
            <a:r>
              <a:rPr lang="en-US" altLang="ko-KR" dirty="0"/>
              <a:t>Krnl:SLR0,  DDR[1]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353445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Device Map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774677" cy="5029650"/>
          </a:xfrm>
        </p:spPr>
        <p:txBody>
          <a:bodyPr/>
          <a:lstStyle/>
          <a:p>
            <a:r>
              <a:rPr lang="en-US" altLang="ko-KR" dirty="0"/>
              <a:t>SLR configuration</a:t>
            </a:r>
          </a:p>
          <a:p>
            <a:pPr lvl="1"/>
            <a:r>
              <a:rPr lang="en-US" altLang="ko-KR" dirty="0"/>
              <a:t>Using several banks is possible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marL="742931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16</a:t>
            </a:fld>
            <a:endParaRPr lang="ko-KR" altLang="en-US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F471F1E8-6E89-4BB4-5A80-A976E80466AB}"/>
              </a:ext>
            </a:extLst>
          </p:cNvPr>
          <p:cNvSpPr txBox="1">
            <a:spLocks/>
          </p:cNvSpPr>
          <p:nvPr/>
        </p:nvSpPr>
        <p:spPr>
          <a:xfrm>
            <a:off x="1303334" y="2051050"/>
            <a:ext cx="2338711" cy="301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 lnSpcReduction="10000"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742931" lvl="2" indent="0" hangingPunct="1">
              <a:buFont typeface="맑은 고딕" panose="020B0503020000020004" pitchFamily="50" charset="-127"/>
              <a:buNone/>
            </a:pPr>
            <a:endParaRPr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3B657654-07B5-EE64-44CB-8A9D7FD9A0EC}"/>
              </a:ext>
            </a:extLst>
          </p:cNvPr>
          <p:cNvSpPr txBox="1">
            <a:spLocks/>
          </p:cNvSpPr>
          <p:nvPr/>
        </p:nvSpPr>
        <p:spPr>
          <a:xfrm>
            <a:off x="838202" y="4889482"/>
            <a:ext cx="3297872" cy="341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 fontScale="92500"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742931" lvl="2" indent="0" hangingPunct="1">
              <a:buFont typeface="맑은 고딕" panose="020B0503020000020004" pitchFamily="50" charset="-127"/>
              <a:buNone/>
            </a:pPr>
            <a:r>
              <a:rPr lang="en-US" altLang="ko-KR" dirty="0" err="1"/>
              <a:t>rmst</a:t>
            </a:r>
            <a:r>
              <a:rPr lang="en-US" altLang="ko-KR" dirty="0"/>
              <a:t> : DDR[1] </a:t>
            </a:r>
            <a:r>
              <a:rPr lang="en-US" altLang="ko-KR" dirty="0" err="1"/>
              <a:t>wmst</a:t>
            </a:r>
            <a:r>
              <a:rPr lang="en-US" altLang="ko-KR" dirty="0"/>
              <a:t> : DDR[2] </a:t>
            </a:r>
            <a:endParaRPr lang="ko-KR" alt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189E094-ACA3-2CDD-121A-C07423AC8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253" y="2065356"/>
            <a:ext cx="3391072" cy="2727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B13AB294-606F-9E63-F63B-04060C509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200" y="1901774"/>
            <a:ext cx="3121540" cy="3431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89948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Device Map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60013"/>
            <a:ext cx="10774677" cy="5029650"/>
          </a:xfrm>
        </p:spPr>
        <p:txBody>
          <a:bodyPr/>
          <a:lstStyle/>
          <a:p>
            <a:r>
              <a:rPr lang="en-US" altLang="ko-KR" dirty="0"/>
              <a:t>SLR configuration</a:t>
            </a:r>
          </a:p>
          <a:p>
            <a:pPr lvl="1"/>
            <a:r>
              <a:rPr lang="en-US" altLang="ko-KR" dirty="0"/>
              <a:t>Using several banks is possible</a:t>
            </a:r>
          </a:p>
          <a:p>
            <a:pPr lvl="1"/>
            <a:r>
              <a:rPr lang="en-US" altLang="ko-KR" dirty="0"/>
              <a:t>Arbitrarily changing routing can lower slack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marL="742931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17</a:t>
            </a:fld>
            <a:endParaRPr lang="ko-KR" altLang="en-US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F471F1E8-6E89-4BB4-5A80-A976E80466AB}"/>
              </a:ext>
            </a:extLst>
          </p:cNvPr>
          <p:cNvSpPr txBox="1">
            <a:spLocks/>
          </p:cNvSpPr>
          <p:nvPr/>
        </p:nvSpPr>
        <p:spPr>
          <a:xfrm>
            <a:off x="1303334" y="2051050"/>
            <a:ext cx="2338711" cy="301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 lnSpcReduction="10000"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742931" lvl="2" indent="0" hangingPunct="1">
              <a:buFont typeface="맑은 고딕" panose="020B0503020000020004" pitchFamily="50" charset="-127"/>
              <a:buNone/>
            </a:pPr>
            <a:endParaRPr lang="ko-KR" altLang="en-US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89BFB9FF-C51C-29DC-6FC3-EBB8288B8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324" y="2273300"/>
            <a:ext cx="2900740" cy="285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9585D20-F6E8-C818-CA8A-AB7C5ADF4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75" y="2315806"/>
            <a:ext cx="2867470" cy="292112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2C962AE-40F6-8068-C141-6717CE569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673" y="2273300"/>
            <a:ext cx="2442059" cy="292112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E9F64F5-86B4-0088-4A7C-1175778AB7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4039" y="5377536"/>
            <a:ext cx="3650967" cy="887488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10DC057-86C1-A16B-F3CF-A2E3F58F79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2646" y="5356202"/>
            <a:ext cx="1732096" cy="87114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E96C070-9417-4C19-122A-535D95381C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274" y="5307715"/>
            <a:ext cx="2102068" cy="105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94651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Kernel replacement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774677" cy="5029650"/>
          </a:xfrm>
        </p:spPr>
        <p:txBody>
          <a:bodyPr/>
          <a:lstStyle/>
          <a:p>
            <a:r>
              <a:rPr lang="en-US" altLang="ko-KR" dirty="0"/>
              <a:t>Remove ports not used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marL="742931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8DB2C11-0D55-F091-3F0B-007E31783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465" y="1612899"/>
            <a:ext cx="2244890" cy="42894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4AC2AE0-9DEE-00D9-BE5A-E08DF42A9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612899"/>
            <a:ext cx="2957884" cy="1755749"/>
          </a:xfrm>
          <a:prstGeom prst="rect">
            <a:avLst/>
          </a:prstGeom>
        </p:spPr>
      </p:pic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2D13873B-60CE-7981-E996-71F0950605EB}"/>
              </a:ext>
            </a:extLst>
          </p:cNvPr>
          <p:cNvSpPr txBox="1">
            <a:spLocks/>
          </p:cNvSpPr>
          <p:nvPr/>
        </p:nvSpPr>
        <p:spPr>
          <a:xfrm>
            <a:off x="6243634" y="3429000"/>
            <a:ext cx="2338711" cy="301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 lnSpcReduction="10000"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742931" lvl="2" indent="0" hangingPunct="1">
              <a:buFont typeface="맑은 고딕" panose="020B0503020000020004" pitchFamily="50" charset="-127"/>
              <a:buNone/>
            </a:pPr>
            <a:r>
              <a:rPr lang="en-US" altLang="ko-KR" dirty="0" err="1"/>
              <a:t>krnl_cbc_test.cfg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0A584A0-71C9-F320-ECBE-7B2FCBA8A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747" y="3916745"/>
            <a:ext cx="4864235" cy="1712120"/>
          </a:xfrm>
          <a:prstGeom prst="rect">
            <a:avLst/>
          </a:prstGeom>
        </p:spPr>
      </p:pic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0B4FE864-AD25-A18A-A9AA-B0205543B642}"/>
              </a:ext>
            </a:extLst>
          </p:cNvPr>
          <p:cNvSpPr txBox="1">
            <a:spLocks/>
          </p:cNvSpPr>
          <p:nvPr/>
        </p:nvSpPr>
        <p:spPr>
          <a:xfrm>
            <a:off x="6229350" y="5703156"/>
            <a:ext cx="2338711" cy="301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 lnSpcReduction="10000"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742931" lvl="2" indent="0" hangingPunct="1">
              <a:buFont typeface="맑은 고딕" panose="020B0503020000020004" pitchFamily="50" charset="-127"/>
              <a:buNone/>
            </a:pPr>
            <a:r>
              <a:rPr lang="en-US" altLang="ko-KR" dirty="0" err="1"/>
              <a:t>pack_krnl.tcl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388564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Kernel replacement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774677" cy="5029650"/>
          </a:xfrm>
        </p:spPr>
        <p:txBody>
          <a:bodyPr/>
          <a:lstStyle/>
          <a:p>
            <a:r>
              <a:rPr lang="en-US" altLang="ko-KR" dirty="0"/>
              <a:t>Modify engine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marL="742931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19</a:t>
            </a:fld>
            <a:endParaRPr lang="ko-KR" altLang="en-US"/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0B4FE864-AD25-A18A-A9AA-B0205543B642}"/>
              </a:ext>
            </a:extLst>
          </p:cNvPr>
          <p:cNvSpPr txBox="1">
            <a:spLocks/>
          </p:cNvSpPr>
          <p:nvPr/>
        </p:nvSpPr>
        <p:spPr>
          <a:xfrm>
            <a:off x="1263650" y="5409113"/>
            <a:ext cx="2338711" cy="301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 lnSpcReduction="10000"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742931" lvl="2" indent="0" hangingPunct="1">
              <a:buFont typeface="맑은 고딕" panose="020B0503020000020004" pitchFamily="50" charset="-127"/>
              <a:buNone/>
            </a:pPr>
            <a:r>
              <a:rPr lang="en-US" altLang="ko-KR" dirty="0" err="1"/>
              <a:t>add_engine.tcl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D990A37-1348-213A-6AC9-3480A6C94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2" y="1949347"/>
            <a:ext cx="3577421" cy="54142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2FFE3E4-EA65-78F9-40C7-F0376AE67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2" y="2557396"/>
            <a:ext cx="3587462" cy="108115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7541486-2ACC-1779-0188-EB54F5A84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2" y="3776571"/>
            <a:ext cx="4434613" cy="148896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F6779F5-0720-4AD4-84A3-6CE46579D1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9913" y="1958710"/>
            <a:ext cx="5345061" cy="147029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6AC469F-0945-E104-7C39-42B2F88C1A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4401" y="3805150"/>
            <a:ext cx="5270574" cy="663036"/>
          </a:xfrm>
          <a:prstGeom prst="rect">
            <a:avLst/>
          </a:prstGeom>
        </p:spPr>
      </p:pic>
      <p:sp>
        <p:nvSpPr>
          <p:cNvPr id="20" name="텍스트 개체 틀 2">
            <a:extLst>
              <a:ext uri="{FF2B5EF4-FFF2-40B4-BE49-F238E27FC236}">
                <a16:creationId xmlns:a16="http://schemas.microsoft.com/office/drawing/2014/main" id="{BD05F16A-798E-913C-242D-7D07E5EBBB6F}"/>
              </a:ext>
            </a:extLst>
          </p:cNvPr>
          <p:cNvSpPr txBox="1">
            <a:spLocks/>
          </p:cNvSpPr>
          <p:nvPr/>
        </p:nvSpPr>
        <p:spPr>
          <a:xfrm>
            <a:off x="7042150" y="4754300"/>
            <a:ext cx="2520950" cy="301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 lnSpcReduction="10000"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742931" lvl="2" indent="0" hangingPunct="1">
              <a:buFont typeface="맑은 고딕" panose="020B0503020000020004" pitchFamily="50" charset="-127"/>
              <a:buNone/>
            </a:pPr>
            <a:r>
              <a:rPr lang="en-US" altLang="ko-KR" dirty="0" err="1"/>
              <a:t>engine_control.v</a:t>
            </a:r>
            <a:endParaRPr lang="en-US" altLang="ko-KR" dirty="0"/>
          </a:p>
          <a:p>
            <a:pPr marL="742931" lvl="2" indent="0" hangingPunct="1">
              <a:buFont typeface="맑은 고딕" panose="020B0503020000020004" pitchFamily="50" charset="-127"/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512691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Kernel replacement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774677" cy="5029650"/>
          </a:xfrm>
        </p:spPr>
        <p:txBody>
          <a:bodyPr/>
          <a:lstStyle/>
          <a:p>
            <a:r>
              <a:rPr lang="en-US" altLang="ko-KR" dirty="0"/>
              <a:t>Simulation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marL="742931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20</a:t>
            </a:fld>
            <a:endParaRPr lang="ko-KR" altLang="en-US"/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0B4FE864-AD25-A18A-A9AA-B0205543B642}"/>
              </a:ext>
            </a:extLst>
          </p:cNvPr>
          <p:cNvSpPr txBox="1">
            <a:spLocks/>
          </p:cNvSpPr>
          <p:nvPr/>
        </p:nvSpPr>
        <p:spPr>
          <a:xfrm>
            <a:off x="1263650" y="5409113"/>
            <a:ext cx="2338711" cy="301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 lnSpcReduction="10000"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742931" lvl="2" indent="0" hangingPunct="1">
              <a:buFont typeface="맑은 고딕" panose="020B0503020000020004" pitchFamily="50" charset="-127"/>
              <a:buNone/>
            </a:pPr>
            <a:r>
              <a:rPr lang="en-US" altLang="ko-KR" dirty="0" err="1"/>
              <a:t>tb_krnl_cbc.vh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A2F0BC-E418-7F8A-71F1-79131EF22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24" y="1580429"/>
            <a:ext cx="5005856" cy="37596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A7D7091-8EA8-17B7-5C31-5712A28EB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80429"/>
            <a:ext cx="5354476" cy="1748168"/>
          </a:xfrm>
          <a:prstGeom prst="rect">
            <a:avLst/>
          </a:prstGeom>
        </p:spPr>
      </p:pic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7F6A4514-4909-D918-0FD7-46775F091BEF}"/>
              </a:ext>
            </a:extLst>
          </p:cNvPr>
          <p:cNvSpPr txBox="1">
            <a:spLocks/>
          </p:cNvSpPr>
          <p:nvPr/>
        </p:nvSpPr>
        <p:spPr>
          <a:xfrm>
            <a:off x="7042150" y="3374799"/>
            <a:ext cx="2338711" cy="301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 lnSpcReduction="10000"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742931" lvl="2" indent="0" hangingPunct="1">
              <a:buFont typeface="맑은 고딕" panose="020B0503020000020004" pitchFamily="50" charset="-127"/>
              <a:buNone/>
            </a:pPr>
            <a:r>
              <a:rPr lang="en-US" altLang="ko-KR" dirty="0"/>
              <a:t>tb_krnl_cbc.sv</a:t>
            </a:r>
            <a:endParaRPr lang="ko-KR" alt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D087D55-8561-97FB-EB2D-721C5DC2A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375" y="3956050"/>
            <a:ext cx="5128258" cy="1321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434624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Kernel replacement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774677" cy="5029650"/>
          </a:xfrm>
        </p:spPr>
        <p:txBody>
          <a:bodyPr/>
          <a:lstStyle/>
          <a:p>
            <a:r>
              <a:rPr lang="en-US" altLang="ko-KR" dirty="0"/>
              <a:t>Simulation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marL="742931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21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EF91823-387B-50E8-F8F4-0413DAF6E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960" y="1527124"/>
            <a:ext cx="7498079" cy="330783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A2C528C-B99C-4C25-1771-3E97BBC31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82" y="5535234"/>
            <a:ext cx="11671435" cy="35090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A7C18F0-19CF-792C-9D98-5829A2941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282" y="5010496"/>
            <a:ext cx="10774677" cy="45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661575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Kernel replacement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774677" cy="5029650"/>
          </a:xfrm>
        </p:spPr>
        <p:txBody>
          <a:bodyPr/>
          <a:lstStyle/>
          <a:p>
            <a:r>
              <a:rPr lang="en-US" altLang="ko-KR" dirty="0"/>
              <a:t>Change </a:t>
            </a:r>
            <a:r>
              <a:rPr lang="en-US" altLang="ko-KR" dirty="0" err="1"/>
              <a:t>Kerenl_cbc_engine</a:t>
            </a:r>
            <a:r>
              <a:rPr lang="en-US" altLang="ko-KR" dirty="0"/>
              <a:t> to implement simple addition (add 1 to input when mode = 1)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marL="742931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22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06C4DEE-8324-7579-0B52-2C0717501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545" y="2305049"/>
            <a:ext cx="4840334" cy="291489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0314D6F-5CD9-7EEB-4131-8E56886F1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347" y="2126918"/>
            <a:ext cx="3335356" cy="3302332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3BC1207-A53A-F347-430B-FFEB5C7369B2}"/>
              </a:ext>
            </a:extLst>
          </p:cNvPr>
          <p:cNvCxnSpPr/>
          <p:nvPr/>
        </p:nvCxnSpPr>
        <p:spPr>
          <a:xfrm>
            <a:off x="5251450" y="3762497"/>
            <a:ext cx="1263650" cy="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18185799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Kernel replacement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774677" cy="5029650"/>
          </a:xfrm>
        </p:spPr>
        <p:txBody>
          <a:bodyPr/>
          <a:lstStyle/>
          <a:p>
            <a:r>
              <a:rPr lang="en-US" altLang="ko-KR" dirty="0"/>
              <a:t>P&amp;R, schematic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marL="742931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23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DA925DE-1598-9B1E-C617-A598618F8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975" y="1880282"/>
            <a:ext cx="2820054" cy="309743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28EF7DA-A694-9FD7-FEE5-7EDC00B6B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349" y="2000251"/>
            <a:ext cx="7140322" cy="3464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7BD9D02-88C5-992D-8BCC-EDA17926B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649" y="4977718"/>
            <a:ext cx="2274827" cy="109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847192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Kernel replacement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774677" cy="5029650"/>
          </a:xfrm>
        </p:spPr>
        <p:txBody>
          <a:bodyPr/>
          <a:lstStyle/>
          <a:p>
            <a:r>
              <a:rPr lang="en-US" altLang="ko-KR" dirty="0" err="1"/>
              <a:t>host_sw</a:t>
            </a:r>
            <a:r>
              <a:rPr lang="en-US" altLang="ko-KR" dirty="0"/>
              <a:t> code modification, verification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24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8BF70B5-BF9A-DF6E-EEAB-B40BBCB17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18" y="1797388"/>
            <a:ext cx="5473509" cy="372949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2E1715F-A268-06B9-267D-7CFA82D55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787" y="1797388"/>
            <a:ext cx="5873595" cy="290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69179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Kernel replacement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774677" cy="5029650"/>
          </a:xfrm>
        </p:spPr>
        <p:txBody>
          <a:bodyPr/>
          <a:lstStyle/>
          <a:p>
            <a:r>
              <a:rPr lang="en-US" altLang="ko-KR" dirty="0" err="1"/>
              <a:t>host_sw</a:t>
            </a:r>
            <a:r>
              <a:rPr lang="en-US" altLang="ko-KR" dirty="0"/>
              <a:t> code modification, verification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25</a:t>
            </a:fld>
            <a:endParaRPr lang="ko-KR" alt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EB4E229-9C8F-2FAE-BDC7-83BC6ECE7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72" y="1765299"/>
            <a:ext cx="5109902" cy="384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3914D7-EE82-9B49-279A-9C05CF815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105" y="1714276"/>
            <a:ext cx="5413693" cy="389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3728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23024</TotalTime>
  <Words>833</Words>
  <Application>Microsoft Office PowerPoint</Application>
  <PresentationFormat>와이드스크린</PresentationFormat>
  <Paragraphs>282</Paragraphs>
  <Slides>25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나눔스퀘어 ExtraBold</vt:lpstr>
      <vt:lpstr>맑은 고딕</vt:lpstr>
      <vt:lpstr>맑은 고딕</vt:lpstr>
      <vt:lpstr>Arial</vt:lpstr>
      <vt:lpstr>Helvetica</vt:lpstr>
      <vt:lpstr>Office 테마</vt:lpstr>
      <vt:lpstr>Understanding HLS Design  based on the Vitis Tutorial-2</vt:lpstr>
      <vt:lpstr>Table of Contents</vt:lpstr>
      <vt:lpstr>Basic Data Flow in AES</vt:lpstr>
      <vt:lpstr>Connectivity</vt:lpstr>
      <vt:lpstr>Connectivity</vt:lpstr>
      <vt:lpstr>Connectivity</vt:lpstr>
      <vt:lpstr>Connectivity</vt:lpstr>
      <vt:lpstr>Connectivity</vt:lpstr>
      <vt:lpstr>Connectivity</vt:lpstr>
      <vt:lpstr>Testbench</vt:lpstr>
      <vt:lpstr>Testbench Diagram</vt:lpstr>
      <vt:lpstr>XRT API Call</vt:lpstr>
      <vt:lpstr>XRT API Call</vt:lpstr>
      <vt:lpstr>XRT API Call</vt:lpstr>
      <vt:lpstr>Device Map</vt:lpstr>
      <vt:lpstr>Device Map</vt:lpstr>
      <vt:lpstr>Device Map</vt:lpstr>
      <vt:lpstr>Kernel replacement</vt:lpstr>
      <vt:lpstr>Kernel replacement</vt:lpstr>
      <vt:lpstr>Kernel replacement</vt:lpstr>
      <vt:lpstr>Kernel replacement</vt:lpstr>
      <vt:lpstr>Kernel replacement</vt:lpstr>
      <vt:lpstr>Kernel replacement</vt:lpstr>
      <vt:lpstr>Kernel replacement</vt:lpstr>
      <vt:lpstr>Kernel replacement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AIHA</dc:title>
  <dc:creator>Jungwook Choi</dc:creator>
  <cp:lastModifiedBy>서원빈</cp:lastModifiedBy>
  <cp:revision>732</cp:revision>
  <dcterms:created xsi:type="dcterms:W3CDTF">2020-05-23T05:02:16Z</dcterms:created>
  <dcterms:modified xsi:type="dcterms:W3CDTF">2023-07-27T05:52:19Z</dcterms:modified>
</cp:coreProperties>
</file>