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11" r:id="rId2"/>
    <p:sldId id="921" r:id="rId3"/>
    <p:sldId id="913" r:id="rId4"/>
    <p:sldId id="906" r:id="rId5"/>
    <p:sldId id="907" r:id="rId6"/>
    <p:sldId id="908" r:id="rId7"/>
    <p:sldId id="909" r:id="rId8"/>
    <p:sldId id="910" r:id="rId9"/>
    <p:sldId id="912" r:id="rId10"/>
    <p:sldId id="258" r:id="rId11"/>
    <p:sldId id="264" r:id="rId12"/>
    <p:sldId id="265" r:id="rId13"/>
    <p:sldId id="266" r:id="rId14"/>
    <p:sldId id="268" r:id="rId15"/>
    <p:sldId id="269" r:id="rId16"/>
    <p:sldId id="271" r:id="rId17"/>
    <p:sldId id="915" r:id="rId18"/>
    <p:sldId id="917" r:id="rId19"/>
    <p:sldId id="918" r:id="rId20"/>
    <p:sldId id="919" r:id="rId21"/>
    <p:sldId id="920" r:id="rId22"/>
    <p:sldId id="916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521415D9-36F7-43E2-AB2F-B90AF26B5E84}">
      <p14:sectionLst xmlns:p14="http://schemas.microsoft.com/office/powerpoint/2010/main">
        <p14:section name="기본 구역" id="{79EC3014-5C36-4D62-919A-2D761B62A78E}">
          <p14:sldIdLst>
            <p14:sldId id="311"/>
            <p14:sldId id="921"/>
            <p14:sldId id="913"/>
            <p14:sldId id="906"/>
            <p14:sldId id="907"/>
            <p14:sldId id="908"/>
            <p14:sldId id="909"/>
            <p14:sldId id="910"/>
            <p14:sldId id="912"/>
            <p14:sldId id="258"/>
            <p14:sldId id="264"/>
            <p14:sldId id="265"/>
            <p14:sldId id="266"/>
            <p14:sldId id="268"/>
            <p14:sldId id="269"/>
            <p14:sldId id="271"/>
            <p14:sldId id="915"/>
            <p14:sldId id="917"/>
            <p14:sldId id="918"/>
            <p14:sldId id="919"/>
            <p14:sldId id="920"/>
            <p14:sldId id="9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5"/>
    <a:srgbClr val="FFECAF"/>
    <a:srgbClr val="FFE07D"/>
    <a:srgbClr val="FFD54F"/>
    <a:srgbClr val="EAB200"/>
    <a:srgbClr val="B88C00"/>
    <a:srgbClr val="826300"/>
    <a:srgbClr val="423200"/>
    <a:srgbClr val="FFCC29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5788" autoAdjust="0"/>
  </p:normalViewPr>
  <p:slideViewPr>
    <p:cSldViewPr snapToGrid="0">
      <p:cViewPr varScale="1">
        <p:scale>
          <a:sx n="110" d="100"/>
          <a:sy n="110" d="100"/>
        </p:scale>
        <p:origin x="106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/>
              <a:t>Main Title</a:t>
            </a:r>
            <a:endParaRPr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/>
              <a:t>이름</a:t>
            </a:r>
            <a:endParaRPr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/>
              <a:t>Sub title</a:t>
            </a: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r>
              <a:rPr err="1"/>
              <a:t>본문</a:t>
            </a:r>
            <a:r>
              <a:t> 첫 </a:t>
            </a:r>
            <a:r>
              <a:rPr err="1"/>
              <a:t>번째</a:t>
            </a:r>
            <a:r>
              <a:t> 줄</a:t>
            </a:r>
          </a:p>
          <a:p>
            <a:pPr lvl="1"/>
            <a:r>
              <a:rPr err="1"/>
              <a:t>본문</a:t>
            </a:r>
            <a:r>
              <a:t> 두 </a:t>
            </a:r>
            <a:r>
              <a:rPr err="1"/>
              <a:t>번째</a:t>
            </a:r>
            <a:r>
              <a:t> 줄</a:t>
            </a:r>
          </a:p>
          <a:p>
            <a:pPr lvl="2"/>
            <a:r>
              <a:rPr err="1"/>
              <a:t>본문</a:t>
            </a:r>
            <a:r>
              <a:t> 세 </a:t>
            </a:r>
            <a:r>
              <a:rPr err="1"/>
              <a:t>번째</a:t>
            </a:r>
            <a:r>
              <a:t> 줄</a:t>
            </a:r>
          </a:p>
          <a:p>
            <a:pPr lvl="3"/>
            <a:r>
              <a:rPr err="1"/>
              <a:t>본문</a:t>
            </a:r>
            <a:r>
              <a:t> 네 </a:t>
            </a:r>
            <a:r>
              <a:rPr err="1"/>
              <a:t>번째</a:t>
            </a:r>
            <a:r>
              <a:t> 줄</a:t>
            </a:r>
          </a:p>
          <a:p>
            <a:pPr lvl="4"/>
            <a:r>
              <a:rPr err="1"/>
              <a:t>본문</a:t>
            </a:r>
            <a:r>
              <a:t> </a:t>
            </a:r>
            <a:r>
              <a:rPr err="1"/>
              <a:t>다섯</a:t>
            </a:r>
            <a:r>
              <a:t> </a:t>
            </a:r>
            <a:r>
              <a:rPr err="1"/>
              <a:t>번째</a:t>
            </a:r>
            <a:r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5400" dirty="0"/>
              <a:t>Data Analysis for Optimal Configuration</a:t>
            </a:r>
            <a:endParaRPr lang="ko-KR" altLang="en-US" sz="4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A36C9-71D5-4E11-8E8B-DD270C8A89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sz="4400" dirty="0" err="1"/>
              <a:t>Dongbeom</a:t>
            </a:r>
            <a:r>
              <a:rPr lang="en-US" altLang="ko-KR" sz="4400" dirty="0"/>
              <a:t> Son / </a:t>
            </a:r>
            <a:r>
              <a:rPr lang="en-US" altLang="ko-KR" sz="4400" dirty="0" err="1"/>
              <a:t>Wonbin</a:t>
            </a:r>
            <a:r>
              <a:rPr lang="en-US" altLang="ko-KR" sz="4400" dirty="0"/>
              <a:t> Seo / </a:t>
            </a:r>
            <a:r>
              <a:rPr lang="en-US" altLang="ko-KR" sz="4400" dirty="0" err="1"/>
              <a:t>Sumin</a:t>
            </a:r>
            <a:r>
              <a:rPr lang="en-US" altLang="ko-KR" sz="4400" dirty="0"/>
              <a:t> Lee</a:t>
            </a:r>
          </a:p>
          <a:p>
            <a:r>
              <a:rPr lang="en-US" altLang="ko-KR" sz="2800" dirty="0">
                <a:hlinkClick r:id="rId3"/>
              </a:rPr>
              <a:t>bumin35@hanyang.ac.kr</a:t>
            </a:r>
            <a:r>
              <a:rPr lang="en-US" altLang="ko-KR" sz="2800" dirty="0"/>
              <a:t> / </a:t>
            </a:r>
            <a:r>
              <a:rPr lang="en-US" altLang="ko-KR" sz="2800" dirty="0">
                <a:hlinkClick r:id="rId4"/>
              </a:rPr>
              <a:t>kkyou123@hanyang.ac.kr</a:t>
            </a:r>
            <a:r>
              <a:rPr lang="en-US" altLang="ko-KR" sz="2800" dirty="0"/>
              <a:t> / </a:t>
            </a:r>
            <a:r>
              <a:rPr lang="en-US" altLang="ko-KR" sz="2800" dirty="0">
                <a:hlinkClick r:id="rId5"/>
              </a:rPr>
              <a:t>slbiog3025@hanyang.ac.kr</a:t>
            </a:r>
            <a:endParaRPr lang="en-US" altLang="ko-KR" sz="3600" dirty="0"/>
          </a:p>
          <a:p>
            <a:r>
              <a:rPr lang="en-US" altLang="ko-KR" sz="3600" dirty="0"/>
              <a:t>2023 </a:t>
            </a:r>
            <a:r>
              <a:rPr lang="en-US" altLang="ko-KR" sz="3600" dirty="0" err="1"/>
              <a:t>aiha</a:t>
            </a:r>
            <a:r>
              <a:rPr lang="en-US" altLang="ko-KR" sz="3600" dirty="0"/>
              <a:t>-intern</a:t>
            </a:r>
            <a:endParaRPr lang="ko-KR" altLang="en-US" sz="36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 Intern 2023 NPU</a:t>
            </a:r>
          </a:p>
        </p:txBody>
      </p:sp>
    </p:spTree>
    <p:extLst>
      <p:ext uri="{BB962C8B-B14F-4D97-AF65-F5344CB8AC3E}">
        <p14:creationId xmlns:p14="http://schemas.microsoft.com/office/powerpoint/2010/main" val="14823954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7921E-F17E-9413-F158-70DE9FB9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36113-BB87-A4C9-E2FA-9ACF6CA5F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1147313"/>
            <a:ext cx="5257798" cy="5029650"/>
          </a:xfrm>
        </p:spPr>
        <p:txBody>
          <a:bodyPr/>
          <a:lstStyle/>
          <a:p>
            <a:r>
              <a:rPr lang="en-US" altLang="ko-KR" sz="1600" kern="100" dirty="0">
                <a:solidFill>
                  <a:srgbClr val="000000"/>
                </a:solidFill>
                <a:effectLst/>
                <a:latin typeface="한양신명조"/>
                <a:cs typeface="Times New Roman" panose="02020603050405020304" pitchFamily="18" charset="0"/>
              </a:rPr>
              <a:t>Hardware Structure &amp; Data Flow</a:t>
            </a:r>
          </a:p>
          <a:p>
            <a:endParaRPr lang="en-US" altLang="ko-KR" kern="100" dirty="0">
              <a:latin typeface="한양신명조"/>
              <a:cs typeface="Times New Roman" panose="02020603050405020304" pitchFamily="18" charset="0"/>
            </a:endParaRPr>
          </a:p>
          <a:p>
            <a:r>
              <a:rPr lang="en-US" altLang="ko-KR" sz="1600" dirty="0"/>
              <a:t>Variables</a:t>
            </a:r>
          </a:p>
          <a:p>
            <a:pPr lvl="1"/>
            <a:r>
              <a:rPr lang="en-US" altLang="ko-KR" dirty="0"/>
              <a:t>Tile length [t]</a:t>
            </a:r>
          </a:p>
          <a:p>
            <a:pPr lvl="1"/>
            <a:r>
              <a:rPr lang="en-US" altLang="ko-KR" sz="1400" dirty="0"/>
              <a:t>Tile row [r]</a:t>
            </a:r>
          </a:p>
          <a:p>
            <a:pPr lvl="1"/>
            <a:r>
              <a:rPr lang="en-US" altLang="ko-KR" sz="1400" dirty="0"/>
              <a:t>PE</a:t>
            </a:r>
            <a:r>
              <a:rPr lang="ko-KR" altLang="en-US" sz="1400" dirty="0"/>
              <a:t> </a:t>
            </a:r>
            <a:r>
              <a:rPr lang="en-US" altLang="ko-KR" sz="1400" dirty="0"/>
              <a:t>set</a:t>
            </a:r>
            <a:r>
              <a:rPr lang="ko-KR" altLang="en-US" sz="1400" dirty="0"/>
              <a:t> </a:t>
            </a:r>
            <a:r>
              <a:rPr lang="en-US" altLang="ko-KR" sz="1400" dirty="0"/>
              <a:t>[s]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Net Table for VGG16 and ResNet50</a:t>
            </a:r>
          </a:p>
          <a:p>
            <a:endParaRPr lang="en-US" altLang="ko-KR" dirty="0"/>
          </a:p>
          <a:p>
            <a:r>
              <a:rPr lang="en-US" altLang="ko-KR" dirty="0"/>
              <a:t>Prerequisites</a:t>
            </a:r>
          </a:p>
          <a:p>
            <a:endParaRPr lang="en-US" altLang="ko-KR" dirty="0"/>
          </a:p>
          <a:p>
            <a:r>
              <a:rPr lang="en-US" altLang="ko-KR" dirty="0"/>
              <a:t>Optimal Configuration Table per Layer</a:t>
            </a:r>
          </a:p>
          <a:p>
            <a:endParaRPr lang="en-US" altLang="ko-KR" dirty="0"/>
          </a:p>
          <a:p>
            <a:r>
              <a:rPr lang="en-US" altLang="ko-KR" dirty="0"/>
              <a:t>Configuration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6EA2A-7402-2013-9921-0E20DD4F32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98AB2E28-491E-A0C6-2101-8AAD669D8B25}"/>
              </a:ext>
            </a:extLst>
          </p:cNvPr>
          <p:cNvSpPr txBox="1">
            <a:spLocks/>
          </p:cNvSpPr>
          <p:nvPr/>
        </p:nvSpPr>
        <p:spPr>
          <a:xfrm>
            <a:off x="6095999" y="1149449"/>
            <a:ext cx="577863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Correlation between Best Configuration and Other Layers</a:t>
            </a:r>
          </a:p>
          <a:p>
            <a:pPr hangingPunct="1"/>
            <a:endParaRPr lang="en-US" altLang="ko-KR" kern="100" dirty="0">
              <a:latin typeface="한양신명조"/>
              <a:cs typeface="Times New Roman" panose="02020603050405020304" pitchFamily="18" charset="0"/>
            </a:endParaRPr>
          </a:p>
          <a:p>
            <a:pPr hangingPunct="1"/>
            <a:r>
              <a:rPr lang="en-US" altLang="ko-KR" dirty="0"/>
              <a:t>Resnet50 optimal configuration</a:t>
            </a:r>
          </a:p>
          <a:p>
            <a:pPr hangingPunct="1"/>
            <a:endParaRPr lang="en-US" altLang="ko-KR" dirty="0"/>
          </a:p>
          <a:p>
            <a:pPr hangingPunct="1"/>
            <a:r>
              <a:rPr lang="en-US" altLang="ko-K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0018641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kern="100" dirty="0">
                <a:solidFill>
                  <a:srgbClr val="000000"/>
                </a:solidFill>
                <a:effectLst/>
                <a:latin typeface="한양신명조"/>
                <a:cs typeface="Times New Roman" panose="02020603050405020304" pitchFamily="18" charset="0"/>
              </a:rPr>
              <a:t>Hardware Structure &amp; Data Flow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CA4DB-5C9B-A772-2AD6-44E7CEEA5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297" y="1147312"/>
            <a:ext cx="10509506" cy="4993995"/>
          </a:xfrm>
        </p:spPr>
        <p:txBody>
          <a:bodyPr>
            <a:normAutofit/>
          </a:bodyPr>
          <a:lstStyle/>
          <a:p>
            <a:endParaRPr lang="ko-KR" altLang="ko-KR" sz="2200" kern="100" dirty="0">
              <a:solidFill>
                <a:srgbClr val="000000"/>
              </a:solidFill>
              <a:effectLst/>
              <a:latin typeface="한양신명조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ko-KR" altLang="ko-KR" sz="1800" kern="100" dirty="0">
              <a:solidFill>
                <a:srgbClr val="000000"/>
              </a:solidFill>
              <a:effectLst/>
              <a:latin typeface="한양신명조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ko-KR" altLang="ko-KR" sz="1800" kern="100" dirty="0">
              <a:solidFill>
                <a:srgbClr val="000000"/>
              </a:solidFill>
              <a:effectLst/>
              <a:latin typeface="한양신명조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15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17D4C7-CAFB-50D1-086F-999918C56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3" y="1933700"/>
            <a:ext cx="6038882" cy="2990600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FF8F3348-7094-4EEF-E060-86C6AD5F8CB4}"/>
              </a:ext>
            </a:extLst>
          </p:cNvPr>
          <p:cNvGrpSpPr/>
          <p:nvPr/>
        </p:nvGrpSpPr>
        <p:grpSpPr>
          <a:xfrm>
            <a:off x="2895152" y="1456154"/>
            <a:ext cx="2930884" cy="527579"/>
            <a:chOff x="3583129" y="1207985"/>
            <a:chExt cx="2930884" cy="527579"/>
          </a:xfrm>
        </p:grpSpPr>
        <p:sp>
          <p:nvSpPr>
            <p:cNvPr id="23" name="왼쪽 중괄호 22">
              <a:extLst>
                <a:ext uri="{FF2B5EF4-FFF2-40B4-BE49-F238E27FC236}">
                  <a16:creationId xmlns:a16="http://schemas.microsoft.com/office/drawing/2014/main" id="{FB6D6E9F-1CF1-1518-CDC7-8A3FD00921DF}"/>
                </a:ext>
              </a:extLst>
            </p:cNvPr>
            <p:cNvSpPr/>
            <p:nvPr/>
          </p:nvSpPr>
          <p:spPr>
            <a:xfrm rot="5400000">
              <a:off x="4970699" y="192250"/>
              <a:ext cx="155744" cy="2930884"/>
            </a:xfrm>
            <a:prstGeom prst="leftBrace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1335E0A-3389-F90B-02C7-061CA0A870F3}"/>
                </a:ext>
              </a:extLst>
            </p:cNvPr>
            <p:cNvSpPr txBox="1"/>
            <p:nvPr/>
          </p:nvSpPr>
          <p:spPr>
            <a:xfrm>
              <a:off x="4979158" y="1207985"/>
              <a:ext cx="62702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8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rPr>
                <a:t>r</a:t>
              </a:r>
              <a:endParaRPr kumimoji="0" lang="ko-KR" altLang="en-US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E791C890-D43B-5EE8-4C79-B09FFC2B78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941" b="8106"/>
          <a:stretch/>
        </p:blipFill>
        <p:spPr>
          <a:xfrm>
            <a:off x="3148216" y="4924300"/>
            <a:ext cx="2843282" cy="100325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B21E2A5-24EB-9433-9A47-47CF89FD5D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73" t="8871" r="7554" b="7143"/>
          <a:stretch/>
        </p:blipFill>
        <p:spPr>
          <a:xfrm>
            <a:off x="6424235" y="1825484"/>
            <a:ext cx="5726977" cy="292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462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Variables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CA4DB-5C9B-A772-2AD6-44E7CEEA5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298" y="1147312"/>
            <a:ext cx="10515601" cy="49939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Tile length [t]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Tile</a:t>
            </a:r>
            <a:r>
              <a:rPr lang="ko-KR" altLang="en-US" sz="1800" dirty="0"/>
              <a:t>의 </a:t>
            </a:r>
            <a:r>
              <a:rPr lang="en-US" altLang="ko-KR" sz="1800" dirty="0"/>
              <a:t>column</a:t>
            </a:r>
            <a:r>
              <a:rPr lang="ko-KR" altLang="en-US" sz="1800" dirty="0"/>
              <a:t>과 관련이 있으며</a:t>
            </a:r>
            <a:r>
              <a:rPr lang="en-US" altLang="ko-KR" sz="1800" dirty="0"/>
              <a:t>, PE </a:t>
            </a:r>
            <a:r>
              <a:rPr lang="ko-KR" altLang="en-US" sz="1800" dirty="0"/>
              <a:t>개수와는 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무관하며</a:t>
            </a: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, PE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의 </a:t>
            </a: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FIFO depth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와 관련됨</a:t>
            </a:r>
            <a:endParaRPr lang="en-US" altLang="ko-KR" sz="1800" b="0" i="0" dirty="0"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t 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값의 </a:t>
            </a:r>
            <a:r>
              <a:rPr lang="ko-KR" altLang="en-US" sz="1800" dirty="0">
                <a:latin typeface="Arial" panose="020B0604020202020204" pitchFamily="34" charset="0"/>
              </a:rPr>
              <a:t>증가는 </a:t>
            </a:r>
            <a:r>
              <a:rPr lang="en-US" altLang="ko-KR" sz="1800" dirty="0">
                <a:latin typeface="Arial" panose="020B0604020202020204" pitchFamily="34" charset="0"/>
              </a:rPr>
              <a:t>on-chip memory usage</a:t>
            </a:r>
            <a:r>
              <a:rPr lang="ko-KR" altLang="en-US" sz="1800" dirty="0">
                <a:latin typeface="Arial" panose="020B0604020202020204" pitchFamily="34" charset="0"/>
              </a:rPr>
              <a:t>를 증가시키나</a:t>
            </a:r>
            <a:r>
              <a:rPr lang="en-US" altLang="ko-KR" sz="1800" dirty="0">
                <a:latin typeface="Arial" panose="020B0604020202020204" pitchFamily="34" charset="0"/>
              </a:rPr>
              <a:t>, tile </a:t>
            </a:r>
            <a:r>
              <a:rPr lang="ko-KR" altLang="en-US" sz="1800" dirty="0">
                <a:latin typeface="Arial" panose="020B0604020202020204" pitchFamily="34" charset="0"/>
              </a:rPr>
              <a:t>크기가 늘어나 전체 </a:t>
            </a:r>
            <a:r>
              <a:rPr lang="en-US" altLang="ko-KR" sz="1800" dirty="0">
                <a:latin typeface="Arial" panose="020B0604020202020204" pitchFamily="34" charset="0"/>
              </a:rPr>
              <a:t>tile </a:t>
            </a:r>
            <a:r>
              <a:rPr lang="ko-KR" altLang="en-US" sz="1800" dirty="0">
                <a:latin typeface="Arial" panose="020B0604020202020204" pitchFamily="34" charset="0"/>
              </a:rPr>
              <a:t>크기가 감소하여 초기 </a:t>
            </a:r>
            <a:r>
              <a:rPr lang="en-US" altLang="ko-KR" sz="1800" dirty="0">
                <a:latin typeface="Arial" panose="020B0604020202020204" pitchFamily="34" charset="0"/>
              </a:rPr>
              <a:t>weight load</a:t>
            </a:r>
            <a:r>
              <a:rPr lang="ko-KR" altLang="en-US" sz="1800" dirty="0">
                <a:latin typeface="Arial" panose="020B0604020202020204" pitchFamily="34" charset="0"/>
              </a:rPr>
              <a:t>를 위한</a:t>
            </a:r>
            <a:r>
              <a:rPr lang="en-US" altLang="ko-KR" sz="1800" dirty="0">
                <a:latin typeface="Arial" panose="020B0604020202020204" pitchFamily="34" charset="0"/>
              </a:rPr>
              <a:t> overhead </a:t>
            </a:r>
            <a:r>
              <a:rPr lang="ko-KR" altLang="en-US" sz="1800" dirty="0">
                <a:latin typeface="Arial" panose="020B0604020202020204" pitchFamily="34" charset="0"/>
              </a:rPr>
              <a:t>감소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 </a:t>
            </a:r>
            <a:endParaRPr lang="en-US" altLang="ko-KR" sz="1800" b="0" i="0" dirty="0"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t 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값이 작을 때 </a:t>
            </a: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s 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값을 키우는 데 </a:t>
            </a:r>
            <a:r>
              <a:rPr lang="en-US" altLang="ko-KR" sz="1800" b="0" i="0" dirty="0" err="1">
                <a:effectLst/>
                <a:latin typeface="Arial" panose="020B0604020202020204" pitchFamily="34" charset="0"/>
              </a:rPr>
              <a:t>wgt</a:t>
            </a: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요구량이 증가하기 때문에 한계 존재</a:t>
            </a:r>
            <a:endParaRPr lang="en-US" altLang="ko-KR" sz="1800" b="0" i="0" dirty="0"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dirty="0">
                <a:latin typeface="Arial" panose="020B0604020202020204" pitchFamily="34" charset="0"/>
              </a:rPr>
              <a:t>t </a:t>
            </a:r>
            <a:r>
              <a:rPr lang="ko-KR" altLang="en-US" sz="1800" dirty="0">
                <a:latin typeface="Arial" panose="020B0604020202020204" pitchFamily="34" charset="0"/>
              </a:rPr>
              <a:t>값이 일정 값 이상일 경우</a:t>
            </a:r>
            <a:r>
              <a:rPr lang="en-US" altLang="ko-KR" sz="1800" dirty="0">
                <a:latin typeface="Arial" panose="020B0604020202020204" pitchFamily="34" charset="0"/>
              </a:rPr>
              <a:t>, </a:t>
            </a:r>
            <a:r>
              <a:rPr lang="en-US" altLang="ko-KR" sz="1800" dirty="0" err="1">
                <a:latin typeface="Arial" panose="020B0604020202020204" pitchFamily="34" charset="0"/>
              </a:rPr>
              <a:t>wgt</a:t>
            </a:r>
            <a:r>
              <a:rPr lang="en-US" altLang="ko-KR" sz="1800" dirty="0">
                <a:latin typeface="Arial" panose="020B0604020202020204" pitchFamily="34" charset="0"/>
              </a:rPr>
              <a:t> buffer initialization overhead (</a:t>
            </a:r>
            <a:r>
              <a:rPr lang="en-US" altLang="ko-KR" sz="1800" dirty="0" err="1">
                <a:latin typeface="Arial" panose="020B0604020202020204" pitchFamily="34" charset="0"/>
              </a:rPr>
              <a:t>ov</a:t>
            </a:r>
            <a:r>
              <a:rPr lang="en-US" altLang="ko-KR" sz="1800" dirty="0">
                <a:latin typeface="Arial" panose="020B0604020202020204" pitchFamily="34" charset="0"/>
              </a:rPr>
              <a:t> = 2)</a:t>
            </a:r>
            <a:r>
              <a:rPr lang="ko-KR" altLang="en-US" sz="1800" dirty="0">
                <a:latin typeface="Arial" panose="020B0604020202020204" pitchFamily="34" charset="0"/>
              </a:rPr>
              <a:t>를 줄이는 효과가 있음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dirty="0">
                <a:latin typeface="Arial" panose="020B0604020202020204" pitchFamily="34" charset="0"/>
              </a:rPr>
              <a:t>t</a:t>
            </a:r>
            <a:r>
              <a:rPr lang="en-US" altLang="ko-KR" sz="1800" b="0" i="0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dirty="0">
                <a:effectLst/>
                <a:latin typeface="Arial" panose="020B0604020202020204" pitchFamily="34" charset="0"/>
              </a:rPr>
              <a:t>값은</a:t>
            </a:r>
            <a:r>
              <a:rPr lang="en-US" altLang="ko-KR" sz="1800" dirty="0">
                <a:latin typeface="Arial" panose="020B0604020202020204" pitchFamily="34" charset="0"/>
              </a:rPr>
              <a:t> input usage</a:t>
            </a:r>
            <a:r>
              <a:rPr lang="ko-KR" altLang="en-US" sz="1800" dirty="0">
                <a:latin typeface="Arial" panose="020B0604020202020204" pitchFamily="34" charset="0"/>
              </a:rPr>
              <a:t>를 줄이는 역할을 수행 즉</a:t>
            </a:r>
            <a:r>
              <a:rPr lang="en-US" altLang="ko-KR" sz="1800" dirty="0">
                <a:latin typeface="Arial" panose="020B0604020202020204" pitchFamily="34" charset="0"/>
              </a:rPr>
              <a:t>, global memory</a:t>
            </a:r>
            <a:r>
              <a:rPr lang="ko-KR" altLang="en-US" sz="1800" dirty="0">
                <a:latin typeface="Arial" panose="020B0604020202020204" pitchFamily="34" charset="0"/>
              </a:rPr>
              <a:t>간 </a:t>
            </a:r>
            <a:r>
              <a:rPr lang="en-US" altLang="ko-KR" sz="1800" dirty="0">
                <a:latin typeface="Arial" panose="020B0604020202020204" pitchFamily="34" charset="0"/>
              </a:rPr>
              <a:t>communication</a:t>
            </a:r>
            <a:r>
              <a:rPr lang="ko-KR" altLang="en-US" sz="1800" dirty="0">
                <a:latin typeface="Arial" panose="020B0604020202020204" pitchFamily="34" charset="0"/>
              </a:rPr>
              <a:t>을 줄이는 </a:t>
            </a:r>
            <a:r>
              <a:rPr lang="en-US" altLang="ko-KR" sz="1800" dirty="0">
                <a:latin typeface="Arial" panose="020B0604020202020204" pitchFamily="34" charset="0"/>
              </a:rPr>
              <a:t>local buffer</a:t>
            </a:r>
            <a:r>
              <a:rPr lang="ko-KR" altLang="en-US" sz="1800" dirty="0">
                <a:latin typeface="Arial" panose="020B0604020202020204" pitchFamily="34" charset="0"/>
              </a:rPr>
              <a:t>의 수를 의미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t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값은 </a:t>
            </a: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layer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에 대해 나누어 떨어지면서 </a:t>
            </a: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input interface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가 </a:t>
            </a: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underutilize 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되지</a:t>
            </a:r>
            <a:r>
              <a:rPr lang="ko-KR" altLang="en-US" sz="1800" b="1" dirty="0">
                <a:solidFill>
                  <a:srgbClr val="FF0000"/>
                </a:solidFill>
                <a:latin typeface="NotoSansKR"/>
                <a:ea typeface="맑은 고딕"/>
              </a:rPr>
              <a:t> 않는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 크기까지 </a:t>
            </a:r>
            <a:r>
              <a:rPr lang="ko-KR" altLang="en-US" sz="1800" b="1" dirty="0">
                <a:solidFill>
                  <a:srgbClr val="FF0000"/>
                </a:solidFill>
                <a:latin typeface="NotoSansKR"/>
                <a:ea typeface="맑은 고딕"/>
              </a:rPr>
              <a:t>키워야 한다</a:t>
            </a:r>
            <a:endParaRPr lang="en-US" altLang="ko-KR" sz="1800" b="1" dirty="0">
              <a:solidFill>
                <a:srgbClr val="FF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9270719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Variables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CA4DB-5C9B-A772-2AD6-44E7CEEA5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298" y="1147312"/>
            <a:ext cx="10515601" cy="49939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/>
              <a:t>Tile row [r]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Tile</a:t>
            </a:r>
            <a:r>
              <a:rPr lang="ko-KR" altLang="en-US" sz="1800" dirty="0"/>
              <a:t>의 </a:t>
            </a:r>
            <a:r>
              <a:rPr lang="en-US" altLang="ko-KR" sz="1800" dirty="0"/>
              <a:t>row</a:t>
            </a:r>
            <a:r>
              <a:rPr lang="ko-KR" altLang="en-US" sz="1800" dirty="0"/>
              <a:t>와 직접적인 관련이 있으며</a:t>
            </a:r>
            <a:r>
              <a:rPr lang="en-US" altLang="ko-KR" sz="1800" dirty="0"/>
              <a:t>, input usage</a:t>
            </a:r>
            <a:r>
              <a:rPr lang="ko-KR" altLang="en-US" sz="1800" dirty="0"/>
              <a:t>와 직접적인 연관이 있다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r </a:t>
            </a:r>
            <a:r>
              <a:rPr lang="ko-KR" altLang="en-US" sz="1800" dirty="0"/>
              <a:t>값이 증가하면 </a:t>
            </a:r>
            <a:r>
              <a:rPr lang="en-US" altLang="ko-KR" sz="1800" dirty="0"/>
              <a:t>PE </a:t>
            </a:r>
            <a:r>
              <a:rPr lang="ko-KR" altLang="en-US" sz="1800" dirty="0"/>
              <a:t>개수가 증가하여 한 번에 처리할 수 있는 </a:t>
            </a:r>
            <a:r>
              <a:rPr lang="en-US" altLang="ko-KR" sz="1800" dirty="0"/>
              <a:t>data</a:t>
            </a:r>
            <a:r>
              <a:rPr lang="ko-KR" altLang="en-US" sz="1800" dirty="0"/>
              <a:t>가 증가</a:t>
            </a:r>
            <a:r>
              <a:rPr lang="en-US" altLang="ko-KR" sz="1800" dirty="0"/>
              <a:t>, input/output memory usage</a:t>
            </a:r>
            <a:r>
              <a:rPr lang="ko-KR" altLang="en-US" sz="1800" dirty="0"/>
              <a:t>를 증가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r </a:t>
            </a:r>
            <a:r>
              <a:rPr lang="ko-KR" altLang="en-US" sz="1800" dirty="0"/>
              <a:t>값의</a:t>
            </a:r>
            <a:r>
              <a:rPr lang="en-US" altLang="ko-KR" sz="1800" dirty="0"/>
              <a:t> </a:t>
            </a:r>
            <a:r>
              <a:rPr lang="ko-KR" altLang="en-US" sz="1800" dirty="0"/>
              <a:t>크기를 제한하는 것은 </a:t>
            </a:r>
            <a:r>
              <a:rPr lang="en-US" altLang="ko-KR" sz="1800" dirty="0"/>
              <a:t>input bandwidth</a:t>
            </a:r>
            <a:r>
              <a:rPr lang="ko-KR" altLang="en-US" sz="1800" dirty="0"/>
              <a:t>와 </a:t>
            </a:r>
            <a:r>
              <a:rPr lang="en-US" altLang="ko-KR" sz="1800" dirty="0"/>
              <a:t>output width</a:t>
            </a:r>
            <a:r>
              <a:rPr lang="ko-KR" altLang="en-US" sz="1800" dirty="0"/>
              <a:t>이다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t </a:t>
            </a:r>
            <a:r>
              <a:rPr lang="ko-KR" altLang="en-US" sz="1800" dirty="0"/>
              <a:t>값의 증가는</a:t>
            </a:r>
            <a:r>
              <a:rPr lang="en-US" altLang="ko-KR" sz="1800" dirty="0"/>
              <a:t> r </a:t>
            </a:r>
            <a:r>
              <a:rPr lang="ko-KR" altLang="en-US" sz="1800" dirty="0"/>
              <a:t>값의 증가로 인한 </a:t>
            </a:r>
            <a:r>
              <a:rPr lang="en-US" altLang="ko-KR" sz="1800" dirty="0"/>
              <a:t>input bandwidth problem</a:t>
            </a:r>
            <a:r>
              <a:rPr lang="ko-KR" altLang="en-US" sz="1800" dirty="0"/>
              <a:t>을 해결할 수 없다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r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값은 </a:t>
            </a: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layer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에 대해 나누어 떨어지면서</a:t>
            </a:r>
            <a:r>
              <a:rPr lang="en-US" altLang="ko-KR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, input bandwidth stall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되지 않는 가능한한 </a:t>
            </a:r>
            <a:r>
              <a:rPr lang="ko-KR" altLang="en-US" sz="1800" b="1" dirty="0">
                <a:solidFill>
                  <a:srgbClr val="FF0000"/>
                </a:solidFill>
                <a:latin typeface="NotoSansKR"/>
                <a:ea typeface="맑은 고딕"/>
              </a:rPr>
              <a:t>가장 </a:t>
            </a:r>
            <a:r>
              <a:rPr lang="ko-KR" altLang="en-US" sz="1800" b="1" i="0" dirty="0">
                <a:solidFill>
                  <a:srgbClr val="FF0000"/>
                </a:solidFill>
                <a:effectLst/>
                <a:latin typeface="NotoSansKR"/>
                <a:ea typeface="맑은 고딕"/>
              </a:rPr>
              <a:t>큰 값을 설정해야 한다</a:t>
            </a:r>
            <a:endParaRPr lang="en-US" altLang="ko-KR" sz="1800" b="1" i="0" dirty="0">
              <a:solidFill>
                <a:srgbClr val="FF0000"/>
              </a:solidFill>
              <a:effectLst/>
              <a:latin typeface="NotoSansKR"/>
              <a:ea typeface="맑은 고딕"/>
            </a:endParaRPr>
          </a:p>
          <a:p>
            <a:pPr lvl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3113157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Variables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44298" y="1147312"/>
                <a:ext cx="10515601" cy="499399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200" dirty="0"/>
                  <a:t>PE</a:t>
                </a:r>
                <a:r>
                  <a:rPr lang="ko-KR" altLang="en-US" sz="2200" dirty="0"/>
                  <a:t> </a:t>
                </a:r>
                <a:r>
                  <a:rPr lang="en-US" altLang="ko-KR" sz="2200" dirty="0"/>
                  <a:t>set</a:t>
                </a:r>
                <a:r>
                  <a:rPr lang="ko-KR" altLang="en-US" sz="2200" dirty="0"/>
                  <a:t> </a:t>
                </a:r>
                <a:r>
                  <a:rPr lang="en-US" altLang="ko-KR" sz="2200" dirty="0"/>
                  <a:t>[s]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800" dirty="0">
                    <a:ea typeface="맑은 고딕"/>
                  </a:rPr>
                  <a:t>특정 </a:t>
                </a:r>
                <a:r>
                  <a:rPr lang="en-US" altLang="ko-KR" sz="1800" dirty="0">
                    <a:ea typeface="맑은 고딕"/>
                  </a:rPr>
                  <a:t>layer</a:t>
                </a:r>
                <a:r>
                  <a:rPr lang="ko-KR" altLang="en-US" sz="1800" dirty="0">
                    <a:ea typeface="맑은 고딕"/>
                  </a:rPr>
                  <a:t>에서</a:t>
                </a:r>
                <a:r>
                  <a:rPr lang="en-US" altLang="ko-KR" sz="1800" dirty="0">
                    <a:ea typeface="맑은 고딕"/>
                  </a:rPr>
                  <a:t>, input feature map</a:t>
                </a:r>
                <a:r>
                  <a:rPr lang="ko-KR" altLang="en-US" sz="1800" dirty="0">
                    <a:ea typeface="맑은 고딕"/>
                  </a:rPr>
                  <a:t>의 크기가 작아 </a:t>
                </a:r>
                <a:r>
                  <a:rPr lang="en-US" altLang="ko-KR" sz="1800" dirty="0">
                    <a:ea typeface="맑은 고딕"/>
                  </a:rPr>
                  <a:t>t, r </a:t>
                </a:r>
                <a:r>
                  <a:rPr lang="ko-KR" altLang="en-US" sz="1800" dirty="0">
                    <a:ea typeface="맑은 고딕"/>
                  </a:rPr>
                  <a:t>값의 조절만으로 </a:t>
                </a:r>
                <a:r>
                  <a:rPr lang="en-US" altLang="ko-KR" sz="1800" dirty="0">
                    <a:ea typeface="맑은 고딕"/>
                  </a:rPr>
                  <a:t>memory bandwidth utilization</a:t>
                </a:r>
                <a:r>
                  <a:rPr lang="ko-KR" altLang="en-US" sz="1800" dirty="0">
                    <a:ea typeface="맑은 고딕"/>
                  </a:rPr>
                  <a:t>을 높이기 어려워 해결을 위해 </a:t>
                </a:r>
                <a:r>
                  <a:rPr lang="en-US" altLang="ko-KR" sz="1800" dirty="0">
                    <a:ea typeface="맑은 고딕"/>
                  </a:rPr>
                  <a:t>PE array </a:t>
                </a:r>
                <a:r>
                  <a:rPr lang="ko-KR" altLang="en-US" sz="1800" dirty="0">
                    <a:ea typeface="맑은 고딕"/>
                  </a:rPr>
                  <a:t>자체의 개수를 늘려 </a:t>
                </a:r>
                <a:r>
                  <a:rPr lang="en-US" altLang="ko-KR" sz="1800" dirty="0">
                    <a:ea typeface="맑은 고딕"/>
                  </a:rPr>
                  <a:t>tile</a:t>
                </a:r>
                <a:r>
                  <a:rPr lang="ko-KR" altLang="en-US" sz="1800" dirty="0">
                    <a:ea typeface="맑은 고딕"/>
                  </a:rPr>
                  <a:t>을 병렬적으로 처리</a:t>
                </a:r>
                <a:endParaRPr lang="en-US" altLang="ko-KR" sz="1800" dirty="0">
                  <a:ea typeface="맑은 고딕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s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값은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r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값과 마찬가지로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output bandwidth utilization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과 직접적인 연관이 있다</a:t>
                </a:r>
                <a:endParaRPr lang="en-US" altLang="ko-KR" sz="1800" dirty="0">
                  <a:latin typeface="맑은 고딕"/>
                  <a:ea typeface="맑은 고딕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s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값은 한번에 </a:t>
                </a:r>
                <a:r>
                  <a:rPr lang="ko-KR" altLang="en-US" sz="1800" b="0" i="0" u="none" strike="noStrike" dirty="0" err="1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연산되는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 </a:t>
                </a:r>
                <a:r>
                  <a:rPr lang="en-US" altLang="ko-KR" sz="1800" b="0" i="0" u="none" strike="noStrike" dirty="0" err="1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wgt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 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수를 늘</a:t>
                </a:r>
                <a:r>
                  <a:rPr lang="ko-KR" altLang="en-US" sz="1800" dirty="0">
                    <a:solidFill>
                      <a:srgbClr val="000000"/>
                    </a:solidFill>
                    <a:latin typeface="맑은 고딕"/>
                    <a:ea typeface="맑은 고딕"/>
                  </a:rPr>
                  <a:t>리기 때문에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input feature map reuse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와 관련이 있다</a:t>
                </a:r>
                <a:endParaRPr lang="en-US" altLang="ko-KR" sz="1800" dirty="0">
                  <a:latin typeface="맑은 고딕"/>
                  <a:ea typeface="맑은 고딕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값의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input bandwidth usage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값이 증가함에 따라 감소한다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(r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값의 증가에 비해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input bandwidth usage 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사용량이 적다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400" dirty="0"/>
                  <a:t> </a:t>
                </a:r>
                <a:endParaRPr lang="en-US" altLang="ko-KR" sz="18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𝑠</m:t>
                    </m:r>
                    <m:r>
                      <a:rPr lang="en-US" altLang="ko-KR" sz="1800" b="0" i="1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 </m:t>
                    </m:r>
                    <m:r>
                      <a:rPr lang="en-US" altLang="ko-KR" sz="18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800" b="0" i="1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 </m:t>
                    </m:r>
                    <m:r>
                      <a:rPr lang="en-US" altLang="ko-KR" sz="1800" b="0" i="1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𝑟</m:t>
                    </m:r>
                  </m:oMath>
                </a14:m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값이 같을 때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output utilization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은 동일하다 </a:t>
                </a:r>
                <a:endParaRPr lang="en-US" altLang="ko-KR" sz="1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6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즉</a:t>
                </a:r>
                <a:r>
                  <a:rPr lang="en-US" altLang="ko-KR" sz="16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r=4, s=32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output </a:t>
                </a:r>
                <a:r>
                  <a:rPr lang="en-US" altLang="ko-KR" sz="1600" b="0" i="0" u="none" strike="noStrike" dirty="0">
                    <a:solidFill>
                      <a:srgbClr val="00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utilization = r=2, s=64 output utilization)</a:t>
                </a:r>
                <a:r>
                  <a:rPr lang="en-US" altLang="ko-KR" dirty="0"/>
                  <a:t> </a:t>
                </a:r>
                <a:endParaRPr lang="en-US" altLang="ko-KR" sz="1600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t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값을 증가시킴으로써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s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값으로 인한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(</a:t>
                </a:r>
                <a:r>
                  <a:rPr lang="en-US" altLang="ko-KR" sz="1800" b="0" i="0" u="none" strike="noStrike" dirty="0" err="1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wgt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 input </a:t>
                </a:r>
                <a:r>
                  <a:rPr lang="en-US" altLang="ko-KR" sz="1800" dirty="0">
                    <a:solidFill>
                      <a:srgbClr val="000000"/>
                    </a:solidFill>
                    <a:latin typeface="맑은 고딕"/>
                    <a:ea typeface="맑은 고딕"/>
                  </a:rPr>
                  <a:t>bandwidth 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usage)</a:t>
                </a:r>
                <a:r>
                  <a:rPr lang="ko-KR" altLang="en-US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를 감소시킬 수 있다</a:t>
                </a:r>
                <a:r>
                  <a:rPr lang="en-US" altLang="ko-KR" sz="1800" b="0" i="0" u="none" strike="noStrike" dirty="0">
                    <a:solidFill>
                      <a:srgbClr val="000000"/>
                    </a:solidFill>
                    <a:effectLst/>
                    <a:latin typeface="맑은 고딕"/>
                    <a:ea typeface="맑은 고딕"/>
                  </a:rPr>
                  <a:t>.</a:t>
                </a:r>
                <a:r>
                  <a:rPr lang="ko-KR" altLang="en-US" sz="1400" dirty="0">
                    <a:ea typeface="맑은 고딕"/>
                  </a:rPr>
                  <a:t> </a:t>
                </a:r>
                <a:endParaRPr lang="en-US" altLang="ko-KR" sz="1800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</a:t>
                </a:r>
                <a:r>
                  <a:rPr lang="ko-KR" altLang="en-US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값은 </a:t>
                </a: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input stall</a:t>
                </a:r>
                <a:r>
                  <a:rPr lang="ko-KR" altLang="en-US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피하면서 </a:t>
                </a: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output bandwidth usage</a:t>
                </a:r>
                <a:r>
                  <a:rPr lang="ko-KR" altLang="en-US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증가시키기 위한 수단으로써 사용할 수 있다</a:t>
                </a: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input stall</a:t>
                </a:r>
                <a:r>
                  <a:rPr lang="ko-KR" altLang="en-US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 발생하지 않는 한 </a:t>
                </a: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 </a:t>
                </a:r>
                <a:r>
                  <a:rPr lang="ko-KR" altLang="en-US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값을 우선적으로 키우는 것이 </a:t>
                </a: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complexity </a:t>
                </a:r>
                <a:r>
                  <a:rPr lang="ko-KR" altLang="en-US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측면에서 좋다</a:t>
                </a:r>
                <a:r>
                  <a:rPr lang="en-US" altLang="ko-KR" sz="1800" b="1" i="0" u="none" strike="noStrike" dirty="0">
                    <a:solidFill>
                      <a:srgbClr val="FF0000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endParaRPr lang="en-US" altLang="ko-KR" sz="1800" dirty="0">
                  <a:solidFill>
                    <a:srgbClr val="FF0000"/>
                  </a:solidFill>
                </a:endParaRPr>
              </a:p>
              <a:p>
                <a:pPr lvl="1"/>
                <a:endParaRPr lang="en-US" altLang="ko-KR" sz="180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44298" y="1147312"/>
                <a:ext cx="10515601" cy="4993995"/>
              </a:xfrm>
              <a:blipFill>
                <a:blip r:embed="rId2"/>
                <a:stretch>
                  <a:fillRect l="-986" r="-116" b="-3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6792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Net Table for VGG16 and ResNet50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AF0FC02-6711-6AA3-C94E-F024998A27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648113"/>
              </p:ext>
            </p:extLst>
          </p:nvPr>
        </p:nvGraphicFramePr>
        <p:xfrm>
          <a:off x="838200" y="1393005"/>
          <a:ext cx="10515600" cy="473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550390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18701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04396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539612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77223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</a:t>
                      </a:r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 </a:t>
                      </a:r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ch.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8516918"/>
                  </a:ext>
                </a:extLst>
              </a:tr>
              <a:tr h="370840">
                <a:tc rowSpan="8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444117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373394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70120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33024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923274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325617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24790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5544379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627072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620518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299264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42486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5519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Prerequisites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CA4DB-5C9B-A772-2AD6-44E7CEEA5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298" y="1147312"/>
            <a:ext cx="10515601" cy="499399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모든 </a:t>
            </a:r>
            <a:r>
              <a:rPr lang="en-US" altLang="ko-KR" sz="2000" dirty="0"/>
              <a:t>configuration</a:t>
            </a:r>
            <a:r>
              <a:rPr lang="ko-KR" altLang="en-US" sz="2000" dirty="0"/>
              <a:t>은 </a:t>
            </a:r>
            <a:r>
              <a:rPr lang="en-US" altLang="ko-KR" sz="2000" dirty="0"/>
              <a:t>PE utilization (</a:t>
            </a:r>
            <a:r>
              <a:rPr lang="en-US" altLang="ko-KR" sz="2000" dirty="0" err="1"/>
              <a:t>pe_util</a:t>
            </a:r>
            <a:r>
              <a:rPr lang="en-US" altLang="ko-KR" sz="2000" dirty="0"/>
              <a:t>) * Output utilization (</a:t>
            </a:r>
            <a:r>
              <a:rPr lang="en-US" altLang="ko-KR" sz="2000" dirty="0" err="1"/>
              <a:t>o_util</a:t>
            </a:r>
            <a:r>
              <a:rPr lang="en-US" altLang="ko-KR" sz="2000" dirty="0"/>
              <a:t>) * Output utilization </a:t>
            </a:r>
            <a:r>
              <a:rPr lang="ko-KR" altLang="en-US" sz="2000" dirty="0"/>
              <a:t>값을 기준으로 선정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1700" dirty="0"/>
              <a:t>PE </a:t>
            </a:r>
            <a:r>
              <a:rPr lang="ko-KR" altLang="en-US" sz="1700" dirty="0"/>
              <a:t>개수를 늘려 </a:t>
            </a:r>
            <a:r>
              <a:rPr lang="en-US" altLang="ko-KR" sz="1700" dirty="0"/>
              <a:t>output utilization</a:t>
            </a:r>
            <a:r>
              <a:rPr lang="ko-KR" altLang="en-US" sz="1700" dirty="0"/>
              <a:t>을 극대화 </a:t>
            </a:r>
            <a:r>
              <a:rPr lang="en-US" altLang="ko-KR" sz="1700" dirty="0"/>
              <a:t>(latency</a:t>
            </a:r>
            <a:r>
              <a:rPr lang="ko-KR" altLang="en-US" sz="1700" dirty="0"/>
              <a:t>의 감소</a:t>
            </a:r>
            <a:r>
              <a:rPr lang="en-US" altLang="ko-KR" sz="1700" dirty="0"/>
              <a:t>)</a:t>
            </a:r>
            <a:r>
              <a:rPr lang="ko-KR" altLang="en-US" sz="1700" dirty="0"/>
              <a:t>하는 것이 목표</a:t>
            </a:r>
            <a:endParaRPr lang="en-US" altLang="ko-KR" sz="1700" dirty="0"/>
          </a:p>
          <a:p>
            <a:pPr lvl="1">
              <a:lnSpc>
                <a:spcPct val="150000"/>
              </a:lnSpc>
            </a:pPr>
            <a:r>
              <a:rPr lang="ko-KR" altLang="en-US" sz="1700" dirty="0"/>
              <a:t>다만</a:t>
            </a:r>
            <a:r>
              <a:rPr lang="en-US" altLang="ko-KR" sz="1700" dirty="0"/>
              <a:t>, </a:t>
            </a:r>
            <a:r>
              <a:rPr lang="ko-KR" altLang="en-US" sz="1700" dirty="0"/>
              <a:t>극단적으로</a:t>
            </a:r>
            <a:r>
              <a:rPr lang="en-US" altLang="ko-KR" sz="1700" dirty="0"/>
              <a:t> PE utilization</a:t>
            </a:r>
            <a:r>
              <a:rPr lang="ko-KR" altLang="en-US" sz="1700" dirty="0"/>
              <a:t>이 낮으면 곤란하기 때문에 </a:t>
            </a:r>
            <a:r>
              <a:rPr lang="en-US" altLang="ko-KR" sz="1700" dirty="0"/>
              <a:t>PE utilization</a:t>
            </a:r>
            <a:r>
              <a:rPr lang="ko-KR" altLang="en-US" sz="1700" dirty="0"/>
              <a:t>을 기준에 포함</a:t>
            </a:r>
            <a:endParaRPr lang="en-US" altLang="ko-KR" sz="1700" dirty="0"/>
          </a:p>
          <a:p>
            <a:pPr lvl="1">
              <a:lnSpc>
                <a:spcPct val="150000"/>
              </a:lnSpc>
            </a:pPr>
            <a:endParaRPr lang="en-US" altLang="ko-KR" sz="17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Configuration</a:t>
            </a:r>
            <a:r>
              <a:rPr lang="ko-KR" altLang="en-US" sz="2000" dirty="0"/>
              <a:t> </a:t>
            </a:r>
            <a:r>
              <a:rPr lang="en-US" altLang="ko-KR" sz="2000" dirty="0"/>
              <a:t>Table</a:t>
            </a:r>
            <a:r>
              <a:rPr lang="ko-KR" altLang="en-US" sz="2000" dirty="0"/>
              <a:t>은 </a:t>
            </a:r>
            <a:r>
              <a:rPr lang="en-US" altLang="ko-KR" sz="2000" dirty="0"/>
              <a:t>layer </a:t>
            </a:r>
            <a:r>
              <a:rPr lang="ko-KR" altLang="en-US" sz="2000" dirty="0"/>
              <a:t>별로 </a:t>
            </a:r>
            <a:r>
              <a:rPr lang="en-US" altLang="ko-KR" sz="2000" dirty="0"/>
              <a:t>input/output bandwidth</a:t>
            </a:r>
            <a:r>
              <a:rPr lang="ko-KR" altLang="en-US" sz="2000" dirty="0"/>
              <a:t>를 조절하였을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변화를</a:t>
            </a:r>
            <a:r>
              <a:rPr lang="en-US" altLang="ko-KR" sz="2000" dirty="0"/>
              <a:t> </a:t>
            </a:r>
            <a:r>
              <a:rPr lang="ko-KR" altLang="en-US" sz="2000" dirty="0"/>
              <a:t>살펴보고 이를 통한 각각의 </a:t>
            </a:r>
            <a:r>
              <a:rPr lang="en-US" altLang="ko-KR" sz="2000" dirty="0"/>
              <a:t>parameter</a:t>
            </a:r>
            <a:r>
              <a:rPr lang="ko-KR" altLang="en-US" sz="2000" dirty="0"/>
              <a:t>들의 성질을 얘기해 볼 수 있음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1700" dirty="0"/>
              <a:t>input/output = 85%, input/output = 70%, input = 85%, output = 65%</a:t>
            </a:r>
          </a:p>
          <a:p>
            <a:pPr lvl="1">
              <a:lnSpc>
                <a:spcPct val="150000"/>
              </a:lnSpc>
            </a:pPr>
            <a:r>
              <a:rPr lang="en-US" altLang="ko-KR" sz="1700" dirty="0" err="1">
                <a:ea typeface="맑은 고딕"/>
              </a:rPr>
              <a:t>i</a:t>
            </a:r>
            <a:r>
              <a:rPr lang="en-US" altLang="ko-KR" sz="1700" dirty="0">
                <a:ea typeface="맑은 고딕"/>
              </a:rPr>
              <a:t>/o = </a:t>
            </a:r>
            <a:r>
              <a:rPr lang="en-US" altLang="ko-KR" sz="1700" dirty="0"/>
              <a:t>85%</a:t>
            </a:r>
            <a:r>
              <a:rPr lang="en-US" altLang="ko-KR" sz="1700" dirty="0">
                <a:ea typeface="맑은 고딕"/>
              </a:rPr>
              <a:t>, </a:t>
            </a:r>
            <a:r>
              <a:rPr lang="en-US" altLang="ko-KR" sz="1700" dirty="0" err="1">
                <a:ea typeface="맑은 고딕"/>
              </a:rPr>
              <a:t>i</a:t>
            </a:r>
            <a:r>
              <a:rPr lang="en-US" altLang="ko-KR" sz="1700" dirty="0">
                <a:ea typeface="맑은 고딕"/>
              </a:rPr>
              <a:t>/o = </a:t>
            </a:r>
            <a:r>
              <a:rPr lang="en-US" altLang="ko-KR" sz="1700" dirty="0"/>
              <a:t>70%</a:t>
            </a:r>
            <a:r>
              <a:rPr lang="ko-KR" altLang="en-US" sz="1700" dirty="0">
                <a:ea typeface="맑은 고딕"/>
              </a:rPr>
              <a:t>의 두 가지 경우</a:t>
            </a:r>
            <a:r>
              <a:rPr lang="en-US" altLang="ko-KR" sz="1700" dirty="0">
                <a:ea typeface="맑은 고딕"/>
              </a:rPr>
              <a:t>, bandwidth </a:t>
            </a:r>
            <a:r>
              <a:rPr lang="ko-KR" altLang="en-US" sz="1700" dirty="0">
                <a:ea typeface="맑은 고딕"/>
              </a:rPr>
              <a:t>감소 시 </a:t>
            </a:r>
            <a:r>
              <a:rPr lang="en-US" altLang="ko-KR" sz="1700" dirty="0">
                <a:ea typeface="맑은 고딕"/>
              </a:rPr>
              <a:t>optimal configuration</a:t>
            </a:r>
            <a:r>
              <a:rPr lang="ko-KR" altLang="en-US" sz="1700" dirty="0">
                <a:ea typeface="맑은 고딕"/>
              </a:rPr>
              <a:t>의 변화를 보여주기 위함</a:t>
            </a:r>
            <a:endParaRPr lang="en-US" altLang="ko-KR" sz="1700" dirty="0">
              <a:ea typeface="맑은 고딕"/>
            </a:endParaRPr>
          </a:p>
          <a:p>
            <a:pPr lvl="1">
              <a:lnSpc>
                <a:spcPct val="150000"/>
              </a:lnSpc>
            </a:pPr>
            <a:r>
              <a:rPr lang="en-US" altLang="ko-KR" sz="1700" dirty="0" err="1"/>
              <a:t>i</a:t>
            </a:r>
            <a:r>
              <a:rPr lang="en-US" altLang="ko-KR" sz="1700" dirty="0"/>
              <a:t> = 85%, o = 65% </a:t>
            </a:r>
            <a:r>
              <a:rPr lang="ko-KR" altLang="en-US" sz="1700" dirty="0"/>
              <a:t>의 경우 실험적으로 얻은 </a:t>
            </a:r>
            <a:r>
              <a:rPr lang="en-US" altLang="ko-KR" sz="1700" dirty="0"/>
              <a:t>bandwidth utilization</a:t>
            </a:r>
            <a:r>
              <a:rPr lang="ko-KR" altLang="en-US" sz="1700" dirty="0"/>
              <a:t>이기 때문에 삽입</a:t>
            </a:r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14769869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Prerequisites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44297" y="1147312"/>
                <a:ext cx="5438515" cy="499399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/>
                  <a:t>PE Utilization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𝑖𝑑𝑒𝑎𝑙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𝑐𝑦𝑐𝑙𝑒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{"/>
                            <m:endChr m:val="}"/>
                            <m:ctrlPr>
                              <a:rPr lang="ko-KR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𝑜𝑢𝑡𝑝𝑢𝑡</m:t>
                            </m:r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𝑠𝑖𝑧𝑒</m:t>
                            </m:r>
                          </m:e>
                        </m:d>
                      </m:num>
                      <m:den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×# 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𝑜𝑓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𝑝𝑒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}</m:t>
                        </m:r>
                      </m:den>
                    </m:f>
                    <m:r>
                      <a:rPr lang="en-US" altLang="ko-KR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ko-KR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HY신명조" panose="02030600000101010101" pitchFamily="18" charset="-127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ko-KR" altLang="ko-KR" sz="1800" kern="100" dirty="0">
                  <a:solidFill>
                    <a:srgbClr val="000000"/>
                  </a:solidFill>
                  <a:effectLst/>
                  <a:latin typeface="한양신명조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𝑟𝑢𝑛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𝑐𝑦𝑐𝑙𝑒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ko-KR" sz="1800" b="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HY신명조" panose="02030600000101010101" pitchFamily="18" charset="-127"/>
                  <a:cs typeface="Times New Roman" panose="02020603050405020304" pitchFamily="18" charset="0"/>
                </a:endParaRPr>
              </a:p>
              <a:p>
                <a:pPr marL="371465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ko-KR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ko-KR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ko-KR" sz="18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𝑃𝐸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𝑢𝑡𝑖𝑙𝑖𝑧𝑎𝑡𝑖𝑜𝑛</m:t>
                    </m:r>
                    <m:r>
                      <a:rPr lang="en-US" altLang="ko-KR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ko-KR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𝑖𝑑𝑒𝑎𝑙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𝑐𝑦𝑐𝑙𝑒</m:t>
                        </m:r>
                      </m:num>
                      <m:den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𝑟𝑢𝑛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ko-KR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HY신명조" panose="02030600000101010101" pitchFamily="18" charset="-127"/>
                            <a:cs typeface="Times New Roman" panose="02020603050405020304" pitchFamily="18" charset="0"/>
                          </a:rPr>
                          <m:t>𝑐𝑦𝑐𝑙𝑒</m:t>
                        </m:r>
                      </m:den>
                    </m:f>
                  </m:oMath>
                </a14:m>
                <a:endParaRPr lang="en-US" altLang="ko-KR" sz="1800" kern="100" dirty="0">
                  <a:solidFill>
                    <a:srgbClr val="000000"/>
                  </a:solidFill>
                  <a:effectLst/>
                  <a:latin typeface="한양신명조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kern="100" dirty="0">
                    <a:latin typeface="한양신명조"/>
                    <a:cs typeface="Times New Roman" panose="02020603050405020304" pitchFamily="18" charset="0"/>
                  </a:rPr>
                  <a:t>Output Utilization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𝑖𝑑𝑒𝑎𝑙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𝐵𝑌𝑇𝐸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altLang="ko-KR" sz="18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𝐵𝑌𝑇𝐸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altLang="ko-KR" sz="1800" i="1">
                        <a:latin typeface="Cambria Math" panose="02040503050406030204" pitchFamily="18" charset="0"/>
                      </a:rPr>
                      <m:t>⌉×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sz="1800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altLang="ko-KR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𝑢𝑡𝑖𝑙𝑖𝑧𝑎𝑡𝑖𝑜𝑛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𝑖𝑑𝑒𝑎𝑙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𝑜𝑢𝑝𝑡𝑢𝑡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𝑜𝑢𝑡𝑝𝑢𝑡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den>
                    </m:f>
                  </m:oMath>
                </a14:m>
                <a:endParaRPr lang="en-US" altLang="ko-KR" sz="2000" kern="100" dirty="0">
                  <a:solidFill>
                    <a:srgbClr val="000000"/>
                  </a:solidFill>
                  <a:effectLst/>
                  <a:latin typeface="한양신명조"/>
                  <a:cs typeface="Times New Roman" panose="02020603050405020304" pitchFamily="18" charset="0"/>
                </a:endParaRPr>
              </a:p>
              <a:p>
                <a:pPr lvl="1"/>
                <a:endParaRPr lang="ko-KR" altLang="ko-KR" sz="2000" kern="100" dirty="0">
                  <a:solidFill>
                    <a:srgbClr val="000000"/>
                  </a:solidFill>
                  <a:effectLst/>
                  <a:latin typeface="한양신명조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ko-KR" altLang="ko-KR" sz="1800" kern="100" dirty="0">
                  <a:solidFill>
                    <a:srgbClr val="000000"/>
                  </a:solidFill>
                  <a:effectLst/>
                  <a:latin typeface="한양신명조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ko-KR" altLang="ko-KR" sz="1800" kern="100" dirty="0">
                  <a:solidFill>
                    <a:srgbClr val="000000"/>
                  </a:solidFill>
                  <a:effectLst/>
                  <a:latin typeface="한양신명조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5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44297" y="1147312"/>
                <a:ext cx="5438515" cy="4993995"/>
              </a:xfrm>
              <a:blipFill>
                <a:blip r:embed="rId2"/>
                <a:stretch>
                  <a:fillRect l="-1457" r="-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텍스트 개체 틀 2">
                <a:extLst>
                  <a:ext uri="{FF2B5EF4-FFF2-40B4-BE49-F238E27FC236}">
                    <a16:creationId xmlns:a16="http://schemas.microsoft.com/office/drawing/2014/main" id="{FCF1BC29-B437-B058-7E47-2284E0B01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77895" y="1147311"/>
                <a:ext cx="5438515" cy="49939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45719" rIns="45719">
                <a:normAutofit/>
              </a:bodyPr>
              <a:lstStyle>
                <a:lvl1pPr marL="185733" marR="0" indent="-18573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1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1pPr>
                <a:lvl2pPr marL="586525" marR="0" indent="-215060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2pPr>
                <a:lvl3pPr marL="998314" marR="0" indent="-255383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3pPr>
                <a:lvl4pPr marL="1406264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4pPr>
                <a:lvl5pPr marL="1777730" marR="0" indent="-291866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맑은 고딕" panose="020B0503020000020004" pitchFamily="50" charset="-127"/>
                  <a:buChar char="–"/>
                  <a:tabLst/>
                  <a:defRPr sz="1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5pPr>
                <a:lvl6pPr marL="214919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6pPr>
                <a:lvl7pPr marL="2520661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7pPr>
                <a:lvl8pPr marL="2892126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8pPr>
                <a:lvl9pPr marL="3263593" marR="0" indent="-291867" algn="l" defTabSz="742932" rtl="0" latinLnBrk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Pct val="100000"/>
                  <a:buFont typeface="Arial"/>
                  <a:buChar char="•"/>
                  <a:tabLst/>
                  <a:defRPr sz="22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맑은 고딕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ko-KR" sz="1700" dirty="0"/>
                  <a:t>Input Usage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𝐼𝐹𝑀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𝑢𝑠𝑎𝑔𝑒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𝑊𝐺𝑇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𝑢𝑠𝑎𝑔𝑒</m:t>
                        </m:r>
                      </m:e>
                    </m:d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sz="1500" b="0" i="1" dirty="0">
                  <a:latin typeface="Cambria Math" panose="02040503050406030204" pitchFamily="18" charset="0"/>
                </a:endParaRPr>
              </a:p>
              <a:p>
                <a:pPr marL="371465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𝐼𝐹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𝐶𝐿𝐾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altLang="ko-KR" sz="15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500" b="0" i="1" smtClean="0">
                                  <a:latin typeface="Cambria Math" panose="02040503050406030204" pitchFamily="18" charset="0"/>
                                </a:rPr>
                                <m:t>𝑜𝑣𝑒𝑟h𝑒𝑎𝑑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5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700" kern="100" dirty="0">
                    <a:latin typeface="한양신명조"/>
                    <a:cs typeface="Times New Roman" panose="02020603050405020304" pitchFamily="18" charset="0"/>
                  </a:rPr>
                  <a:t>Output Usage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𝐼𝐹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𝐶𝐿𝐾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4×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𝑜𝑣𝑒𝑟h𝑒𝑎𝑑</m:t>
                            </m:r>
                          </m:e>
                        </m:d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den>
                    </m:f>
                  </m:oMath>
                </a14:m>
                <a:endParaRPr lang="ko-KR" altLang="ko-KR" sz="1500" kern="100" dirty="0">
                  <a:latin typeface="한양신명조"/>
                  <a:cs typeface="Times New Roman" panose="02020603050405020304" pitchFamily="18" charset="0"/>
                </a:endParaRPr>
              </a:p>
              <a:p>
                <a:pPr lvl="1" hangingPunct="1">
                  <a:lnSpc>
                    <a:spcPct val="150000"/>
                  </a:lnSpc>
                </a:pPr>
                <a:endParaRPr lang="ko-KR" altLang="ko-KR" sz="1800" kern="100" dirty="0">
                  <a:latin typeface="한양신명조"/>
                  <a:cs typeface="Times New Roman" panose="02020603050405020304" pitchFamily="18" charset="0"/>
                </a:endParaRPr>
              </a:p>
              <a:p>
                <a:pPr lvl="1" hangingPunct="1">
                  <a:lnSpc>
                    <a:spcPct val="150000"/>
                  </a:lnSpc>
                </a:pPr>
                <a:endParaRPr lang="ko-KR" altLang="ko-KR" sz="1800" kern="100" dirty="0">
                  <a:latin typeface="한양신명조"/>
                  <a:cs typeface="Times New Roman" panose="02020603050405020304" pitchFamily="18" charset="0"/>
                </a:endParaRPr>
              </a:p>
              <a:p>
                <a:pPr lvl="1" hangingPunct="1">
                  <a:lnSpc>
                    <a:spcPct val="150000"/>
                  </a:lnSpc>
                </a:pPr>
                <a:endParaRPr lang="en-US" altLang="ko-KR" sz="1500" dirty="0"/>
              </a:p>
            </p:txBody>
          </p:sp>
        </mc:Choice>
        <mc:Fallback>
          <p:sp>
            <p:nvSpPr>
              <p:cNvPr id="4" name="텍스트 개체 틀 2">
                <a:extLst>
                  <a:ext uri="{FF2B5EF4-FFF2-40B4-BE49-F238E27FC236}">
                    <a16:creationId xmlns:a16="http://schemas.microsoft.com/office/drawing/2014/main" id="{FCF1BC29-B437-B058-7E47-2284E0B01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895" y="1147311"/>
                <a:ext cx="5438515" cy="4993995"/>
              </a:xfrm>
              <a:prstGeom prst="rect">
                <a:avLst/>
              </a:prstGeom>
              <a:blipFill>
                <a:blip r:embed="rId3"/>
                <a:stretch>
                  <a:fillRect l="-145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47551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Optimal Configuration Table per Layer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443560"/>
              </p:ext>
            </p:extLst>
          </p:nvPr>
        </p:nvGraphicFramePr>
        <p:xfrm>
          <a:off x="0" y="2408903"/>
          <a:ext cx="12191998" cy="4462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840509">
                  <a:extLst>
                    <a:ext uri="{9D8B030D-6E8A-4147-A177-3AD203B41FA5}">
                      <a16:colId xmlns:a16="http://schemas.microsoft.com/office/drawing/2014/main" val="1334681704"/>
                    </a:ext>
                  </a:extLst>
                </a:gridCol>
                <a:gridCol w="864665">
                  <a:extLst>
                    <a:ext uri="{9D8B030D-6E8A-4147-A177-3AD203B41FA5}">
                      <a16:colId xmlns:a16="http://schemas.microsoft.com/office/drawing/2014/main" val="277236987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5870574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60101407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93684339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574472670"/>
                    </a:ext>
                  </a:extLst>
                </a:gridCol>
                <a:gridCol w="999660">
                  <a:extLst>
                    <a:ext uri="{9D8B030D-6E8A-4147-A177-3AD203B41FA5}">
                      <a16:colId xmlns:a16="http://schemas.microsoft.com/office/drawing/2014/main" val="1484245621"/>
                    </a:ext>
                  </a:extLst>
                </a:gridCol>
                <a:gridCol w="876032">
                  <a:extLst>
                    <a:ext uri="{9D8B030D-6E8A-4147-A177-3AD203B41FA5}">
                      <a16:colId xmlns:a16="http://schemas.microsoft.com/office/drawing/2014/main" val="4538768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74934497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73834933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90877007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4019251651"/>
                    </a:ext>
                  </a:extLst>
                </a:gridCol>
              </a:tblGrid>
              <a:tr h="548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opt. config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(t, r, s)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(112,28,32)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(112,28,32)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(112,28,64)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(112,28,64)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(56,28,128)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(56,28,128)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(28,28,256)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(56,28,32)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(28,28,64)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(7,7,64)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236123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472245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118062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236123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59392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118784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60311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65536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14848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16384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49469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7749111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96.55%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96.55%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47.54%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96.55%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93.33%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57.96%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48.94%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11.26%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96.08%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22.52%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23.27%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9.85%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89.67%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59.12%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59.12%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63.71%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63.71%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91.66%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91.66%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64.27%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90.44%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output_usage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48.94%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11.26%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96.08%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22.52%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12A76C-2D5F-92C9-AD53-A97D0F55A731}"/>
              </a:ext>
            </a:extLst>
          </p:cNvPr>
          <p:cNvSpPr txBox="1"/>
          <p:nvPr/>
        </p:nvSpPr>
        <p:spPr>
          <a:xfrm>
            <a:off x="838200" y="1642815"/>
            <a:ext cx="11018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1. Input/Output bandwidth utilization = 85%, overhead = 2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05871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Optimal Configuration Table per Layer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828604"/>
              </p:ext>
            </p:extLst>
          </p:nvPr>
        </p:nvGraphicFramePr>
        <p:xfrm>
          <a:off x="0" y="2398260"/>
          <a:ext cx="12191998" cy="4473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840509">
                  <a:extLst>
                    <a:ext uri="{9D8B030D-6E8A-4147-A177-3AD203B41FA5}">
                      <a16:colId xmlns:a16="http://schemas.microsoft.com/office/drawing/2014/main" val="1334681704"/>
                    </a:ext>
                  </a:extLst>
                </a:gridCol>
                <a:gridCol w="864665">
                  <a:extLst>
                    <a:ext uri="{9D8B030D-6E8A-4147-A177-3AD203B41FA5}">
                      <a16:colId xmlns:a16="http://schemas.microsoft.com/office/drawing/2014/main" val="277236987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5870574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60101407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93684339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574472670"/>
                    </a:ext>
                  </a:extLst>
                </a:gridCol>
                <a:gridCol w="999660">
                  <a:extLst>
                    <a:ext uri="{9D8B030D-6E8A-4147-A177-3AD203B41FA5}">
                      <a16:colId xmlns:a16="http://schemas.microsoft.com/office/drawing/2014/main" val="1484245621"/>
                    </a:ext>
                  </a:extLst>
                </a:gridCol>
                <a:gridCol w="876032">
                  <a:extLst>
                    <a:ext uri="{9D8B030D-6E8A-4147-A177-3AD203B41FA5}">
                      <a16:colId xmlns:a16="http://schemas.microsoft.com/office/drawing/2014/main" val="4538768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74934497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73834933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90877007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4019251651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opt. config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(t, r, s)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(112,23,32)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(112,23,32)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(112,23,64)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(112,23,64)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(56,28,128)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(56,28,128)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(28,28,256)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(14,28,32)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(28,28,64)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(7,7,32)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294400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588800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147200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294400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71680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143360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73235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76069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73728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7749111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94.85%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94.85%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94.85%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94.85%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39.15%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75.38%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75.38%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77.78%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48.94%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11.78%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92.38%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92.38%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92.38%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92.38%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19.16%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8.88%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17.76%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60.91%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60.91%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92.22%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92.22%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94.13%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91.52%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48.94%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11.78%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12A76C-2D5F-92C9-AD53-A97D0F55A731}"/>
              </a:ext>
            </a:extLst>
          </p:cNvPr>
          <p:cNvSpPr txBox="1"/>
          <p:nvPr/>
        </p:nvSpPr>
        <p:spPr>
          <a:xfrm>
            <a:off x="838200" y="1642815"/>
            <a:ext cx="11018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2. Input/Output bandwidth utilization = 70%, overhead = 2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795361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Optimal Configuration Table per Layer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632699"/>
              </p:ext>
            </p:extLst>
          </p:nvPr>
        </p:nvGraphicFramePr>
        <p:xfrm>
          <a:off x="0" y="2384776"/>
          <a:ext cx="12191998" cy="4473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840509">
                  <a:extLst>
                    <a:ext uri="{9D8B030D-6E8A-4147-A177-3AD203B41FA5}">
                      <a16:colId xmlns:a16="http://schemas.microsoft.com/office/drawing/2014/main" val="1334681704"/>
                    </a:ext>
                  </a:extLst>
                </a:gridCol>
                <a:gridCol w="864665">
                  <a:extLst>
                    <a:ext uri="{9D8B030D-6E8A-4147-A177-3AD203B41FA5}">
                      <a16:colId xmlns:a16="http://schemas.microsoft.com/office/drawing/2014/main" val="277236987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5870574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60101407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93684339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574472670"/>
                    </a:ext>
                  </a:extLst>
                </a:gridCol>
                <a:gridCol w="999660">
                  <a:extLst>
                    <a:ext uri="{9D8B030D-6E8A-4147-A177-3AD203B41FA5}">
                      <a16:colId xmlns:a16="http://schemas.microsoft.com/office/drawing/2014/main" val="1484245621"/>
                    </a:ext>
                  </a:extLst>
                </a:gridCol>
                <a:gridCol w="876032">
                  <a:extLst>
                    <a:ext uri="{9D8B030D-6E8A-4147-A177-3AD203B41FA5}">
                      <a16:colId xmlns:a16="http://schemas.microsoft.com/office/drawing/2014/main" val="4538768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74934497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73834933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90877007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4019251651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opt. config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(28,45,16)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(28,45,16)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(28,23,64)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(28,23,64)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(56,56,64)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(56,56,64)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(28,28,256)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(14,28,32)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(28,28,64)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(7,7,64)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310154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620308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158524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317047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77194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154388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60311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65536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16384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49469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7749111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92.03%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92.03%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88.08%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88.08%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47.54%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57.96%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99.56%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99.56%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91.62%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91.62%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85.78%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85.78%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30.42%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12.88%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25.77%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2.83%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94.31%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94.31%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78.73%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78.73%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96.08%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96.08%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74.91%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71.98%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12A76C-2D5F-92C9-AD53-A97D0F55A731}"/>
              </a:ext>
            </a:extLst>
          </p:cNvPr>
          <p:cNvSpPr txBox="1"/>
          <p:nvPr/>
        </p:nvSpPr>
        <p:spPr>
          <a:xfrm>
            <a:off x="838200" y="1642815"/>
            <a:ext cx="11018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3. Input bandwidth utilization = 85%, Output bandwidth utilization = 65%, overhead = 2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26421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55DA6-8D24-AF02-6EBB-D231DE3C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E84CB0-6E44-A5B8-ADE3-3FBBB5742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dirty="0">
                <a:ea typeface="맑은 고딕"/>
              </a:rPr>
              <a:t>상위 </a:t>
            </a:r>
            <a:r>
              <a:rPr lang="en-US" altLang="ko-KR" dirty="0">
                <a:ea typeface="맑은 고딕"/>
              </a:rPr>
              <a:t>Layer (CONV_V1 ~ V6/CONV_R1, 2)</a:t>
            </a:r>
            <a:r>
              <a:rPr lang="ko-KR" altLang="en-US" dirty="0">
                <a:ea typeface="맑은 고딕"/>
              </a:rPr>
              <a:t>의 경우</a:t>
            </a:r>
            <a:r>
              <a:rPr lang="en-US" altLang="ko-KR" dirty="0">
                <a:ea typeface="맑은 고딕"/>
              </a:rPr>
              <a:t>, t</a:t>
            </a:r>
            <a:r>
              <a:rPr lang="ko-KR" altLang="en-US" dirty="0">
                <a:ea typeface="맑은 고딕"/>
              </a:rPr>
              <a:t>의 값을 </a:t>
            </a:r>
            <a:r>
              <a:rPr lang="en-US" altLang="ko-KR" dirty="0">
                <a:ea typeface="맑은 고딕"/>
              </a:rPr>
              <a:t>output width</a:t>
            </a:r>
            <a:r>
              <a:rPr lang="ko-KR" altLang="en-US" dirty="0">
                <a:ea typeface="맑은 고딕"/>
              </a:rPr>
              <a:t>만큼 늘릴 수 있음 → 높은 </a:t>
            </a:r>
            <a:r>
              <a:rPr lang="en-US" altLang="ko-KR" dirty="0">
                <a:ea typeface="맑은 고딕"/>
              </a:rPr>
              <a:t>t </a:t>
            </a:r>
            <a:r>
              <a:rPr lang="ko-KR" altLang="en-US" dirty="0">
                <a:ea typeface="맑은 고딕"/>
              </a:rPr>
              <a:t>값을 바탕으로 </a:t>
            </a:r>
            <a:r>
              <a:rPr lang="en-US" altLang="ko-KR" dirty="0">
                <a:ea typeface="맑은 고딕"/>
              </a:rPr>
              <a:t>input usage</a:t>
            </a:r>
            <a:r>
              <a:rPr lang="ko-KR" altLang="en-US" dirty="0">
                <a:ea typeface="맑은 고딕"/>
              </a:rPr>
              <a:t>를 낮추는 것이 가능하지만</a:t>
            </a:r>
            <a:r>
              <a:rPr lang="en-US" altLang="ko-KR" dirty="0">
                <a:ea typeface="맑은 고딕"/>
              </a:rPr>
              <a:t>, input usage</a:t>
            </a:r>
            <a:r>
              <a:rPr lang="ko-KR" altLang="en-US" dirty="0">
                <a:ea typeface="맑은 고딕"/>
              </a:rPr>
              <a:t>를 전부 활용하지 못할 경우 </a:t>
            </a:r>
            <a:r>
              <a:rPr lang="en-US" altLang="ko-KR" dirty="0">
                <a:ea typeface="맑은 고딕"/>
              </a:rPr>
              <a:t>t</a:t>
            </a:r>
            <a:r>
              <a:rPr lang="ko-KR" altLang="en-US" dirty="0">
                <a:ea typeface="맑은 고딕"/>
              </a:rPr>
              <a:t> 값의 증가가 의미 없을 수 있음</a:t>
            </a:r>
            <a:endParaRPr lang="en-US" altLang="ko-KR" dirty="0">
              <a:ea typeface="맑은 고딕"/>
            </a:endParaRP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t </a:t>
            </a:r>
            <a:r>
              <a:rPr lang="ko-KR" altLang="en-US" sz="1800" dirty="0"/>
              <a:t>값의 증가는 </a:t>
            </a:r>
            <a:r>
              <a:rPr lang="en-US" altLang="ko-KR" sz="1800" dirty="0"/>
              <a:t>data reuse</a:t>
            </a:r>
            <a:r>
              <a:rPr lang="ko-KR" altLang="en-US" sz="1800" dirty="0"/>
              <a:t>를 높여 </a:t>
            </a:r>
            <a:r>
              <a:rPr lang="en-US" altLang="ko-KR" sz="1800" dirty="0"/>
              <a:t>input</a:t>
            </a:r>
            <a:r>
              <a:rPr lang="ko-KR" altLang="en-US" sz="1800" dirty="0"/>
              <a:t> </a:t>
            </a:r>
            <a:r>
              <a:rPr lang="en-US" altLang="ko-KR" sz="1800" dirty="0"/>
              <a:t>bandwidth usage</a:t>
            </a:r>
            <a:r>
              <a:rPr lang="ko-KR" altLang="en-US" sz="1800" dirty="0"/>
              <a:t>를 줄이는 것이 목표</a:t>
            </a:r>
            <a:endParaRPr lang="en-US" altLang="ko-KR" sz="1800" dirty="0"/>
          </a:p>
          <a:p>
            <a:pPr lvl="1">
              <a:lnSpc>
                <a:spcPct val="160000"/>
              </a:lnSpc>
            </a:pPr>
            <a:r>
              <a:rPr lang="ko-KR" altLang="en-US" sz="1800" dirty="0"/>
              <a:t>얻은 </a:t>
            </a:r>
            <a:r>
              <a:rPr lang="en-US" altLang="ko-KR" sz="1800" dirty="0"/>
              <a:t>input usage</a:t>
            </a:r>
            <a:r>
              <a:rPr lang="ko-KR" altLang="en-US" sz="1800" dirty="0"/>
              <a:t>는 </a:t>
            </a:r>
            <a:r>
              <a:rPr lang="en-US" altLang="ko-KR" sz="1800" dirty="0"/>
              <a:t>r, s </a:t>
            </a:r>
            <a:r>
              <a:rPr lang="ko-KR" altLang="en-US" sz="1800" dirty="0"/>
              <a:t>값의 증가를 통해 </a:t>
            </a:r>
            <a:r>
              <a:rPr lang="en-US" altLang="ko-KR" sz="1800" dirty="0"/>
              <a:t>input feature map</a:t>
            </a:r>
            <a:r>
              <a:rPr lang="ko-KR" altLang="en-US" sz="1800" dirty="0"/>
              <a:t>과 </a:t>
            </a:r>
            <a:r>
              <a:rPr lang="en-US" altLang="ko-KR" sz="1800" dirty="0"/>
              <a:t>weight</a:t>
            </a:r>
            <a:r>
              <a:rPr lang="ko-KR" altLang="en-US" sz="1800" dirty="0"/>
              <a:t>를 요구</a:t>
            </a:r>
            <a:r>
              <a:rPr lang="en-US" altLang="ko-KR" sz="1800" dirty="0"/>
              <a:t>, </a:t>
            </a:r>
            <a:r>
              <a:rPr lang="ko-KR" altLang="en-US" sz="1800" dirty="0"/>
              <a:t>확보한 </a:t>
            </a:r>
            <a:r>
              <a:rPr lang="en-US" altLang="ko-KR" sz="1800" dirty="0"/>
              <a:t>input usage</a:t>
            </a:r>
            <a:r>
              <a:rPr lang="ko-KR" altLang="en-US" sz="1800" dirty="0"/>
              <a:t>를 사용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0641116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55DA6-8D24-AF02-6EBB-D231DE3C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E84CB0-6E44-A5B8-ADE3-3FBBB5742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690689"/>
            <a:ext cx="10515601" cy="448627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200" dirty="0"/>
              <a:t>하위 </a:t>
            </a:r>
            <a:r>
              <a:rPr lang="en-US" altLang="ko-KR" sz="2200" dirty="0"/>
              <a:t>Layer (CONV_V7, 8/CONV_R3, 4)</a:t>
            </a:r>
            <a:r>
              <a:rPr lang="ko-KR" altLang="en-US" sz="2200" dirty="0"/>
              <a:t>의 경우 </a:t>
            </a:r>
            <a:r>
              <a:rPr lang="en-US" altLang="ko-KR" sz="2200" dirty="0"/>
              <a:t>t</a:t>
            </a:r>
            <a:r>
              <a:rPr lang="ko-KR" altLang="en-US" sz="2200" dirty="0"/>
              <a:t>의 최댓값이 제한되어 있어 </a:t>
            </a:r>
            <a:r>
              <a:rPr lang="en-US" altLang="ko-KR" sz="2200" dirty="0"/>
              <a:t>r, s </a:t>
            </a:r>
            <a:r>
              <a:rPr lang="ko-KR" altLang="en-US" sz="2200" dirty="0"/>
              <a:t>값을 늘리는데 제약이 있음</a:t>
            </a:r>
            <a:endParaRPr lang="en-US" altLang="ko-KR" sz="2200" dirty="0"/>
          </a:p>
          <a:p>
            <a:pPr lvl="1">
              <a:lnSpc>
                <a:spcPct val="160000"/>
              </a:lnSpc>
            </a:pP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r, s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값은 모두 </a:t>
            </a: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output utilization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을 향상시키기 위해 증가시켜야 하는 값으로</a:t>
            </a: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, 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두 값 모두 </a:t>
            </a: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output utilization 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의 증가 측면에서 동일한 효과를 가지나</a:t>
            </a: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, r 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값의 증가가 </a:t>
            </a: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input usage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를 더욱 요구하는 대신</a:t>
            </a:r>
            <a:r>
              <a:rPr lang="en-US" altLang="ko-KR" sz="1800" b="0" i="0" dirty="0">
                <a:solidFill>
                  <a:srgbClr val="1D1C1D"/>
                </a:solidFill>
                <a:effectLst/>
                <a:latin typeface="NotoSansKR"/>
              </a:rPr>
              <a:t>, area </a:t>
            </a:r>
            <a:r>
              <a:rPr lang="ko-KR" altLang="en-US" sz="1800" b="0" i="0" dirty="0">
                <a:solidFill>
                  <a:srgbClr val="1D1C1D"/>
                </a:solidFill>
                <a:effectLst/>
                <a:latin typeface="NotoSansKR"/>
              </a:rPr>
              <a:t>측면에서 장점이 있다</a:t>
            </a:r>
            <a:endParaRPr lang="en-US" altLang="ko-KR" sz="1800" b="0" i="0" dirty="0">
              <a:solidFill>
                <a:srgbClr val="1D1C1D"/>
              </a:solidFill>
              <a:effectLst/>
              <a:latin typeface="NotoSansKR"/>
            </a:endParaRPr>
          </a:p>
          <a:p>
            <a:pPr lvl="1">
              <a:lnSpc>
                <a:spcPct val="160000"/>
              </a:lnSpc>
            </a:pPr>
            <a:r>
              <a:rPr lang="en-US" altLang="ko-KR" sz="1800" dirty="0"/>
              <a:t>s </a:t>
            </a:r>
            <a:r>
              <a:rPr lang="ko-KR" altLang="en-US" sz="1800" dirty="0"/>
              <a:t>값의 증가가 </a:t>
            </a:r>
            <a:r>
              <a:rPr lang="en-US" altLang="ko-KR" sz="1800" dirty="0"/>
              <a:t>r </a:t>
            </a:r>
            <a:r>
              <a:rPr lang="ko-KR" altLang="en-US" sz="1800" dirty="0"/>
              <a:t>값의 증가에 비해 </a:t>
            </a:r>
            <a:r>
              <a:rPr lang="en-US" altLang="ko-KR" sz="1800" dirty="0"/>
              <a:t>input usage </a:t>
            </a:r>
            <a:r>
              <a:rPr lang="ko-KR" altLang="en-US" sz="1800" dirty="0" err="1"/>
              <a:t>증가량이</a:t>
            </a:r>
            <a:r>
              <a:rPr lang="ko-KR" altLang="en-US" sz="1800" dirty="0"/>
              <a:t> 낮기 때문에 하위 </a:t>
            </a:r>
            <a:r>
              <a:rPr lang="en-US" altLang="ko-KR" sz="1800" dirty="0"/>
              <a:t>Layer</a:t>
            </a:r>
            <a:r>
              <a:rPr lang="ko-KR" altLang="en-US" sz="1800" dirty="0"/>
              <a:t>에서의 </a:t>
            </a:r>
            <a:r>
              <a:rPr lang="en-US" altLang="ko-KR" sz="1800" dirty="0"/>
              <a:t>s </a:t>
            </a:r>
            <a:r>
              <a:rPr lang="ko-KR" altLang="en-US" sz="1800" dirty="0"/>
              <a:t>값 증가가 중요하다</a:t>
            </a:r>
            <a:endParaRPr lang="en-US" altLang="ko-KR" sz="1800" dirty="0"/>
          </a:p>
          <a:p>
            <a:pPr lvl="1">
              <a:lnSpc>
                <a:spcPct val="16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533035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9D1F5-E4B1-3BE1-A24E-F6D8E186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2654D-B92C-EEBB-FCA4-0082C8AD7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690689"/>
            <a:ext cx="10515601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ea typeface="맑은 고딕"/>
              </a:rPr>
              <a:t>왜 </a:t>
            </a:r>
            <a:r>
              <a:rPr lang="en-US" altLang="ko-KR" sz="2000" dirty="0">
                <a:ea typeface="맑은 고딕"/>
              </a:rPr>
              <a:t>CONV_V7, 8</a:t>
            </a:r>
            <a:r>
              <a:rPr lang="ko-KR" altLang="en-US" sz="2000" dirty="0">
                <a:ea typeface="맑은 고딕"/>
              </a:rPr>
              <a:t>의 </a:t>
            </a:r>
            <a:r>
              <a:rPr lang="en-US" altLang="ko-KR" sz="2000" dirty="0">
                <a:ea typeface="맑은 고딕"/>
              </a:rPr>
              <a:t>utilization</a:t>
            </a:r>
            <a:r>
              <a:rPr lang="ko-KR" altLang="en-US" sz="2000" dirty="0">
                <a:ea typeface="맑은 고딕"/>
              </a:rPr>
              <a:t>이 현저히 떨어지는가</a:t>
            </a:r>
            <a:r>
              <a:rPr lang="en-US" altLang="ko-KR" sz="2000" dirty="0">
                <a:ea typeface="맑은 고딕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t </a:t>
            </a:r>
            <a:r>
              <a:rPr lang="ko-KR" altLang="en-US" sz="1600" dirty="0"/>
              <a:t>값을 높임으로써 </a:t>
            </a:r>
            <a:r>
              <a:rPr lang="en-US" altLang="ko-KR" sz="1600" dirty="0" err="1"/>
              <a:t>wgt</a:t>
            </a:r>
            <a:r>
              <a:rPr lang="en-US" altLang="ko-KR" sz="1600" dirty="0"/>
              <a:t> data reuse</a:t>
            </a:r>
            <a:r>
              <a:rPr lang="ko-KR" altLang="en-US" sz="1600" dirty="0"/>
              <a:t>를 높여 </a:t>
            </a:r>
            <a:r>
              <a:rPr lang="en-US" altLang="ko-KR" sz="1600" dirty="0"/>
              <a:t>usage</a:t>
            </a:r>
            <a:r>
              <a:rPr lang="ko-KR" altLang="en-US" sz="1600" dirty="0"/>
              <a:t>를 줄일 수 있으나</a:t>
            </a:r>
            <a:r>
              <a:rPr lang="en-US" altLang="ko-KR" sz="1600" dirty="0"/>
              <a:t>, t</a:t>
            </a:r>
            <a:r>
              <a:rPr lang="ko-KR" altLang="en-US" sz="1600" dirty="0"/>
              <a:t>의 값이 </a:t>
            </a:r>
            <a:r>
              <a:rPr lang="en-US" altLang="ko-KR" sz="1600" dirty="0"/>
              <a:t>output width</a:t>
            </a:r>
            <a:r>
              <a:rPr lang="ko-KR" altLang="en-US" sz="1600" dirty="0"/>
              <a:t>보다 커지면 </a:t>
            </a:r>
            <a:r>
              <a:rPr lang="en-US" altLang="ko-KR" sz="1600" dirty="0"/>
              <a:t>PE underutilization</a:t>
            </a:r>
            <a:r>
              <a:rPr lang="ko-KR" altLang="en-US" sz="1600" dirty="0"/>
              <a:t>이 발생해 </a:t>
            </a:r>
            <a:r>
              <a:rPr lang="en-US" altLang="ko-KR" sz="1600" dirty="0"/>
              <a:t>t</a:t>
            </a:r>
            <a:r>
              <a:rPr lang="ko-KR" altLang="en-US" sz="1600" dirty="0"/>
              <a:t>값을 키울 수 없음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1700" dirty="0"/>
              <a:t>CONV_V7</a:t>
            </a:r>
            <a:r>
              <a:rPr lang="ko-KR" altLang="en-US" sz="1700" dirty="0"/>
              <a:t>의 경우 </a:t>
            </a:r>
            <a:r>
              <a:rPr lang="en-US" altLang="ko-KR" sz="1700" dirty="0"/>
              <a:t>output width = 28</a:t>
            </a:r>
            <a:r>
              <a:rPr lang="ko-KR" altLang="en-US" sz="1700" dirty="0"/>
              <a:t>이고 </a:t>
            </a:r>
            <a:r>
              <a:rPr lang="en-US" altLang="ko-KR" sz="1700" dirty="0"/>
              <a:t>configuration</a:t>
            </a:r>
            <a:r>
              <a:rPr lang="ko-KR" altLang="en-US" sz="1700" dirty="0"/>
              <a:t>에서 최대의 </a:t>
            </a:r>
            <a:r>
              <a:rPr lang="en-US" altLang="ko-KR" sz="1700" dirty="0"/>
              <a:t>t </a:t>
            </a:r>
            <a:r>
              <a:rPr lang="ko-KR" altLang="en-US" sz="1700" dirty="0"/>
              <a:t>값을 사용하고 있어 더 이상 </a:t>
            </a:r>
            <a:r>
              <a:rPr lang="en-US" altLang="ko-KR" sz="1700" dirty="0"/>
              <a:t>t</a:t>
            </a:r>
            <a:r>
              <a:rPr lang="ko-KR" altLang="en-US" sz="1700" dirty="0"/>
              <a:t>를 키울 수 없음</a:t>
            </a:r>
            <a:endParaRPr lang="en-US" altLang="ko-KR" sz="1700" dirty="0"/>
          </a:p>
          <a:p>
            <a:pPr lvl="1">
              <a:lnSpc>
                <a:spcPct val="150000"/>
              </a:lnSpc>
            </a:pPr>
            <a:r>
              <a:rPr lang="en-US" altLang="ko-KR" sz="1700" dirty="0"/>
              <a:t>r </a:t>
            </a:r>
            <a:r>
              <a:rPr lang="ko-KR" altLang="en-US" sz="1700" dirty="0"/>
              <a:t>값을 </a:t>
            </a:r>
            <a:r>
              <a:rPr lang="en-US" altLang="ko-KR" sz="1700" dirty="0"/>
              <a:t>s</a:t>
            </a:r>
            <a:r>
              <a:rPr lang="ko-KR" altLang="en-US" sz="1700" dirty="0"/>
              <a:t>로 대체하여 </a:t>
            </a:r>
            <a:r>
              <a:rPr lang="en-US" altLang="ko-KR" sz="1700" dirty="0"/>
              <a:t>input feature map</a:t>
            </a:r>
            <a:r>
              <a:rPr lang="ko-KR" altLang="en-US" sz="1700" dirty="0"/>
              <a:t>에 대한 </a:t>
            </a:r>
            <a:r>
              <a:rPr lang="en-US" altLang="ko-KR" sz="1700" dirty="0"/>
              <a:t>reuse</a:t>
            </a:r>
            <a:r>
              <a:rPr lang="ko-KR" altLang="en-US" sz="1700" dirty="0"/>
              <a:t>를 높을 수 있으나</a:t>
            </a:r>
            <a:r>
              <a:rPr lang="en-US" altLang="ko-KR" sz="1700" dirty="0"/>
              <a:t>, CONV_V7</a:t>
            </a:r>
            <a:r>
              <a:rPr lang="ko-KR" altLang="en-US" sz="1700" dirty="0"/>
              <a:t>의 경우 이미 </a:t>
            </a:r>
            <a:r>
              <a:rPr lang="en-US" altLang="ko-KR" sz="1700" dirty="0"/>
              <a:t>s </a:t>
            </a:r>
            <a:r>
              <a:rPr lang="ko-KR" altLang="en-US" sz="1700" dirty="0"/>
              <a:t>값을 최댓값인 </a:t>
            </a:r>
            <a:r>
              <a:rPr lang="en-US" altLang="ko-KR" sz="1700" dirty="0"/>
              <a:t>256</a:t>
            </a:r>
            <a:r>
              <a:rPr lang="ko-KR" altLang="en-US" sz="1700" dirty="0"/>
              <a:t>으로 사용하고 있기 때문에 불가능</a:t>
            </a:r>
            <a:endParaRPr lang="en-US" altLang="ko-KR" sz="1700" dirty="0"/>
          </a:p>
          <a:p>
            <a:pPr lvl="1">
              <a:lnSpc>
                <a:spcPct val="150000"/>
              </a:lnSpc>
            </a:pPr>
            <a:r>
              <a:rPr lang="ko-KR" altLang="en-US" sz="1700" dirty="0"/>
              <a:t>→즉</a:t>
            </a:r>
            <a:r>
              <a:rPr lang="en-US" altLang="ko-KR" sz="1700" dirty="0"/>
              <a:t>, CONV_V7, V8</a:t>
            </a:r>
            <a:r>
              <a:rPr lang="ko-KR" altLang="en-US" sz="1700" dirty="0"/>
              <a:t>은 모두 </a:t>
            </a:r>
            <a:r>
              <a:rPr lang="en-US" altLang="ko-KR" sz="1700" dirty="0"/>
              <a:t>input stall</a:t>
            </a:r>
            <a:r>
              <a:rPr lang="ko-KR" altLang="en-US" sz="1700" dirty="0"/>
              <a:t>을 해결하지 못해 </a:t>
            </a:r>
            <a:r>
              <a:rPr lang="en-US" altLang="ko-KR" sz="1700" dirty="0"/>
              <a:t>utilization</a:t>
            </a:r>
            <a:r>
              <a:rPr lang="ko-KR" altLang="en-US" sz="1700" dirty="0"/>
              <a:t>이</a:t>
            </a:r>
            <a:r>
              <a:rPr lang="en-US" altLang="ko-KR" sz="1700" dirty="0"/>
              <a:t> </a:t>
            </a:r>
            <a:r>
              <a:rPr lang="ko-KR" altLang="en-US" sz="1700" dirty="0"/>
              <a:t>떨어지는 것으로 알 수 있음</a:t>
            </a:r>
            <a:endParaRPr lang="en-US" altLang="ko-KR" sz="1700" dirty="0"/>
          </a:p>
          <a:p>
            <a:pPr lvl="1">
              <a:lnSpc>
                <a:spcPct val="150000"/>
              </a:lnSpc>
            </a:pPr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26188952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9D1F5-E4B1-3BE1-A24E-F6D8E186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DA2654D-B92C-EEBB-FCA4-0082C8AD7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7" y="1690689"/>
                <a:ext cx="10515601" cy="4351338"/>
              </a:xfrm>
            </p:spPr>
            <p:txBody>
              <a:bodyPr vert="horz" lIns="91440" tIns="45720" rIns="91440" bIns="45720" rtlCol="0" anchor="t"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ea typeface="맑은 고딕"/>
                  </a:rPr>
                  <a:t>Configuration1 </a:t>
                </a:r>
                <a:r>
                  <a:rPr lang="ko-KR" altLang="en-US" sz="2000" dirty="0" err="1">
                    <a:ea typeface="맑은 고딕"/>
                  </a:rPr>
                  <a:t>vs</a:t>
                </a:r>
                <a:r>
                  <a:rPr lang="ko-KR" altLang="en-US" sz="2000" dirty="0">
                    <a:ea typeface="맑은 고딕"/>
                  </a:rPr>
                  <a:t> </a:t>
                </a:r>
                <a:r>
                  <a:rPr lang="ko-KR" altLang="en-US" sz="2000" dirty="0" err="1">
                    <a:ea typeface="맑은 고딕"/>
                  </a:rPr>
                  <a:t>Configuration</a:t>
                </a:r>
                <a:r>
                  <a:rPr lang="ko-KR" altLang="en-US" sz="2000" dirty="0">
                    <a:ea typeface="맑은 고딕"/>
                  </a:rPr>
                  <a:t> 2</a:t>
                </a:r>
                <a:endParaRPr lang="en-US" altLang="ko-KR" sz="2000" dirty="0">
                  <a:ea typeface="맑은 고딕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ea typeface="맑은 고딕"/>
                  </a:rPr>
                  <a:t>CONV_V1, </a:t>
                </a:r>
                <a:r>
                  <a:rPr lang="ko-KR" altLang="en-US" sz="1600" dirty="0" err="1">
                    <a:ea typeface="맑은 고딕"/>
                  </a:rPr>
                  <a:t>V</a:t>
                </a:r>
                <a:r>
                  <a:rPr lang="en-US" altLang="ko-KR" sz="1600" dirty="0">
                    <a:ea typeface="맑은 고딕"/>
                  </a:rPr>
                  <a:t>2</a:t>
                </a:r>
                <a:r>
                  <a:rPr lang="ko-KR" altLang="en-US" sz="1600" dirty="0">
                    <a:ea typeface="맑은 고딕"/>
                  </a:rPr>
                  <a:t>에서 </a:t>
                </a:r>
                <a:r>
                  <a:rPr lang="en-US" altLang="ko-KR" sz="1600" dirty="0">
                    <a:ea typeface="맑은 고딕"/>
                  </a:rPr>
                  <a:t>o</a:t>
                </a:r>
                <a:r>
                  <a:rPr lang="ko-KR" altLang="en-US" sz="1600" dirty="0" err="1">
                    <a:ea typeface="맑은 고딕"/>
                  </a:rPr>
                  <a:t>utput</a:t>
                </a:r>
                <a:r>
                  <a:rPr lang="ko-KR" altLang="en-US" sz="1600" dirty="0">
                    <a:ea typeface="맑은 고딕"/>
                  </a:rPr>
                  <a:t> </a:t>
                </a:r>
                <a:r>
                  <a:rPr lang="en-US" altLang="ko-KR" sz="1600" dirty="0">
                    <a:ea typeface="맑은 고딕"/>
                  </a:rPr>
                  <a:t>b</a:t>
                </a:r>
                <a:r>
                  <a:rPr lang="ko-KR" altLang="en-US" sz="1600" dirty="0" err="1">
                    <a:ea typeface="맑은 고딕"/>
                  </a:rPr>
                  <a:t>andwidth에</a:t>
                </a:r>
                <a:r>
                  <a:rPr lang="ko-KR" altLang="en-US" sz="1600" dirty="0">
                    <a:ea typeface="맑은 고딕"/>
                  </a:rPr>
                  <a:t> 의한 </a:t>
                </a:r>
                <a:r>
                  <a:rPr lang="ko-KR" altLang="en-US" sz="1600" dirty="0" err="1">
                    <a:ea typeface="맑은 고딕"/>
                  </a:rPr>
                  <a:t>stall</a:t>
                </a:r>
                <a:r>
                  <a:rPr lang="ko-KR" altLang="en-US" sz="1600" dirty="0">
                    <a:ea typeface="맑은 고딕"/>
                  </a:rPr>
                  <a:t> 발생, </a:t>
                </a:r>
                <a:r>
                  <a:rPr lang="ko-KR" altLang="en-US" sz="1600" dirty="0" err="1">
                    <a:ea typeface="맑은 고딕"/>
                  </a:rPr>
                  <a:t>configuration</a:t>
                </a:r>
                <a:r>
                  <a:rPr lang="ko-KR" altLang="en-US" sz="1600" dirty="0">
                    <a:ea typeface="맑은 고딕"/>
                  </a:rPr>
                  <a:t> 1</a:t>
                </a:r>
                <a:r>
                  <a:rPr lang="ko-KR" sz="1600" dirty="0">
                    <a:latin typeface="Malgun Gothic"/>
                    <a:ea typeface="Malgun Gothic"/>
                  </a:rPr>
                  <a:t>→</a:t>
                </a:r>
                <a:r>
                  <a:rPr lang="ko-KR" altLang="en-US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2</a:t>
                </a:r>
                <a:r>
                  <a:rPr lang="ko-KR" altLang="en-US" sz="1600" dirty="0">
                    <a:ea typeface="맑은 고딕"/>
                  </a:rPr>
                  <a:t>의 변화로 </a:t>
                </a:r>
                <a:r>
                  <a:rPr lang="ko-KR" altLang="en-US" sz="1600" dirty="0" err="1">
                    <a:ea typeface="맑은 고딕"/>
                  </a:rPr>
                  <a:t>max</a:t>
                </a:r>
                <a:r>
                  <a:rPr lang="ko-KR" altLang="en-US" sz="1600" dirty="0">
                    <a:ea typeface="맑은 고딕"/>
                  </a:rPr>
                  <a:t> </a:t>
                </a:r>
                <a:r>
                  <a:rPr lang="ko-KR" altLang="en-US" sz="1600" dirty="0" err="1">
                    <a:ea typeface="맑은 고딕"/>
                  </a:rPr>
                  <a:t>output</a:t>
                </a:r>
                <a:r>
                  <a:rPr lang="ko-KR" altLang="en-US" sz="1600" dirty="0">
                    <a:ea typeface="맑은 고딕"/>
                  </a:rPr>
                  <a:t> </a:t>
                </a:r>
                <a:r>
                  <a:rPr lang="ko-KR" altLang="en-US" sz="1600" dirty="0" err="1">
                    <a:ea typeface="맑은 고딕"/>
                  </a:rPr>
                  <a:t>bandwidth가</a:t>
                </a:r>
                <a:r>
                  <a:rPr lang="ko-KR" altLang="en-US" sz="1600" dirty="0">
                    <a:ea typeface="맑은 고딕"/>
                  </a:rPr>
                  <a:t> 감소, 즉 </a:t>
                </a:r>
                <a:r>
                  <a:rPr lang="ko-KR" altLang="en-US" sz="1600" dirty="0" err="1">
                    <a:ea typeface="맑은 고딕"/>
                  </a:rPr>
                  <a:t>r</a:t>
                </a:r>
                <a:r>
                  <a:rPr lang="ko-KR" altLang="en-US" sz="1600" dirty="0">
                    <a:ea typeface="맑은 고딕"/>
                  </a:rPr>
                  <a:t>, </a:t>
                </a:r>
                <a:r>
                  <a:rPr lang="ko-KR" altLang="en-US" sz="1600" dirty="0" err="1">
                    <a:ea typeface="맑은 고딕"/>
                  </a:rPr>
                  <a:t>s</a:t>
                </a:r>
                <a:r>
                  <a:rPr lang="ko-KR" altLang="en-US" sz="1600" dirty="0">
                    <a:ea typeface="맑은 고딕"/>
                  </a:rPr>
                  <a:t> 값들이 낮아져도 </a:t>
                </a:r>
                <a:r>
                  <a:rPr lang="ko-KR" altLang="en-US" sz="1600" dirty="0" err="1">
                    <a:ea typeface="맑은 고딕"/>
                  </a:rPr>
                  <a:t>stall이</a:t>
                </a:r>
                <a:r>
                  <a:rPr lang="ko-KR" altLang="en-US" sz="1600" dirty="0">
                    <a:ea typeface="맑은 고딕"/>
                  </a:rPr>
                  <a:t> 발생한다면 </a:t>
                </a:r>
                <a:r>
                  <a:rPr lang="ko-KR" altLang="en-US" sz="1600" dirty="0" err="1">
                    <a:ea typeface="맑은 고딕"/>
                  </a:rPr>
                  <a:t>r</a:t>
                </a:r>
                <a:r>
                  <a:rPr lang="ko-KR" altLang="en-US" sz="1600" dirty="0">
                    <a:ea typeface="맑은 고딕"/>
                  </a:rPr>
                  <a:t>, </a:t>
                </a:r>
                <a:r>
                  <a:rPr lang="ko-KR" altLang="en-US" sz="1600" dirty="0" err="1">
                    <a:ea typeface="맑은 고딕"/>
                  </a:rPr>
                  <a:t>s</a:t>
                </a:r>
                <a:r>
                  <a:rPr lang="ko-KR" altLang="en-US" sz="1600" dirty="0">
                    <a:ea typeface="맑은 고딕"/>
                  </a:rPr>
                  <a:t> 값을 감소시키는 것이 PE </a:t>
                </a:r>
                <a:r>
                  <a:rPr lang="ko-KR" altLang="en-US" sz="1600" dirty="0" err="1">
                    <a:ea typeface="맑은 고딕"/>
                  </a:rPr>
                  <a:t>utilization</a:t>
                </a:r>
                <a:r>
                  <a:rPr lang="ko-KR" altLang="en-US" sz="1600" dirty="0">
                    <a:ea typeface="맑은 고딕"/>
                  </a:rPr>
                  <a:t> 측면에서 효과적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700" dirty="0" err="1">
                    <a:ea typeface="맑은 고딕"/>
                  </a:rPr>
                  <a:t>위의</a:t>
                </a:r>
                <a:r>
                  <a:rPr lang="en-US" altLang="ko-KR" sz="1700" dirty="0">
                    <a:ea typeface="맑은 고딕"/>
                  </a:rPr>
                  <a:t> </a:t>
                </a:r>
                <a:r>
                  <a:rPr lang="en-US" altLang="ko-KR" sz="1700" dirty="0" err="1">
                    <a:ea typeface="맑은 고딕"/>
                  </a:rPr>
                  <a:t>결과에</a:t>
                </a:r>
                <a:r>
                  <a:rPr lang="en-US" altLang="ko-KR" sz="1700" dirty="0">
                    <a:ea typeface="맑은 고딕"/>
                  </a:rPr>
                  <a:t> </a:t>
                </a:r>
                <a:r>
                  <a:rPr lang="en-US" altLang="ko-KR" sz="1700" dirty="0" err="1">
                    <a:ea typeface="맑은 고딕"/>
                  </a:rPr>
                  <a:t>따라</a:t>
                </a:r>
                <a:r>
                  <a:rPr lang="en-US" altLang="ko-KR" sz="1700" dirty="0">
                    <a:ea typeface="맑은 고딕"/>
                  </a:rPr>
                  <a:t> </a:t>
                </a:r>
                <a:r>
                  <a:rPr lang="en-US" altLang="ko-KR" sz="1700" dirty="0" err="1">
                    <a:ea typeface="맑은 고딕"/>
                  </a:rPr>
                  <a:t>underutilization이</a:t>
                </a:r>
                <a:r>
                  <a:rPr lang="en-US" altLang="ko-KR" sz="1700" dirty="0">
                    <a:ea typeface="맑은 고딕"/>
                  </a:rPr>
                  <a:t> </a:t>
                </a:r>
                <a:r>
                  <a:rPr lang="en-US" altLang="ko-KR" sz="1700" dirty="0" err="1">
                    <a:ea typeface="맑은 고딕"/>
                  </a:rPr>
                  <a:t>가장</a:t>
                </a:r>
                <a:r>
                  <a:rPr lang="en-US" altLang="ko-KR" sz="1700" dirty="0">
                    <a:ea typeface="맑은 고딕"/>
                  </a:rPr>
                  <a:t> </a:t>
                </a:r>
                <a:r>
                  <a:rPr lang="en-US" altLang="ko-KR" sz="1700" dirty="0" err="1">
                    <a:ea typeface="맑은 고딕"/>
                  </a:rPr>
                  <a:t>적은</a:t>
                </a:r>
                <a:r>
                  <a:rPr lang="en-US" altLang="ko-KR" sz="1700" dirty="0">
                    <a:ea typeface="맑은 고딕"/>
                  </a:rPr>
                  <a:t> (224/28 = 8 </a:t>
                </a:r>
                <a:r>
                  <a:rPr lang="ko-KR" sz="1600" dirty="0">
                    <a:latin typeface="Malgun Gothic"/>
                    <a:ea typeface="Malgun Gothic"/>
                  </a:rPr>
                  <a:t>→</a:t>
                </a:r>
                <a:r>
                  <a:rPr lang="ko-KR" altLang="en-US" dirty="0">
                    <a:latin typeface="Malgun Gothic"/>
                    <a:ea typeface="Malgun Gothic"/>
                  </a:rPr>
                  <a:t> </a:t>
                </a:r>
                <a:r>
                  <a:rPr lang="en-US" altLang="ko-KR" sz="1700" dirty="0">
                    <a:ea typeface="맑은 고딕"/>
                  </a:rPr>
                  <a:t>224/2 = 9.73)</a:t>
                </a:r>
                <a:r>
                  <a:rPr lang="en-US" altLang="ko-KR" sz="1700" dirty="0" err="1">
                    <a:ea typeface="맑은 고딕"/>
                  </a:rPr>
                  <a:t>으로</a:t>
                </a:r>
                <a:r>
                  <a:rPr lang="en-US" altLang="ko-KR" sz="1700" dirty="0">
                    <a:ea typeface="맑은 고딕"/>
                  </a:rPr>
                  <a:t> r </a:t>
                </a:r>
                <a:r>
                  <a:rPr lang="en-US" altLang="ko-KR" sz="1700" dirty="0" err="1">
                    <a:ea typeface="맑은 고딕"/>
                  </a:rPr>
                  <a:t>값이</a:t>
                </a:r>
                <a:r>
                  <a:rPr lang="en-US" altLang="ko-KR" sz="1700" dirty="0">
                    <a:ea typeface="맑은 고딕"/>
                  </a:rPr>
                  <a:t> </a:t>
                </a:r>
                <a:r>
                  <a:rPr lang="en-US" altLang="ko-KR" sz="1700" dirty="0" err="1">
                    <a:ea typeface="맑은 고딕"/>
                  </a:rPr>
                  <a:t>감소하는것</a:t>
                </a:r>
                <a:endParaRPr lang="en-US" altLang="ko-KR" sz="1700" dirty="0">
                  <a:ea typeface="맑은 고딕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Malgun Gothic"/>
                    <a:ea typeface="Malgun Gothic"/>
                  </a:rPr>
                  <a:t>CONV_R1의 </a:t>
                </a:r>
                <a:r>
                  <a:rPr lang="en-US" altLang="ko-KR" sz="2000" dirty="0" err="1">
                    <a:latin typeface="Malgun Gothic"/>
                    <a:ea typeface="Malgun Gothic"/>
                  </a:rPr>
                  <a:t>경우</a:t>
                </a:r>
                <a:r>
                  <a:rPr lang="en-US" altLang="ko-KR" sz="2000" dirty="0">
                    <a:latin typeface="Malgun Gothic"/>
                    <a:ea typeface="Malgun Gothic"/>
                  </a:rPr>
                  <a:t>, t = 56 </a:t>
                </a:r>
                <a:r>
                  <a:rPr lang="ko-KR" altLang="en-US" sz="2400" dirty="0">
                    <a:latin typeface="Malgun Gothic"/>
                    <a:ea typeface="Malgun Gothic"/>
                  </a:rPr>
                  <a:t>→ </a:t>
                </a:r>
                <a:r>
                  <a:rPr lang="en-US" altLang="ko-KR" sz="2000" dirty="0">
                    <a:latin typeface="Malgun Gothic"/>
                    <a:ea typeface="Malgun Gothic"/>
                  </a:rPr>
                  <a:t>t = 14로 </a:t>
                </a:r>
                <a:r>
                  <a:rPr lang="en-US" altLang="ko-KR" sz="2000" dirty="0" err="1">
                    <a:latin typeface="Malgun Gothic"/>
                    <a:ea typeface="Malgun Gothic"/>
                  </a:rPr>
                  <a:t>감소</a:t>
                </a:r>
                <a:endParaRPr lang="en-US" altLang="ko-KR" sz="2000" dirty="0">
                  <a:latin typeface="Malgun Gothic"/>
                  <a:ea typeface="Malgun Gothic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Malgun Gothic"/>
                    <a:ea typeface="Malgun Gothic"/>
                  </a:rPr>
                  <a:t>output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stall이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발생함에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 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따라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input usage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감소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 </a:t>
                </a:r>
                <a:r>
                  <a:rPr lang="ko-KR" altLang="en-US" sz="1600" dirty="0">
                    <a:latin typeface="Malgun Gothic"/>
                    <a:ea typeface="Malgun Gothic"/>
                  </a:rPr>
                  <a:t>→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 input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usage를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줄이는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것이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목적인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t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값이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낮아져도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input stall 이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발생하지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않게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되었기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때문에</a:t>
                </a:r>
                <a:r>
                  <a:rPr lang="en-US" altLang="ko-KR" sz="1600" dirty="0">
                    <a:latin typeface="Malgun Gothic"/>
                    <a:ea typeface="Malgun Gothic"/>
                  </a:rPr>
                  <a:t> </a:t>
                </a:r>
                <a:r>
                  <a:rPr lang="en-US" altLang="ko-KR" sz="1600" dirty="0" err="1">
                    <a:latin typeface="Malgun Gothic"/>
                    <a:ea typeface="Malgun Gothic"/>
                  </a:rPr>
                  <a:t>감소</a:t>
                </a:r>
                <a:endParaRPr lang="en-US" altLang="ko-KR" sz="1600" dirty="0">
                  <a:latin typeface="Malgun Gothic"/>
                  <a:ea typeface="Malgun Gothic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Malgun Gothic"/>
                    <a:ea typeface="맑은 고딕"/>
                  </a:rPr>
                  <a:t>CONV_R4의 </a:t>
                </a:r>
                <a:r>
                  <a:rPr lang="en-US" altLang="ko-KR" sz="2000" dirty="0" err="1">
                    <a:latin typeface="Malgun Gothic"/>
                    <a:ea typeface="맑은 고딕"/>
                  </a:rPr>
                  <a:t>경우</a:t>
                </a:r>
                <a:r>
                  <a:rPr lang="en-US" altLang="ko-KR" sz="2000" dirty="0">
                    <a:latin typeface="Malgun Gothic"/>
                    <a:ea typeface="맑은 고딕"/>
                  </a:rPr>
                  <a:t> s = 64 </a:t>
                </a:r>
                <a:r>
                  <a:rPr lang="ko-KR" sz="2400" dirty="0">
                    <a:latin typeface="Malgun Gothic"/>
                    <a:ea typeface="Malgun Gothic"/>
                  </a:rPr>
                  <a:t>→</a:t>
                </a:r>
                <a:r>
                  <a:rPr lang="ko-KR" altLang="en-US" sz="2400" dirty="0">
                    <a:latin typeface="Malgun Gothic"/>
                    <a:ea typeface="Malgun Gothic"/>
                  </a:rPr>
                  <a:t> </a:t>
                </a:r>
                <a:r>
                  <a:rPr lang="en-US" altLang="ko-KR" sz="2000" dirty="0">
                    <a:latin typeface="Malgun Gothic"/>
                    <a:ea typeface="맑은 고딕"/>
                  </a:rPr>
                  <a:t>s =32 로 </a:t>
                </a:r>
                <a:r>
                  <a:rPr lang="en-US" altLang="ko-KR" sz="2000" dirty="0" err="1">
                    <a:latin typeface="Malgun Gothic"/>
                    <a:ea typeface="맑은 고딕"/>
                  </a:rPr>
                  <a:t>감소</a:t>
                </a:r>
                <a:endParaRPr lang="en-US" sz="2000" dirty="0" err="1">
                  <a:latin typeface="Malgun Gothic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 err="1">
                    <a:latin typeface="Malgun Gothic"/>
                    <a:ea typeface="맑은 고딕"/>
                  </a:rPr>
                  <a:t>input</a:t>
                </a:r>
                <a:r>
                  <a:rPr lang="ko-KR" altLang="en-US" sz="1600" dirty="0">
                    <a:latin typeface="Malgun Gothic"/>
                    <a:ea typeface="맑은 고딕"/>
                  </a:rPr>
                  <a:t> </a:t>
                </a:r>
                <a:r>
                  <a:rPr lang="ko-KR" altLang="en-US" sz="1600" dirty="0" err="1">
                    <a:latin typeface="Malgun Gothic"/>
                    <a:ea typeface="맑은 고딕"/>
                  </a:rPr>
                  <a:t>bandwidth가</a:t>
                </a:r>
                <a:r>
                  <a:rPr lang="ko-KR" altLang="en-US" sz="1600" dirty="0">
                    <a:latin typeface="Malgun Gothic"/>
                    <a:ea typeface="맑은 고딕"/>
                  </a:rPr>
                  <a:t> 감소하여 </a:t>
                </a:r>
                <a:r>
                  <a:rPr lang="ko-KR" altLang="en-US" sz="1600" dirty="0" err="1">
                    <a:latin typeface="Malgun Gothic"/>
                    <a:ea typeface="맑은 고딕"/>
                  </a:rPr>
                  <a:t>input</a:t>
                </a:r>
                <a:r>
                  <a:rPr lang="ko-KR" altLang="en-US" sz="1600" dirty="0">
                    <a:latin typeface="Malgun Gothic"/>
                    <a:ea typeface="맑은 고딕"/>
                  </a:rPr>
                  <a:t> </a:t>
                </a:r>
                <a:r>
                  <a:rPr lang="ko-KR" altLang="en-US" sz="1600" dirty="0" err="1">
                    <a:latin typeface="Malgun Gothic"/>
                    <a:ea typeface="맑은 고딕"/>
                  </a:rPr>
                  <a:t>stall로</a:t>
                </a:r>
                <a:r>
                  <a:rPr lang="ko-KR" altLang="en-US" sz="1600" dirty="0">
                    <a:latin typeface="Malgun Gothic"/>
                    <a:ea typeface="맑은 고딕"/>
                  </a:rPr>
                  <a:t> 인한 손해가 커짐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i="1" dirty="0" smtClean="0">
                        <a:latin typeface="Cambria Math" panose="02040503050406030204" pitchFamily="18" charset="0"/>
                        <a:ea typeface="맑은 고딕"/>
                      </a:rPr>
                      <m:t>𝑠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= 64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일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때때의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𝑃𝐸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</m:t>
                    </m:r>
                    <m:r>
                      <a:rPr lang="ko-KR" altLang="en-US" sz="1600" i="1" dirty="0" err="1">
                        <a:latin typeface="Cambria Math" panose="02040503050406030204" pitchFamily="18" charset="0"/>
                        <a:ea typeface="맑은 고딕"/>
                      </a:rPr>
                      <m:t>𝑢𝑡𝑖𝑙𝑖𝑧𝑎𝑡𝑖𝑜𝑛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손해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&gt; </m:t>
                    </m:r>
                    <m:sSup>
                      <m:sSup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맑은 고딕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ko-KR" altLang="en-US" sz="1600" i="1" dirty="0">
                                <a:latin typeface="Cambria Math" panose="02040503050406030204" pitchFamily="18" charset="0"/>
                                <a:ea typeface="맑은 고딕"/>
                              </a:rPr>
                            </m:ctrlPr>
                          </m:dPr>
                          <m:e>
                            <m:r>
                              <a:rPr lang="ko-KR" altLang="en-US" sz="1600" i="1" dirty="0" err="1">
                                <a:latin typeface="Cambria Math" panose="02040503050406030204" pitchFamily="18" charset="0"/>
                                <a:ea typeface="맑은 고딕"/>
                              </a:rPr>
                              <m:t>𝑜𝑢𝑡𝑝𝑢𝑡</m:t>
                            </m:r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  <a:ea typeface="맑은 고딕"/>
                              </a:rPr>
                              <m:t> </m:t>
                            </m:r>
                            <m:r>
                              <a:rPr lang="ko-KR" altLang="en-US" sz="1600" i="1" dirty="0" err="1">
                                <a:latin typeface="Cambria Math" panose="02040503050406030204" pitchFamily="18" charset="0"/>
                                <a:ea typeface="맑은 고딕"/>
                              </a:rPr>
                              <m:t>𝑢𝑡𝑖𝑙𝑖𝑧𝑎𝑡𝑖𝑜𝑛</m:t>
                            </m:r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  <a:ea typeface="맑은 고딕"/>
                              </a:rPr>
                              <m:t> </m:t>
                            </m:r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  <a:ea typeface="맑은 고딕"/>
                              </a:rPr>
                              <m:t>손해</m:t>
                            </m:r>
                          </m:e>
                        </m:d>
                      </m:e>
                      <m:sup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맑은 고딕"/>
                          </a:rPr>
                          <m:t>2</m:t>
                        </m:r>
                      </m:sup>
                    </m:sSup>
                    <m:r>
                      <a:rPr lang="ko-KR" altLang="en-US" sz="1600" i="1" dirty="0">
                        <a:latin typeface="Cambria Math" panose="02040503050406030204" pitchFamily="18" charset="0"/>
                        <a:ea typeface="맑은 고딕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Malgun Gothic"/>
                    <a:ea typeface="맑은 고딕"/>
                  </a:rPr>
                  <a:t>가 되어 </a:t>
                </a:r>
                <a:r>
                  <a:rPr lang="ko-KR" altLang="en-US" sz="1600" dirty="0" err="1">
                    <a:latin typeface="Malgun Gothic"/>
                    <a:ea typeface="맑은 고딕"/>
                  </a:rPr>
                  <a:t>s</a:t>
                </a:r>
                <a:r>
                  <a:rPr lang="ko-KR" altLang="en-US" sz="1600" dirty="0">
                    <a:latin typeface="Malgun Gothic"/>
                    <a:ea typeface="맑은 고딕"/>
                  </a:rPr>
                  <a:t> = 32로 감소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17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DA2654D-B92C-EEBB-FCA4-0082C8AD7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7" y="1690689"/>
                <a:ext cx="10515601" cy="4351338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36187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4A3E3-65BA-83F1-50E4-8FD56CAC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between Best Configuration and Other Layers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84BA5E6-1FDC-6006-58D8-F0929ED7B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4104441"/>
              </p:ext>
            </p:extLst>
          </p:nvPr>
        </p:nvGraphicFramePr>
        <p:xfrm>
          <a:off x="0" y="2746599"/>
          <a:ext cx="12191998" cy="3354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840509">
                  <a:extLst>
                    <a:ext uri="{9D8B030D-6E8A-4147-A177-3AD203B41FA5}">
                      <a16:colId xmlns:a16="http://schemas.microsoft.com/office/drawing/2014/main" val="1334681704"/>
                    </a:ext>
                  </a:extLst>
                </a:gridCol>
                <a:gridCol w="864665">
                  <a:extLst>
                    <a:ext uri="{9D8B030D-6E8A-4147-A177-3AD203B41FA5}">
                      <a16:colId xmlns:a16="http://schemas.microsoft.com/office/drawing/2014/main" val="277236987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5870574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60101407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93684339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574472670"/>
                    </a:ext>
                  </a:extLst>
                </a:gridCol>
                <a:gridCol w="999660">
                  <a:extLst>
                    <a:ext uri="{9D8B030D-6E8A-4147-A177-3AD203B41FA5}">
                      <a16:colId xmlns:a16="http://schemas.microsoft.com/office/drawing/2014/main" val="1484245621"/>
                    </a:ext>
                  </a:extLst>
                </a:gridCol>
                <a:gridCol w="876032">
                  <a:extLst>
                    <a:ext uri="{9D8B030D-6E8A-4147-A177-3AD203B41FA5}">
                      <a16:colId xmlns:a16="http://schemas.microsoft.com/office/drawing/2014/main" val="4538768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74934497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73834933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90877007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4019251651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CONV_V8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opt. config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74.29%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74.29%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  <a:endParaRPr kumimoji="0" lang="en-US" altLang="ko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Helvetica"/>
                        <a:sym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21.88%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o_util.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81.15%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81.15%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81.15%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Helvetica"/>
                          <a:sym typeface="맑은 고딕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output_usage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C3036A-6DDA-D277-C618-D990C687C22C}"/>
              </a:ext>
            </a:extLst>
          </p:cNvPr>
          <p:cNvSpPr txBox="1"/>
          <p:nvPr/>
        </p:nvSpPr>
        <p:spPr>
          <a:xfrm>
            <a:off x="923109" y="1515291"/>
            <a:ext cx="9875520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VGG16</a:t>
            </a:r>
            <a:r>
              <a:rPr kumimoji="0" lang="ko-KR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의 </a:t>
            </a:r>
            <a:r>
              <a:rPr kumimoji="0" lang="en-US" altLang="ko-KR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pe_util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* </a:t>
            </a:r>
            <a:r>
              <a:rPr kumimoji="0" lang="en-US" altLang="ko-KR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o_util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= 41.46%</a:t>
            </a: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dirty="0"/>
              <a:t>ResNet50</a:t>
            </a:r>
            <a:r>
              <a:rPr lang="ko-KR" altLang="en-US" dirty="0"/>
              <a:t>의 </a:t>
            </a:r>
            <a:r>
              <a:rPr kumimoji="0" lang="en-US" altLang="ko-KR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pe_util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* </a:t>
            </a:r>
            <a:r>
              <a:rPr kumimoji="0" lang="en-US" altLang="ko-KR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o_util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= 17*39%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1784030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Resnet50 optimal configuration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1624" y="1806589"/>
          <a:ext cx="3063582" cy="3914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02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2749344976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1333742161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opt. config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(14,28,32)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*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input_usage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74.91%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81.15%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output_usage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2A76C-2D5F-92C9-AD53-A97D0F55A731}"/>
                  </a:ext>
                </a:extLst>
              </p:cNvPr>
              <p:cNvSpPr txBox="1"/>
              <p:nvPr/>
            </p:nvSpPr>
            <p:spPr>
              <a:xfrm>
                <a:off x="4567517" y="1642815"/>
                <a:ext cx="7289665" cy="17235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 err="1"/>
                  <a:t>전체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모델의</a:t>
                </a:r>
                <a:r>
                  <a:rPr lang="en-US" altLang="ko-KR" dirty="0"/>
                  <a:t> optimal </a:t>
                </a:r>
                <a:r>
                  <a:rPr lang="en-US" altLang="ko-KR" dirty="0" err="1"/>
                  <a:t>configuration과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비교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5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5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5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500" dirty="0" err="1"/>
                  <a:t>값이</a:t>
                </a:r>
                <a:r>
                  <a:rPr lang="en-US" altLang="ko-KR" sz="1500" dirty="0"/>
                  <a:t> </a:t>
                </a:r>
                <a:r>
                  <a:rPr lang="en-US" altLang="ko-KR" sz="1500" dirty="0" err="1"/>
                  <a:t>동일해</a:t>
                </a:r>
                <a:r>
                  <a:rPr lang="en-US" altLang="ko-KR" sz="1500" dirty="0"/>
                  <a:t> </a:t>
                </a:r>
                <a:r>
                  <a:rPr lang="en-US" altLang="ko-KR" sz="1500" dirty="0" err="1"/>
                  <a:t>pe_util과</a:t>
                </a:r>
                <a:r>
                  <a:rPr lang="en-US" altLang="ko-KR" sz="1500" dirty="0"/>
                  <a:t> </a:t>
                </a:r>
                <a:r>
                  <a:rPr lang="en-US" altLang="ko-KR" sz="1500" dirty="0" err="1"/>
                  <a:t>out_util</a:t>
                </a:r>
                <a:r>
                  <a:rPr lang="ko-KR" altLang="en-US" sz="1500" dirty="0"/>
                  <a:t>의</a:t>
                </a:r>
                <a:r>
                  <a:rPr lang="en-US" altLang="ko-KR" sz="1500" dirty="0"/>
                  <a:t> </a:t>
                </a:r>
                <a:r>
                  <a:rPr lang="ko-KR" altLang="en-US" sz="1500" dirty="0"/>
                  <a:t>값들은</a:t>
                </a:r>
                <a:r>
                  <a:rPr lang="en-US" altLang="ko-KR" sz="1500" dirty="0"/>
                  <a:t> </a:t>
                </a:r>
                <a:r>
                  <a:rPr lang="en-US" altLang="ko-KR" sz="1500" dirty="0" err="1"/>
                  <a:t>동일하게</a:t>
                </a:r>
                <a:r>
                  <a:rPr lang="en-US" altLang="ko-KR" sz="1500" dirty="0"/>
                  <a:t> </a:t>
                </a:r>
                <a:r>
                  <a:rPr lang="en-US" altLang="ko-KR" sz="1500" dirty="0" err="1"/>
                  <a:t>나오지만</a:t>
                </a:r>
                <a:r>
                  <a:rPr lang="en-US" altLang="ko-KR" sz="1500" dirty="0"/>
                  <a:t>,              WGT </a:t>
                </a:r>
                <a:r>
                  <a:rPr lang="en-US" altLang="ko-KR" sz="1500" dirty="0" err="1"/>
                  <a:t>demand로</a:t>
                </a:r>
                <a:r>
                  <a:rPr lang="en-US" altLang="ko-KR" sz="1500" dirty="0"/>
                  <a:t> </a:t>
                </a:r>
                <a:r>
                  <a:rPr lang="en-US" altLang="ko-KR" sz="1500" dirty="0" err="1"/>
                  <a:t>인해</a:t>
                </a:r>
                <a:r>
                  <a:rPr lang="en-US" altLang="ko-KR" sz="1500" dirty="0"/>
                  <a:t> input </a:t>
                </a:r>
                <a:r>
                  <a:rPr lang="en-US" altLang="ko-KR" sz="1500" dirty="0" err="1"/>
                  <a:t>usage가</a:t>
                </a:r>
                <a:r>
                  <a:rPr lang="en-US" altLang="ko-KR" sz="1500" dirty="0"/>
                  <a:t> </a:t>
                </a:r>
                <a:r>
                  <a:rPr lang="en-US" altLang="ko-KR" sz="1500" dirty="0" err="1"/>
                  <a:t>조금</a:t>
                </a:r>
                <a:r>
                  <a:rPr lang="en-US" altLang="ko-KR" sz="1500" dirty="0"/>
                  <a:t> 더 </a:t>
                </a:r>
                <a:r>
                  <a:rPr lang="en-US" altLang="ko-KR" sz="1500" dirty="0" err="1"/>
                  <a:t>높아진다</a:t>
                </a:r>
                <a:r>
                  <a:rPr lang="en-US" altLang="ko-KR" sz="1500" dirty="0"/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/>
                  <a:buChar char="•"/>
                </a:pPr>
                <a:endParaRPr lang="en-US" altLang="ko-KR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2A76C-2D5F-92C9-AD53-A97D0F55A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517" y="1642815"/>
                <a:ext cx="7289665" cy="1723549"/>
              </a:xfrm>
              <a:prstGeom prst="rect">
                <a:avLst/>
              </a:prstGeom>
              <a:blipFill>
                <a:blip r:embed="rId2"/>
                <a:stretch>
                  <a:fillRect l="-6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65795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Resnet50 optimal configuration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7153" y="1618330"/>
          <a:ext cx="3063582" cy="3914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02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738349333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1888732409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opt. config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(28,28,64)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(14,14,64)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87.5%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58.89%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*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74.28%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51.52%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input_usage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71.98%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output_usage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58.89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887CCA-7E06-0A70-286B-57C866418448}"/>
              </a:ext>
            </a:extLst>
          </p:cNvPr>
          <p:cNvSpPr txBox="1"/>
          <p:nvPr/>
        </p:nvSpPr>
        <p:spPr>
          <a:xfrm>
            <a:off x="4677508" y="1544040"/>
            <a:ext cx="7165730" cy="1155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 err="1"/>
              <a:t>전체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모델의</a:t>
            </a:r>
            <a:r>
              <a:rPr lang="en-US" altLang="ko-KR" sz="1800" dirty="0"/>
              <a:t> optimal </a:t>
            </a:r>
            <a:r>
              <a:rPr lang="en-US" altLang="ko-KR" sz="1800" dirty="0" err="1"/>
              <a:t>configuration과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비교</a:t>
            </a:r>
            <a:endParaRPr lang="en-US" altLang="ko-KR" sz="18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500" dirty="0"/>
              <a:t>r </a:t>
            </a:r>
            <a:r>
              <a:rPr lang="en-US" altLang="ko-KR" sz="1500" dirty="0" err="1"/>
              <a:t>값이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절반으로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줄어들어서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pe_util은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증가하지만</a:t>
            </a:r>
            <a:r>
              <a:rPr lang="en-US" altLang="ko-KR" sz="1500" dirty="0"/>
              <a:t> </a:t>
            </a:r>
            <a:r>
              <a:rPr lang="en-US" altLang="ko-KR" sz="1500" dirty="0" err="1"/>
              <a:t>out_util이</a:t>
            </a:r>
            <a:r>
              <a:rPr lang="en-US" altLang="ko-KR" sz="1500" dirty="0"/>
              <a:t> </a:t>
            </a:r>
            <a:r>
              <a:rPr lang="en-US" altLang="ko-KR" sz="1500" dirty="0" err="1"/>
              <a:t>확연히</a:t>
            </a:r>
            <a:r>
              <a:rPr lang="en-US" altLang="ko-KR" sz="1500" dirty="0"/>
              <a:t> </a:t>
            </a:r>
            <a:r>
              <a:rPr lang="en-US" altLang="ko-KR" sz="1500" dirty="0" err="1"/>
              <a:t>떨어진다</a:t>
            </a:r>
            <a:r>
              <a:rPr lang="en-US" altLang="ko-KR" sz="1500" dirty="0"/>
              <a:t>.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500" dirty="0"/>
              <a:t>t </a:t>
            </a:r>
            <a:r>
              <a:rPr lang="en-US" altLang="ko-KR" sz="1500" dirty="0" err="1"/>
              <a:t>값이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절반으로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줄기때문에</a:t>
            </a:r>
            <a:r>
              <a:rPr lang="en-US" altLang="ko-KR" sz="1500" dirty="0"/>
              <a:t> </a:t>
            </a:r>
            <a:r>
              <a:rPr lang="en-US" altLang="ko-KR" sz="1500" dirty="0" err="1"/>
              <a:t>wgt_demand가</a:t>
            </a:r>
            <a:r>
              <a:rPr lang="en-US" altLang="ko-KR" sz="1500" dirty="0"/>
              <a:t> </a:t>
            </a:r>
            <a:r>
              <a:rPr lang="en-US" altLang="ko-KR" sz="1500" dirty="0" err="1"/>
              <a:t>늘어서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input_usage가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증가한다</a:t>
            </a:r>
            <a:r>
              <a:rPr lang="en-US" altLang="ko-KR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63716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Resnet50 optimal configuration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3365" y="1618330"/>
          <a:ext cx="3063582" cy="3914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02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2908770073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1385905005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opt. config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(14,14,64)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(14,14,64)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87.50%</a:t>
                      </a:r>
                      <a:endParaRPr lang="ko-KR" alt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29.45%</a:t>
                      </a:r>
                      <a:endParaRPr lang="ko-KR" alt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*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25.77%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25.77%</a:t>
                      </a:r>
                      <a:endParaRPr lang="ko-KR" alt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input_usage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95.59%</a:t>
                      </a:r>
                      <a:endParaRPr lang="ko-KR" alt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output_usage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29.45%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29.45%</a:t>
                      </a:r>
                      <a:endParaRPr lang="ko-KR" altLang="en-US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FCF0CC-A95C-3CCC-4070-168480AD4190}"/>
              </a:ext>
            </a:extLst>
          </p:cNvPr>
          <p:cNvSpPr txBox="1"/>
          <p:nvPr/>
        </p:nvSpPr>
        <p:spPr>
          <a:xfrm>
            <a:off x="4298576" y="1615921"/>
            <a:ext cx="7289665" cy="15794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전체</a:t>
            </a:r>
            <a:r>
              <a:rPr lang="en-US" altLang="ko-KR" dirty="0"/>
              <a:t> </a:t>
            </a:r>
            <a:r>
              <a:rPr lang="en-US" altLang="ko-KR" dirty="0" err="1"/>
              <a:t>모델의</a:t>
            </a:r>
            <a:r>
              <a:rPr lang="en-US" altLang="ko-KR" dirty="0"/>
              <a:t> optimal </a:t>
            </a:r>
            <a:r>
              <a:rPr lang="en-US" altLang="ko-KR" dirty="0" err="1"/>
              <a:t>configuration과</a:t>
            </a:r>
            <a:r>
              <a:rPr lang="en-US" altLang="ko-KR" dirty="0"/>
              <a:t> </a:t>
            </a:r>
            <a:r>
              <a:rPr lang="en-US" altLang="ko-KR" dirty="0" err="1"/>
              <a:t>비교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500" dirty="0"/>
              <a:t>Configuration</a:t>
            </a:r>
            <a:r>
              <a:rPr lang="ko-KR" altLang="en-US" sz="1500" dirty="0"/>
              <a:t> 구성이 동일하다</a:t>
            </a:r>
            <a:endParaRPr lang="en-US" altLang="ko-KR" sz="15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5268320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C099C-95B7-8AA5-8493-C8C984E4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1"/>
            <a:ext cx="10515600" cy="1325563"/>
          </a:xfrm>
        </p:spPr>
        <p:txBody>
          <a:bodyPr/>
          <a:lstStyle/>
          <a:p>
            <a:r>
              <a:rPr lang="en-US" altLang="ko-KR" dirty="0"/>
              <a:t>Resnet50 optimal configuration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3BE2C1-C6CC-28B8-FF6B-EF138DB00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5436" y="1618330"/>
          <a:ext cx="3063582" cy="3914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02">
                  <a:extLst>
                    <a:ext uri="{9D8B030D-6E8A-4147-A177-3AD203B41FA5}">
                      <a16:colId xmlns:a16="http://schemas.microsoft.com/office/drawing/2014/main" val="3517346975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4019251651"/>
                    </a:ext>
                  </a:extLst>
                </a:gridCol>
                <a:gridCol w="962840">
                  <a:extLst>
                    <a:ext uri="{9D8B030D-6E8A-4147-A177-3AD203B41FA5}">
                      <a16:colId xmlns:a16="http://schemas.microsoft.com/office/drawing/2014/main" val="837849043"/>
                    </a:ext>
                  </a:extLst>
                </a:gridCol>
              </a:tblGrid>
              <a:tr h="559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Layer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CONV_R4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9509927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opt. config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(7,7,64)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Malgun Gothic"/>
                        </a:rPr>
                        <a:t>(14,14,64)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788931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57.96%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21.88%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2047638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4.88%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3.68%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3708400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pe_util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*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o_util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2.83%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0.805%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0172395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input_usage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95.59%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5759822"/>
                  </a:ext>
                </a:extLst>
              </a:tr>
              <a:tr h="559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output_usage</a:t>
                      </a:r>
                      <a:endParaRPr lang="en-US" sz="1400" b="0" i="0" u="none" strike="noStrike" dirty="0" err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4.88%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14.72%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23787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95B2CA-7EBA-1AE8-685B-2C5265C37165}"/>
              </a:ext>
            </a:extLst>
          </p:cNvPr>
          <p:cNvSpPr txBox="1"/>
          <p:nvPr/>
        </p:nvSpPr>
        <p:spPr>
          <a:xfrm>
            <a:off x="4298576" y="1615921"/>
            <a:ext cx="7289665" cy="19025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전체</a:t>
            </a:r>
            <a:r>
              <a:rPr lang="en-US" altLang="ko-KR" dirty="0"/>
              <a:t> </a:t>
            </a:r>
            <a:r>
              <a:rPr lang="en-US" altLang="ko-KR" dirty="0" err="1"/>
              <a:t>모델의</a:t>
            </a:r>
            <a:r>
              <a:rPr lang="en-US" altLang="ko-KR" dirty="0"/>
              <a:t> optimal </a:t>
            </a:r>
            <a:r>
              <a:rPr lang="en-US" altLang="ko-KR" dirty="0" err="1"/>
              <a:t>configuration과</a:t>
            </a:r>
            <a:r>
              <a:rPr lang="en-US" altLang="ko-KR" dirty="0"/>
              <a:t> </a:t>
            </a:r>
            <a:r>
              <a:rPr lang="en-US" altLang="ko-KR" dirty="0" err="1"/>
              <a:t>비교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500" dirty="0"/>
              <a:t>t, r </a:t>
            </a:r>
            <a:r>
              <a:rPr lang="en-US" altLang="ko-KR" sz="1500" dirty="0" err="1"/>
              <a:t>값이</a:t>
            </a:r>
            <a:r>
              <a:rPr lang="en-US" altLang="ko-KR" sz="1500" dirty="0"/>
              <a:t> </a:t>
            </a:r>
            <a:r>
              <a:rPr lang="en-US" altLang="ko-KR" sz="1500" dirty="0" err="1"/>
              <a:t>width보다</a:t>
            </a:r>
            <a:r>
              <a:rPr lang="en-US" altLang="ko-KR" sz="1500" dirty="0"/>
              <a:t> </a:t>
            </a:r>
            <a:r>
              <a:rPr lang="en-US" altLang="ko-KR" sz="1500" dirty="0" err="1"/>
              <a:t>커져서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pe_overhead가</a:t>
            </a:r>
            <a:r>
              <a:rPr lang="en-US" altLang="ko-KR" sz="1500" dirty="0"/>
              <a:t> </a:t>
            </a:r>
            <a:r>
              <a:rPr lang="en-US" altLang="ko-KR" sz="1500" dirty="0" err="1"/>
              <a:t>발생해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pe_util이</a:t>
            </a:r>
            <a:r>
              <a:rPr lang="en-US" altLang="ko-KR" sz="1500" dirty="0"/>
              <a:t> </a:t>
            </a:r>
            <a:r>
              <a:rPr lang="en-US" altLang="ko-KR" sz="1500" dirty="0" err="1"/>
              <a:t>크게</a:t>
            </a:r>
            <a:r>
              <a:rPr lang="en-US" altLang="ko-KR" sz="1500" dirty="0"/>
              <a:t> </a:t>
            </a:r>
            <a:r>
              <a:rPr lang="en-US" altLang="ko-KR" sz="1500" dirty="0" err="1"/>
              <a:t>감소한다</a:t>
            </a:r>
            <a:endParaRPr lang="en-US" altLang="ko-KR" sz="15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8447605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9D1F5-E4B1-3BE1-A24E-F6D8E186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1" cy="941161"/>
          </a:xfrm>
        </p:spPr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2654D-B92C-EEBB-FCA4-0082C8AD7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184366"/>
            <a:ext cx="10515601" cy="49925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1900" dirty="0"/>
              <a:t>모든 </a:t>
            </a:r>
            <a:r>
              <a:rPr lang="en-US" altLang="ko-KR" sz="1900" dirty="0"/>
              <a:t>Layer</a:t>
            </a:r>
            <a:r>
              <a:rPr lang="ko-KR" altLang="en-US" sz="1900" dirty="0"/>
              <a:t>에서 동작 가능한 </a:t>
            </a:r>
            <a:r>
              <a:rPr lang="en-US" altLang="ko-KR" sz="1900" dirty="0"/>
              <a:t>utilization</a:t>
            </a:r>
            <a:r>
              <a:rPr lang="ko-KR" altLang="en-US" sz="1900" dirty="0"/>
              <a:t>을 얻기 위해서는 마지막 </a:t>
            </a:r>
            <a:r>
              <a:rPr lang="en-US" altLang="ko-KR" sz="1900" dirty="0"/>
              <a:t>layer</a:t>
            </a:r>
            <a:r>
              <a:rPr lang="ko-KR" altLang="en-US" sz="1900" dirty="0"/>
              <a:t>의 값을 중심으로 고려해야 한다</a:t>
            </a:r>
            <a:endParaRPr lang="en-US" altLang="ko-KR" sz="1900" dirty="0"/>
          </a:p>
          <a:p>
            <a:pPr lvl="1">
              <a:lnSpc>
                <a:spcPct val="150000"/>
              </a:lnSpc>
            </a:pPr>
            <a:r>
              <a:rPr lang="ko-KR" altLang="en-US" sz="1700" dirty="0"/>
              <a:t>마지막 </a:t>
            </a:r>
            <a:r>
              <a:rPr lang="en-US" altLang="ko-KR" sz="1700" dirty="0"/>
              <a:t>Layer</a:t>
            </a:r>
            <a:r>
              <a:rPr lang="ko-KR" altLang="en-US" sz="1700" dirty="0"/>
              <a:t>의 </a:t>
            </a:r>
            <a:r>
              <a:rPr lang="en-US" altLang="ko-KR" sz="1700" dirty="0"/>
              <a:t>utilization</a:t>
            </a:r>
            <a:r>
              <a:rPr lang="ko-KR" altLang="en-US" sz="1700" dirty="0"/>
              <a:t>이 가장 떨어지기 때문인데</a:t>
            </a:r>
            <a:r>
              <a:rPr lang="en-US" altLang="ko-KR" sz="1700" dirty="0"/>
              <a:t>, </a:t>
            </a:r>
            <a:r>
              <a:rPr lang="ko-KR" altLang="en-US" sz="1700" dirty="0"/>
              <a:t>이는 </a:t>
            </a:r>
            <a:r>
              <a:rPr lang="en-US" altLang="ko-KR" sz="1700" dirty="0"/>
              <a:t>t, r </a:t>
            </a:r>
            <a:r>
              <a:rPr lang="ko-KR" altLang="en-US" sz="1700" dirty="0"/>
              <a:t>값이 </a:t>
            </a:r>
            <a:r>
              <a:rPr lang="en-US" altLang="ko-KR" sz="1700" dirty="0"/>
              <a:t>ow</a:t>
            </a:r>
            <a:r>
              <a:rPr lang="ko-KR" altLang="en-US" sz="1700" dirty="0"/>
              <a:t>보다 커져 </a:t>
            </a:r>
            <a:r>
              <a:rPr lang="en-US" altLang="ko-KR" sz="1700" dirty="0"/>
              <a:t>underutilization</a:t>
            </a:r>
            <a:r>
              <a:rPr lang="ko-KR" altLang="en-US" sz="1700" dirty="0"/>
              <a:t>이 발생하기 때문이다</a:t>
            </a:r>
            <a:endParaRPr lang="en-US" altLang="ko-KR" sz="1700" dirty="0"/>
          </a:p>
          <a:p>
            <a:pPr lvl="1">
              <a:lnSpc>
                <a:spcPct val="150000"/>
              </a:lnSpc>
            </a:pPr>
            <a:r>
              <a:rPr lang="ko-KR" altLang="en-US" sz="1700" dirty="0"/>
              <a:t>따라서 마지막 </a:t>
            </a:r>
            <a:r>
              <a:rPr lang="en-US" altLang="ko-KR" sz="1700" dirty="0"/>
              <a:t>Layer</a:t>
            </a:r>
            <a:r>
              <a:rPr lang="ko-KR" altLang="en-US" sz="1700" dirty="0"/>
              <a:t> </a:t>
            </a:r>
            <a:r>
              <a:rPr lang="en-US" altLang="ko-KR" sz="1700" dirty="0"/>
              <a:t>(CONV_R4)</a:t>
            </a:r>
            <a:r>
              <a:rPr lang="ko-KR" altLang="en-US" sz="1700" dirty="0"/>
              <a:t>에서 최대 </a:t>
            </a:r>
            <a:r>
              <a:rPr lang="en-US" altLang="ko-KR" sz="1700" dirty="0"/>
              <a:t>utilization</a:t>
            </a:r>
            <a:r>
              <a:rPr lang="ko-KR" altLang="en-US" sz="1700" dirty="0"/>
              <a:t>을 가지는 </a:t>
            </a:r>
            <a:r>
              <a:rPr lang="en-US" altLang="ko-KR" sz="1700" dirty="0"/>
              <a:t>configuration</a:t>
            </a:r>
            <a:r>
              <a:rPr lang="ko-KR" altLang="en-US" sz="1700" dirty="0"/>
              <a:t>을 </a:t>
            </a:r>
            <a:r>
              <a:rPr lang="en-US" altLang="ko-KR" sz="1700" dirty="0"/>
              <a:t>best optimal configuration</a:t>
            </a:r>
            <a:r>
              <a:rPr lang="ko-KR" altLang="en-US" sz="1700" dirty="0"/>
              <a:t>으로 설정한다</a:t>
            </a:r>
            <a:endParaRPr lang="en-US" altLang="ko-KR" sz="1700" dirty="0"/>
          </a:p>
          <a:p>
            <a:pPr>
              <a:lnSpc>
                <a:spcPct val="150000"/>
              </a:lnSpc>
            </a:pPr>
            <a:r>
              <a:rPr lang="en-US" altLang="ko-KR" sz="1900" dirty="0"/>
              <a:t>Best optimal configuration</a:t>
            </a:r>
            <a:r>
              <a:rPr lang="ko-KR" altLang="en-US" sz="1900" dirty="0"/>
              <a:t>이 </a:t>
            </a:r>
            <a:r>
              <a:rPr lang="en-US" altLang="ko-KR" sz="1900" dirty="0"/>
              <a:t>(14, 14, 64)</a:t>
            </a:r>
            <a:r>
              <a:rPr lang="ko-KR" altLang="en-US" sz="1900" dirty="0"/>
              <a:t>인 이유</a:t>
            </a:r>
            <a:endParaRPr lang="en-US" altLang="ko-KR" sz="1900" dirty="0"/>
          </a:p>
          <a:p>
            <a:pPr lvl="1">
              <a:lnSpc>
                <a:spcPct val="150000"/>
              </a:lnSpc>
            </a:pPr>
            <a:r>
              <a:rPr lang="en-US" altLang="ko-KR" sz="1700" dirty="0"/>
              <a:t>Optimal configuration </a:t>
            </a:r>
            <a:r>
              <a:rPr lang="ko-KR" altLang="en-US" sz="1700" dirty="0"/>
              <a:t>의 </a:t>
            </a:r>
            <a:r>
              <a:rPr lang="en-US" altLang="ko-KR" sz="1700" dirty="0"/>
              <a:t>CONV_R4</a:t>
            </a:r>
            <a:r>
              <a:rPr lang="ko-KR" altLang="en-US" sz="1700" dirty="0"/>
              <a:t>를 보면 </a:t>
            </a:r>
            <a:r>
              <a:rPr lang="en-US" altLang="ko-KR" sz="1700" dirty="0"/>
              <a:t>(7, 7 64)</a:t>
            </a:r>
            <a:r>
              <a:rPr lang="ko-KR" altLang="en-US" sz="1700" dirty="0"/>
              <a:t>로</a:t>
            </a:r>
            <a:r>
              <a:rPr lang="en-US" altLang="ko-KR" sz="1700" dirty="0"/>
              <a:t> </a:t>
            </a:r>
            <a:r>
              <a:rPr lang="ko-KR" altLang="en-US" sz="1700" dirty="0"/>
              <a:t>되어 있는 모습을 볼 수 있지만</a:t>
            </a:r>
            <a:r>
              <a:rPr lang="en-US" altLang="ko-KR" sz="1700" dirty="0"/>
              <a:t>, </a:t>
            </a:r>
            <a:r>
              <a:rPr lang="ko-KR" altLang="en-US" sz="1700" dirty="0"/>
              <a:t>이 </a:t>
            </a:r>
            <a:r>
              <a:rPr lang="en-US" altLang="ko-KR" sz="1700" dirty="0"/>
              <a:t>configuration </a:t>
            </a:r>
            <a:r>
              <a:rPr lang="ko-KR" altLang="en-US" sz="1700" dirty="0"/>
              <a:t>은 </a:t>
            </a:r>
            <a:r>
              <a:rPr lang="en-US" altLang="ko-KR" sz="1700" dirty="0"/>
              <a:t>utilization </a:t>
            </a:r>
            <a:r>
              <a:rPr lang="ko-KR" altLang="en-US" sz="1700" dirty="0"/>
              <a:t>의 </a:t>
            </a:r>
            <a:r>
              <a:rPr lang="ko-KR" altLang="en-US" sz="1700" dirty="0" err="1"/>
              <a:t>증가량이</a:t>
            </a:r>
            <a:r>
              <a:rPr lang="ko-KR" altLang="en-US" sz="1700" dirty="0"/>
              <a:t> 매우 미비함</a:t>
            </a:r>
            <a:endParaRPr lang="en-US" altLang="ko-KR" sz="1700" dirty="0"/>
          </a:p>
          <a:p>
            <a:pPr lvl="2">
              <a:lnSpc>
                <a:spcPct val="150000"/>
              </a:lnSpc>
            </a:pPr>
            <a:r>
              <a:rPr lang="en-US" altLang="ko-KR" sz="1500" dirty="0"/>
              <a:t>Configuration </a:t>
            </a:r>
            <a:r>
              <a:rPr lang="ko-KR" altLang="en-US" sz="1500" dirty="0"/>
              <a:t>을 </a:t>
            </a:r>
            <a:r>
              <a:rPr lang="en-US" altLang="ko-KR" sz="1500" dirty="0"/>
              <a:t>(7, 7, 64)</a:t>
            </a:r>
            <a:r>
              <a:rPr lang="ko-KR" altLang="en-US" sz="1500" dirty="0"/>
              <a:t>로 기준을 잡으면 </a:t>
            </a:r>
            <a:r>
              <a:rPr lang="en-US" altLang="ko-KR" sz="1500" dirty="0"/>
              <a:t>t </a:t>
            </a:r>
            <a:r>
              <a:rPr lang="ko-KR" altLang="en-US" sz="1500" dirty="0"/>
              <a:t>값이 </a:t>
            </a:r>
            <a:r>
              <a:rPr lang="en-US" altLang="ko-KR" sz="1500" dirty="0"/>
              <a:t>7</a:t>
            </a:r>
            <a:r>
              <a:rPr lang="ko-KR" altLang="en-US" sz="1500" dirty="0"/>
              <a:t>까지 떨어지게 되는데</a:t>
            </a:r>
            <a:r>
              <a:rPr lang="en-US" altLang="ko-KR" sz="1500" dirty="0"/>
              <a:t>, </a:t>
            </a:r>
            <a:r>
              <a:rPr lang="ko-KR" altLang="en-US" sz="1500" dirty="0"/>
              <a:t>이 경우 </a:t>
            </a:r>
            <a:r>
              <a:rPr lang="en-US" altLang="ko-KR" sz="1500" dirty="0"/>
              <a:t>Weight Feature Map</a:t>
            </a:r>
            <a:r>
              <a:rPr lang="ko-KR" altLang="en-US" sz="1500" dirty="0"/>
              <a:t>의 </a:t>
            </a:r>
            <a:r>
              <a:rPr lang="en-US" altLang="ko-KR" sz="1500" dirty="0"/>
              <a:t>reuse</a:t>
            </a:r>
            <a:r>
              <a:rPr lang="ko-KR" altLang="en-US" sz="1500" dirty="0"/>
              <a:t>가 떨어지게 되고</a:t>
            </a:r>
            <a:r>
              <a:rPr lang="en-US" altLang="ko-KR" sz="1500" dirty="0"/>
              <a:t>, </a:t>
            </a:r>
            <a:r>
              <a:rPr lang="ko-KR" altLang="en-US" sz="1500" dirty="0"/>
              <a:t>더 많은 </a:t>
            </a:r>
            <a:r>
              <a:rPr lang="en-US" altLang="ko-KR" sz="1500" dirty="0"/>
              <a:t>input data</a:t>
            </a:r>
            <a:r>
              <a:rPr lang="ko-KR" altLang="en-US" sz="1500" dirty="0"/>
              <a:t>를 요구하기 때문에 </a:t>
            </a:r>
            <a:r>
              <a:rPr lang="en-US" altLang="ko-KR" sz="1500" dirty="0"/>
              <a:t>Input Feature Map </a:t>
            </a:r>
            <a:r>
              <a:rPr lang="ko-KR" altLang="en-US" sz="1500" dirty="0"/>
              <a:t>사용량이 늘어나게 된다</a:t>
            </a:r>
            <a:endParaRPr lang="en-US" altLang="ko-KR" sz="1500" dirty="0"/>
          </a:p>
          <a:p>
            <a:pPr lvl="2">
              <a:lnSpc>
                <a:spcPct val="150000"/>
              </a:lnSpc>
            </a:pPr>
            <a:r>
              <a:rPr lang="ko-KR" altLang="en-US" sz="1500" dirty="0"/>
              <a:t>물론 </a:t>
            </a:r>
            <a:r>
              <a:rPr lang="en-US" altLang="ko-KR" sz="1500" dirty="0"/>
              <a:t>(14, 14, 64) configuration </a:t>
            </a:r>
            <a:r>
              <a:rPr lang="ko-KR" altLang="en-US" sz="1500" dirty="0"/>
              <a:t>에서도 </a:t>
            </a:r>
            <a:r>
              <a:rPr lang="en-US" altLang="ko-KR" sz="1500" dirty="0"/>
              <a:t>input stall (input usage &gt; 95%)</a:t>
            </a:r>
            <a:r>
              <a:rPr lang="ko-KR" altLang="en-US" sz="1500" dirty="0"/>
              <a:t>이 발생하게 되나</a:t>
            </a:r>
            <a:r>
              <a:rPr lang="en-US" altLang="ko-KR" sz="1500" dirty="0"/>
              <a:t>, t </a:t>
            </a:r>
            <a:r>
              <a:rPr lang="ko-KR" altLang="en-US" sz="1500" dirty="0"/>
              <a:t>값을 </a:t>
            </a:r>
            <a:r>
              <a:rPr lang="en-US" altLang="ko-KR" sz="1500" dirty="0"/>
              <a:t>7</a:t>
            </a:r>
            <a:r>
              <a:rPr lang="ko-KR" altLang="en-US" sz="1500" dirty="0"/>
              <a:t>까지 내리면 </a:t>
            </a:r>
            <a:r>
              <a:rPr lang="en-US" altLang="ko-KR" sz="1500" dirty="0"/>
              <a:t>Accelerator</a:t>
            </a:r>
            <a:r>
              <a:rPr lang="ko-KR" altLang="en-US" sz="1500" dirty="0"/>
              <a:t>에 </a:t>
            </a:r>
            <a:r>
              <a:rPr lang="en-US" altLang="ko-KR" sz="1500" dirty="0"/>
              <a:t>stall</a:t>
            </a:r>
            <a:r>
              <a:rPr lang="ko-KR" altLang="en-US" sz="1500" dirty="0"/>
              <a:t>이 발생하여 </a:t>
            </a:r>
            <a:r>
              <a:rPr lang="en-US" altLang="ko-KR" sz="1500" dirty="0"/>
              <a:t>output utilization </a:t>
            </a:r>
            <a:r>
              <a:rPr lang="ko-KR" altLang="en-US" sz="1500" dirty="0"/>
              <a:t>이 매우 미비하게 오르는 것을 알 수 있다 </a:t>
            </a:r>
            <a:endParaRPr lang="en-US" altLang="ko-KR" sz="1500" dirty="0"/>
          </a:p>
          <a:p>
            <a:pPr marL="742932" lvl="2" indent="0">
              <a:lnSpc>
                <a:spcPct val="150000"/>
              </a:lnSpc>
              <a:buNone/>
            </a:pPr>
            <a:r>
              <a:rPr lang="en-US" altLang="ko-KR" sz="1500" dirty="0"/>
              <a:t>    </a:t>
            </a:r>
            <a:r>
              <a:rPr lang="ko-KR" altLang="en-US" sz="1500" dirty="0"/>
              <a:t>→ </a:t>
            </a:r>
            <a:r>
              <a:rPr lang="en-US" altLang="ko-KR" sz="1500" dirty="0"/>
              <a:t>(Layer output width &lt; t, r</a:t>
            </a:r>
            <a:r>
              <a:rPr lang="ko-KR" altLang="en-US" sz="1500" dirty="0"/>
              <a:t>이 되면 </a:t>
            </a:r>
            <a:r>
              <a:rPr lang="en-US" altLang="ko-KR" sz="1500" dirty="0"/>
              <a:t>underutilization </a:t>
            </a:r>
            <a:r>
              <a:rPr lang="ko-KR" altLang="en-US" sz="1500" dirty="0"/>
              <a:t>발생</a:t>
            </a:r>
            <a:r>
              <a:rPr lang="en-US" altLang="ko-KR" sz="15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900" dirty="0"/>
              <a:t>PE array</a:t>
            </a:r>
            <a:r>
              <a:rPr lang="ko-KR" altLang="en-US" sz="1900" dirty="0"/>
              <a:t>의 구조로 인한 </a:t>
            </a:r>
            <a:r>
              <a:rPr lang="en-US" altLang="ko-KR" sz="1900" dirty="0"/>
              <a:t>underutilization </a:t>
            </a:r>
            <a:r>
              <a:rPr lang="ko-KR" altLang="en-US" sz="1900" dirty="0"/>
              <a:t>값 보다 </a:t>
            </a:r>
            <a:r>
              <a:rPr lang="en-US" altLang="ko-KR" sz="1900" dirty="0"/>
              <a:t>Memory bandwidth stall</a:t>
            </a:r>
            <a:r>
              <a:rPr lang="ko-KR" altLang="en-US" sz="1900" dirty="0"/>
              <a:t>로 인한 </a:t>
            </a:r>
            <a:r>
              <a:rPr lang="en-US" altLang="ko-KR" sz="1900" dirty="0"/>
              <a:t>underutilization</a:t>
            </a:r>
            <a:r>
              <a:rPr lang="ko-KR" altLang="en-US" sz="1900" dirty="0"/>
              <a:t>의 값이 더 크기 때문에 </a:t>
            </a:r>
            <a:r>
              <a:rPr lang="en-US" altLang="ko-KR" sz="1900" b="1" dirty="0"/>
              <a:t>best optimal configuration</a:t>
            </a:r>
            <a:r>
              <a:rPr lang="ko-KR" altLang="en-US" sz="1900" b="1" dirty="0"/>
              <a:t> 을 </a:t>
            </a:r>
            <a:r>
              <a:rPr lang="en-US" altLang="ko-KR" sz="1900" b="1" dirty="0"/>
              <a:t>(14, 14, 64)</a:t>
            </a:r>
            <a:r>
              <a:rPr lang="ko-KR" altLang="en-US" sz="1900" b="1" dirty="0"/>
              <a:t>로</a:t>
            </a:r>
            <a:r>
              <a:rPr lang="en-US" altLang="ko-KR" sz="1900" b="1" dirty="0"/>
              <a:t> </a:t>
            </a:r>
            <a:r>
              <a:rPr lang="ko-KR" altLang="en-US" sz="1900" b="1" dirty="0"/>
              <a:t>결정한다</a:t>
            </a:r>
            <a:endParaRPr lang="en-US" altLang="ko-KR" sz="1900" b="1" dirty="0"/>
          </a:p>
        </p:txBody>
      </p:sp>
    </p:spTree>
    <p:extLst>
      <p:ext uri="{BB962C8B-B14F-4D97-AF65-F5344CB8AC3E}">
        <p14:creationId xmlns:p14="http://schemas.microsoft.com/office/powerpoint/2010/main" val="314239477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8135</TotalTime>
  <Words>2843</Words>
  <Application>Microsoft Office PowerPoint</Application>
  <PresentationFormat>와이드스크린</PresentationFormat>
  <Paragraphs>679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NotoSansKR</vt:lpstr>
      <vt:lpstr>나눔스퀘어 ExtraBold</vt:lpstr>
      <vt:lpstr>맑은 고딕</vt:lpstr>
      <vt:lpstr>맑은 고딕</vt:lpstr>
      <vt:lpstr>한양신명조</vt:lpstr>
      <vt:lpstr>Arial</vt:lpstr>
      <vt:lpstr>Cambria Math</vt:lpstr>
      <vt:lpstr>Helvetica</vt:lpstr>
      <vt:lpstr>Office 테마</vt:lpstr>
      <vt:lpstr>Data Analysis for Optimal Configuration</vt:lpstr>
      <vt:lpstr>Table of Contents</vt:lpstr>
      <vt:lpstr>Hardware Structure &amp; Data Flow</vt:lpstr>
      <vt:lpstr>Variables</vt:lpstr>
      <vt:lpstr>Variables</vt:lpstr>
      <vt:lpstr>Variables</vt:lpstr>
      <vt:lpstr>Net Table for VGG16 and ResNet50</vt:lpstr>
      <vt:lpstr>Prerequisites</vt:lpstr>
      <vt:lpstr>Prerequisites</vt:lpstr>
      <vt:lpstr>Optimal Configuration Table per Layer</vt:lpstr>
      <vt:lpstr>Optimal Configuration Table per Layer</vt:lpstr>
      <vt:lpstr>Optimal Configuration Table per Layer</vt:lpstr>
      <vt:lpstr>Configuration Analysis</vt:lpstr>
      <vt:lpstr>Configuration Analysis</vt:lpstr>
      <vt:lpstr>Configuration Analysis</vt:lpstr>
      <vt:lpstr>Configuration Analysis</vt:lpstr>
      <vt:lpstr>Correlation between Best Configuration and Other Layers</vt:lpstr>
      <vt:lpstr>Resnet50 optimal configuration</vt:lpstr>
      <vt:lpstr>Resnet50 optimal configuration</vt:lpstr>
      <vt:lpstr>Resnet50 optimal configuration</vt:lpstr>
      <vt:lpstr>Resnet50 optimal configuration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23</cp:revision>
  <dcterms:created xsi:type="dcterms:W3CDTF">2020-05-23T05:02:16Z</dcterms:created>
  <dcterms:modified xsi:type="dcterms:W3CDTF">2023-10-27T18:49:43Z</dcterms:modified>
</cp:coreProperties>
</file>